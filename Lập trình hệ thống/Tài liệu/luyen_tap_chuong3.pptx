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7" r:id="rId2"/>
    <p:sldId id="260" r:id="rId3"/>
    <p:sldId id="261" r:id="rId4"/>
    <p:sldId id="294" r:id="rId5"/>
    <p:sldId id="262" r:id="rId6"/>
    <p:sldId id="263" r:id="rId7"/>
    <p:sldId id="264" r:id="rId8"/>
    <p:sldId id="291"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93" r:id="rId33"/>
    <p:sldId id="289" r:id="rId34"/>
    <p:sldId id="292" r:id="rId3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1330"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1A5B829-0FF3-4E36-B9E8-ABD99826C66E}" type="datetimeFigureOut">
              <a:rPr lang="zh-CN" altLang="en-US" smtClean="0"/>
              <a:pPr/>
              <a:t>2025/12/5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42CB578-F254-4FFF-B7C9-E12C1F2DCB7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E7161-203D-4DC0-64D4-3D8407FB95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251480-D64C-2CEE-4793-F7E8B4DFA80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A22936-FCDC-63E0-E229-5BC3A9E5D7EA}"/>
              </a:ext>
            </a:extLst>
          </p:cNvPr>
          <p:cNvSpPr>
            <a:spLocks noGrp="1"/>
          </p:cNvSpPr>
          <p:nvPr>
            <p:ph type="body" idx="1"/>
          </p:nvPr>
        </p:nvSpPr>
        <p:spPr/>
        <p:txBody>
          <a:bodyPr>
            <a:normAutofit/>
          </a:bodyPr>
          <a:lstStyle/>
          <a:p>
            <a:endParaRPr lang="zh-CN" altLang="en-US"/>
          </a:p>
        </p:txBody>
      </p:sp>
      <p:sp>
        <p:nvSpPr>
          <p:cNvPr id="4" name="灯片编号占位符 3">
            <a:extLst>
              <a:ext uri="{FF2B5EF4-FFF2-40B4-BE49-F238E27FC236}">
                <a16:creationId xmlns:a16="http://schemas.microsoft.com/office/drawing/2014/main" id="{AA96DDB6-A90E-F2AB-C974-78C2D15FE300}"/>
              </a:ext>
            </a:extLst>
          </p:cNvPr>
          <p:cNvSpPr>
            <a:spLocks noGrp="1"/>
          </p:cNvSpPr>
          <p:nvPr>
            <p:ph type="sldNum" sz="quarter" idx="10"/>
          </p:nvPr>
        </p:nvSpPr>
        <p:spPr/>
        <p:txBody>
          <a:bodyPr/>
          <a:lstStyle/>
          <a:p>
            <a:fld id="{1A9E439A-5998-4B34-966D-04D75CD40EC3}" type="slidenum">
              <a:rPr lang="zh-CN" altLang="en-US" smtClean="0"/>
              <a:pPr/>
              <a:t>4</a:t>
            </a:fld>
            <a:endParaRPr lang="zh-CN" altLang="en-US"/>
          </a:p>
        </p:txBody>
      </p:sp>
    </p:spTree>
    <p:extLst>
      <p:ext uri="{BB962C8B-B14F-4D97-AF65-F5344CB8AC3E}">
        <p14:creationId xmlns:p14="http://schemas.microsoft.com/office/powerpoint/2010/main" val="3164316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1A9E439A-5998-4B34-966D-04D75CD40EC3}" type="slidenum">
              <a:rPr lang="zh-CN" altLang="en-US" smtClean="0"/>
              <a:pPr/>
              <a:t>34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2025/12/5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2025/12/5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2025/12/5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2025/12/5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2025/12/5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latin typeface="Comic Sans MS" pitchFamily="66" charset="0"/>
              </a:rPr>
              <a:t>Chapter 3 Machine-Level Representation of Programs</a:t>
            </a:r>
            <a:endParaRPr lang="zh-CN" altLang="en-US" dirty="0">
              <a:latin typeface="Comic Sans MS" pitchFamily="66" charset="0"/>
            </a:endParaRPr>
          </a:p>
        </p:txBody>
      </p:sp>
      <p:sp>
        <p:nvSpPr>
          <p:cNvPr id="3" name="副标题 2"/>
          <p:cNvSpPr>
            <a:spLocks noGrp="1"/>
          </p:cNvSpPr>
          <p:nvPr>
            <p:ph type="subTitle" idx="1"/>
          </p:nvPr>
        </p:nvSpPr>
        <p:spPr/>
        <p:txBody>
          <a:bodyPr/>
          <a:lstStyle/>
          <a:p>
            <a:pPr algn="r"/>
            <a:r>
              <a:rPr lang="en-US" altLang="zh-CN" dirty="0">
                <a:latin typeface="Comic Sans MS" pitchFamily="66" charset="0"/>
              </a:rPr>
              <a:t>Guobao Jiang</a:t>
            </a:r>
          </a:p>
          <a:p>
            <a:pPr algn="r"/>
            <a:r>
              <a:rPr lang="en-US" altLang="zh-CN" dirty="0">
                <a:latin typeface="Comic Sans MS" pitchFamily="66" charset="0"/>
              </a:rPr>
              <a:t>11210240049@fudan.edu.cn</a:t>
            </a:r>
            <a:endParaRPr lang="zh-CN" altLang="en-US" dirty="0">
              <a:latin typeface="Comic Sans MS" pitchFamily="66"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70C0"/>
                </a:solidFill>
                <a:latin typeface="Comic Sans MS" pitchFamily="66" charset="0"/>
              </a:rPr>
              <a:t>Problem 3.1 </a:t>
            </a:r>
            <a:r>
              <a:rPr lang="en-US" altLang="zh-CN" dirty="0">
                <a:latin typeface="Comic Sans MS" pitchFamily="66" charset="0"/>
              </a:rPr>
              <a:t>(P138)</a:t>
            </a:r>
            <a:endParaRPr lang="zh-CN" altLang="en-US" dirty="0">
              <a:latin typeface="Comic Sans MS" pitchFamily="66" charset="0"/>
            </a:endParaRPr>
          </a:p>
        </p:txBody>
      </p:sp>
      <p:sp>
        <p:nvSpPr>
          <p:cNvPr id="3" name="内容占位符 2"/>
          <p:cNvSpPr>
            <a:spLocks noGrp="1"/>
          </p:cNvSpPr>
          <p:nvPr>
            <p:ph idx="1"/>
          </p:nvPr>
        </p:nvSpPr>
        <p:spPr>
          <a:xfrm>
            <a:off x="457200" y="1600200"/>
            <a:ext cx="8229600" cy="4686320"/>
          </a:xfrm>
        </p:spPr>
        <p:txBody>
          <a:bodyPr>
            <a:normAutofit lnSpcReduction="10000"/>
          </a:bodyPr>
          <a:lstStyle/>
          <a:p>
            <a:r>
              <a:rPr lang="en-US" altLang="zh-CN" dirty="0">
                <a:latin typeface="Comic Sans MS" pitchFamily="66" charset="0"/>
              </a:rPr>
              <a:t>Assume the following values are stored at the indicated memory addresses and registers:</a:t>
            </a:r>
          </a:p>
          <a:p>
            <a:endParaRPr lang="en-US" altLang="zh-CN" dirty="0">
              <a:latin typeface="Comic Sans MS" pitchFamily="66" charset="0"/>
            </a:endParaRPr>
          </a:p>
          <a:p>
            <a:endParaRPr lang="en-US" altLang="zh-CN" dirty="0">
              <a:latin typeface="Comic Sans MS" pitchFamily="66" charset="0"/>
            </a:endParaRPr>
          </a:p>
          <a:p>
            <a:endParaRPr lang="en-US" altLang="zh-CN" dirty="0">
              <a:latin typeface="Comic Sans MS" pitchFamily="66" charset="0"/>
            </a:endParaRPr>
          </a:p>
          <a:p>
            <a:endParaRPr lang="en-US" altLang="zh-CN" dirty="0">
              <a:latin typeface="Comic Sans MS" pitchFamily="66" charset="0"/>
            </a:endParaRPr>
          </a:p>
          <a:p>
            <a:r>
              <a:rPr lang="en-US" altLang="zh-CN" dirty="0">
                <a:latin typeface="Comic Sans MS" pitchFamily="66" charset="0"/>
              </a:rPr>
              <a:t>Fill in the following table showing the values for the indicated operands:</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graphicFrame>
        <p:nvGraphicFramePr>
          <p:cNvPr id="7" name="表格 6"/>
          <p:cNvGraphicFramePr>
            <a:graphicFrameLocks noGrp="1"/>
          </p:cNvGraphicFramePr>
          <p:nvPr/>
        </p:nvGraphicFramePr>
        <p:xfrm>
          <a:off x="857224" y="3071810"/>
          <a:ext cx="3857652" cy="1981200"/>
        </p:xfrm>
        <a:graphic>
          <a:graphicData uri="http://schemas.openxmlformats.org/drawingml/2006/table">
            <a:tbl>
              <a:tblPr firstRow="1" bandRow="1">
                <a:tableStyleId>{BC89EF96-8CEA-46FF-86C4-4CE0E7609802}</a:tableStyleId>
              </a:tblPr>
              <a:tblGrid>
                <a:gridCol w="1928826">
                  <a:extLst>
                    <a:ext uri="{9D8B030D-6E8A-4147-A177-3AD203B41FA5}">
                      <a16:colId xmlns:a16="http://schemas.microsoft.com/office/drawing/2014/main" val="20000"/>
                    </a:ext>
                  </a:extLst>
                </a:gridCol>
                <a:gridCol w="1928826">
                  <a:extLst>
                    <a:ext uri="{9D8B030D-6E8A-4147-A177-3AD203B41FA5}">
                      <a16:colId xmlns:a16="http://schemas.microsoft.com/office/drawing/2014/main" val="20001"/>
                    </a:ext>
                  </a:extLst>
                </a:gridCol>
              </a:tblGrid>
              <a:tr h="370840">
                <a:tc>
                  <a:txBody>
                    <a:bodyPr/>
                    <a:lstStyle/>
                    <a:p>
                      <a:r>
                        <a:rPr lang="en-US" altLang="zh-CN" sz="2000" dirty="0">
                          <a:latin typeface="Comic Sans MS" pitchFamily="66" charset="0"/>
                        </a:rPr>
                        <a:t>Address</a:t>
                      </a:r>
                      <a:endParaRPr lang="zh-CN" altLang="en-US" sz="2000" dirty="0">
                        <a:latin typeface="Comic Sans MS" pitchFamily="66" charset="0"/>
                      </a:endParaRPr>
                    </a:p>
                  </a:txBody>
                  <a:tcPr/>
                </a:tc>
                <a:tc>
                  <a:txBody>
                    <a:bodyPr/>
                    <a:lstStyle/>
                    <a:p>
                      <a:r>
                        <a:rPr lang="en-US" altLang="zh-CN" sz="2000" dirty="0">
                          <a:latin typeface="Comic Sans MS" pitchFamily="66" charset="0"/>
                        </a:rPr>
                        <a:t>Value</a:t>
                      </a:r>
                      <a:endParaRPr lang="zh-CN" altLang="en-US" sz="2000" dirty="0">
                        <a:latin typeface="Comic Sans MS" pitchFamily="66" charset="0"/>
                      </a:endParaRPr>
                    </a:p>
                  </a:txBody>
                  <a:tcPr/>
                </a:tc>
                <a:extLst>
                  <a:ext uri="{0D108BD9-81ED-4DB2-BD59-A6C34878D82A}">
                    <a16:rowId xmlns:a16="http://schemas.microsoft.com/office/drawing/2014/main" val="10000"/>
                  </a:ext>
                </a:extLst>
              </a:tr>
              <a:tr h="370840">
                <a:tc>
                  <a:txBody>
                    <a:bodyPr/>
                    <a:lstStyle/>
                    <a:p>
                      <a:r>
                        <a:rPr lang="en-US" altLang="zh-CN" sz="2000" dirty="0">
                          <a:latin typeface="Comic Sans MS" pitchFamily="66" charset="0"/>
                        </a:rPr>
                        <a:t>  0x100</a:t>
                      </a:r>
                      <a:endParaRPr lang="zh-CN" altLang="en-US" sz="2000" dirty="0">
                        <a:latin typeface="Comic Sans MS" pitchFamily="66" charset="0"/>
                      </a:endParaRPr>
                    </a:p>
                  </a:txBody>
                  <a:tcPr/>
                </a:tc>
                <a:tc>
                  <a:txBody>
                    <a:bodyPr/>
                    <a:lstStyle/>
                    <a:p>
                      <a:r>
                        <a:rPr lang="en-US" altLang="zh-CN" sz="2000" dirty="0">
                          <a:latin typeface="Comic Sans MS" pitchFamily="66" charset="0"/>
                        </a:rPr>
                        <a:t>  0xFF</a:t>
                      </a:r>
                      <a:endParaRPr lang="zh-CN" altLang="en-US" sz="2000" dirty="0">
                        <a:latin typeface="Comic Sans MS" pitchFamily="66" charset="0"/>
                      </a:endParaRPr>
                    </a:p>
                  </a:txBody>
                  <a:tcPr/>
                </a:tc>
                <a:extLst>
                  <a:ext uri="{0D108BD9-81ED-4DB2-BD59-A6C34878D82A}">
                    <a16:rowId xmlns:a16="http://schemas.microsoft.com/office/drawing/2014/main" val="10001"/>
                  </a:ext>
                </a:extLst>
              </a:tr>
              <a:tr h="370840">
                <a:tc>
                  <a:txBody>
                    <a:bodyPr/>
                    <a:lstStyle/>
                    <a:p>
                      <a:r>
                        <a:rPr lang="en-US" altLang="zh-CN" sz="2000" dirty="0">
                          <a:latin typeface="Comic Sans MS" pitchFamily="66" charset="0"/>
                        </a:rPr>
                        <a:t>  0x104</a:t>
                      </a:r>
                      <a:endParaRPr lang="zh-CN" altLang="en-US" sz="2000" dirty="0">
                        <a:latin typeface="Comic Sans MS" pitchFamily="66" charset="0"/>
                      </a:endParaRPr>
                    </a:p>
                  </a:txBody>
                  <a:tcPr/>
                </a:tc>
                <a:tc>
                  <a:txBody>
                    <a:bodyPr/>
                    <a:lstStyle/>
                    <a:p>
                      <a:r>
                        <a:rPr lang="en-US" altLang="zh-CN" sz="2000" dirty="0">
                          <a:latin typeface="Comic Sans MS" pitchFamily="66" charset="0"/>
                        </a:rPr>
                        <a:t>  0xAB</a:t>
                      </a:r>
                      <a:endParaRPr lang="zh-CN" altLang="en-US" sz="2000" dirty="0">
                        <a:latin typeface="Comic Sans MS" pitchFamily="66" charset="0"/>
                      </a:endParaRPr>
                    </a:p>
                  </a:txBody>
                  <a:tcPr/>
                </a:tc>
                <a:extLst>
                  <a:ext uri="{0D108BD9-81ED-4DB2-BD59-A6C34878D82A}">
                    <a16:rowId xmlns:a16="http://schemas.microsoft.com/office/drawing/2014/main" val="10002"/>
                  </a:ext>
                </a:extLst>
              </a:tr>
              <a:tr h="370840">
                <a:tc>
                  <a:txBody>
                    <a:bodyPr/>
                    <a:lstStyle/>
                    <a:p>
                      <a:r>
                        <a:rPr lang="en-US" altLang="zh-CN" sz="2000" dirty="0">
                          <a:latin typeface="Comic Sans MS" pitchFamily="66" charset="0"/>
                        </a:rPr>
                        <a:t>  0x108</a:t>
                      </a:r>
                      <a:endParaRPr lang="zh-CN" altLang="en-US" sz="2000" dirty="0">
                        <a:latin typeface="Comic Sans MS" pitchFamily="66" charset="0"/>
                      </a:endParaRPr>
                    </a:p>
                  </a:txBody>
                  <a:tcPr/>
                </a:tc>
                <a:tc>
                  <a:txBody>
                    <a:bodyPr/>
                    <a:lstStyle/>
                    <a:p>
                      <a:r>
                        <a:rPr lang="en-US" altLang="zh-CN" sz="2000" dirty="0">
                          <a:latin typeface="Comic Sans MS" pitchFamily="66" charset="0"/>
                        </a:rPr>
                        <a:t>  0x13</a:t>
                      </a:r>
                      <a:endParaRPr lang="zh-CN" altLang="en-US" sz="2000" dirty="0">
                        <a:latin typeface="Comic Sans MS" pitchFamily="66" charset="0"/>
                      </a:endParaRPr>
                    </a:p>
                  </a:txBody>
                  <a:tcPr/>
                </a:tc>
                <a:extLst>
                  <a:ext uri="{0D108BD9-81ED-4DB2-BD59-A6C34878D82A}">
                    <a16:rowId xmlns:a16="http://schemas.microsoft.com/office/drawing/2014/main" val="10003"/>
                  </a:ext>
                </a:extLst>
              </a:tr>
              <a:tr h="370840">
                <a:tc>
                  <a:txBody>
                    <a:bodyPr/>
                    <a:lstStyle/>
                    <a:p>
                      <a:r>
                        <a:rPr lang="en-US" altLang="zh-CN" sz="2000" dirty="0">
                          <a:latin typeface="Comic Sans MS" pitchFamily="66" charset="0"/>
                        </a:rPr>
                        <a:t>  0x10C</a:t>
                      </a:r>
                      <a:endParaRPr lang="zh-CN" altLang="en-US" sz="2000" dirty="0">
                        <a:latin typeface="Comic Sans MS" pitchFamily="66" charset="0"/>
                      </a:endParaRPr>
                    </a:p>
                  </a:txBody>
                  <a:tcPr/>
                </a:tc>
                <a:tc>
                  <a:txBody>
                    <a:bodyPr/>
                    <a:lstStyle/>
                    <a:p>
                      <a:r>
                        <a:rPr lang="en-US" altLang="zh-CN" sz="2000" dirty="0">
                          <a:latin typeface="Comic Sans MS" pitchFamily="66" charset="0"/>
                        </a:rPr>
                        <a:t>  0x11</a:t>
                      </a:r>
                      <a:endParaRPr lang="zh-CN" altLang="en-US" sz="2000" dirty="0">
                        <a:latin typeface="Comic Sans MS" pitchFamily="66" charset="0"/>
                      </a:endParaRPr>
                    </a:p>
                  </a:txBody>
                  <a:tcPr/>
                </a:tc>
                <a:extLst>
                  <a:ext uri="{0D108BD9-81ED-4DB2-BD59-A6C34878D82A}">
                    <a16:rowId xmlns:a16="http://schemas.microsoft.com/office/drawing/2014/main" val="10004"/>
                  </a:ext>
                </a:extLst>
              </a:tr>
            </a:tbl>
          </a:graphicData>
        </a:graphic>
      </p:graphicFrame>
      <p:graphicFrame>
        <p:nvGraphicFramePr>
          <p:cNvPr id="8" name="表格 7"/>
          <p:cNvGraphicFramePr>
            <a:graphicFrameLocks noGrp="1"/>
          </p:cNvGraphicFramePr>
          <p:nvPr/>
        </p:nvGraphicFramePr>
        <p:xfrm>
          <a:off x="5000628" y="3071810"/>
          <a:ext cx="3500462" cy="1584960"/>
        </p:xfrm>
        <a:graphic>
          <a:graphicData uri="http://schemas.openxmlformats.org/drawingml/2006/table">
            <a:tbl>
              <a:tblPr firstRow="1" bandRow="1">
                <a:tableStyleId>{BC89EF96-8CEA-46FF-86C4-4CE0E7609802}</a:tableStyleId>
              </a:tblPr>
              <a:tblGrid>
                <a:gridCol w="1750231">
                  <a:extLst>
                    <a:ext uri="{9D8B030D-6E8A-4147-A177-3AD203B41FA5}">
                      <a16:colId xmlns:a16="http://schemas.microsoft.com/office/drawing/2014/main" val="20000"/>
                    </a:ext>
                  </a:extLst>
                </a:gridCol>
                <a:gridCol w="1750231">
                  <a:extLst>
                    <a:ext uri="{9D8B030D-6E8A-4147-A177-3AD203B41FA5}">
                      <a16:colId xmlns:a16="http://schemas.microsoft.com/office/drawing/2014/main" val="20001"/>
                    </a:ext>
                  </a:extLst>
                </a:gridCol>
              </a:tblGrid>
              <a:tr h="360521">
                <a:tc>
                  <a:txBody>
                    <a:bodyPr/>
                    <a:lstStyle/>
                    <a:p>
                      <a:r>
                        <a:rPr lang="en-US" altLang="zh-CN" sz="2000" dirty="0">
                          <a:latin typeface="Comic Sans MS" pitchFamily="66" charset="0"/>
                        </a:rPr>
                        <a:t>Register</a:t>
                      </a:r>
                      <a:endParaRPr lang="zh-CN" altLang="en-US" sz="2000" dirty="0">
                        <a:latin typeface="Comic Sans MS" pitchFamily="66" charset="0"/>
                      </a:endParaRPr>
                    </a:p>
                  </a:txBody>
                  <a:tcPr/>
                </a:tc>
                <a:tc>
                  <a:txBody>
                    <a:bodyPr/>
                    <a:lstStyle/>
                    <a:p>
                      <a:r>
                        <a:rPr lang="en-US" altLang="zh-CN" sz="2000" dirty="0">
                          <a:latin typeface="Comic Sans MS" pitchFamily="66" charset="0"/>
                        </a:rPr>
                        <a:t>Value</a:t>
                      </a:r>
                      <a:endParaRPr lang="zh-CN" altLang="en-US" sz="2000" dirty="0">
                        <a:latin typeface="Comic Sans MS" pitchFamily="66" charset="0"/>
                      </a:endParaRPr>
                    </a:p>
                  </a:txBody>
                  <a:tcPr/>
                </a:tc>
                <a:extLst>
                  <a:ext uri="{0D108BD9-81ED-4DB2-BD59-A6C34878D82A}">
                    <a16:rowId xmlns:a16="http://schemas.microsoft.com/office/drawing/2014/main" val="10000"/>
                  </a:ext>
                </a:extLst>
              </a:tr>
              <a:tr h="360521">
                <a:tc>
                  <a:txBody>
                    <a:bodyPr/>
                    <a:lstStyle/>
                    <a:p>
                      <a:r>
                        <a:rPr lang="en-US" altLang="zh-CN" sz="2000" dirty="0">
                          <a:latin typeface="Comic Sans MS" pitchFamily="66" charset="0"/>
                        </a:rPr>
                        <a:t>  %eax</a:t>
                      </a:r>
                      <a:endParaRPr lang="zh-CN" altLang="en-US" sz="2000" dirty="0">
                        <a:latin typeface="Comic Sans MS" pitchFamily="66" charset="0"/>
                      </a:endParaRPr>
                    </a:p>
                  </a:txBody>
                  <a:tcPr/>
                </a:tc>
                <a:tc>
                  <a:txBody>
                    <a:bodyPr/>
                    <a:lstStyle/>
                    <a:p>
                      <a:r>
                        <a:rPr lang="en-US" altLang="zh-CN" sz="2000" dirty="0">
                          <a:latin typeface="Comic Sans MS" pitchFamily="66" charset="0"/>
                        </a:rPr>
                        <a:t>  0x100</a:t>
                      </a:r>
                      <a:endParaRPr lang="zh-CN" altLang="en-US" sz="2000" dirty="0">
                        <a:latin typeface="Comic Sans MS" pitchFamily="66" charset="0"/>
                      </a:endParaRPr>
                    </a:p>
                  </a:txBody>
                  <a:tcPr/>
                </a:tc>
                <a:extLst>
                  <a:ext uri="{0D108BD9-81ED-4DB2-BD59-A6C34878D82A}">
                    <a16:rowId xmlns:a16="http://schemas.microsoft.com/office/drawing/2014/main" val="10001"/>
                  </a:ext>
                </a:extLst>
              </a:tr>
              <a:tr h="360521">
                <a:tc>
                  <a:txBody>
                    <a:bodyPr/>
                    <a:lstStyle/>
                    <a:p>
                      <a:r>
                        <a:rPr lang="en-US" altLang="zh-CN" sz="2000" dirty="0">
                          <a:latin typeface="Comic Sans MS" pitchFamily="66" charset="0"/>
                        </a:rPr>
                        <a:t>  %ecx</a:t>
                      </a:r>
                      <a:endParaRPr lang="zh-CN" altLang="en-US" sz="2000" dirty="0">
                        <a:latin typeface="Comic Sans MS" pitchFamily="66" charset="0"/>
                      </a:endParaRPr>
                    </a:p>
                  </a:txBody>
                  <a:tcPr/>
                </a:tc>
                <a:tc>
                  <a:txBody>
                    <a:bodyPr/>
                    <a:lstStyle/>
                    <a:p>
                      <a:r>
                        <a:rPr lang="en-US" altLang="zh-CN" sz="2000" dirty="0">
                          <a:latin typeface="Comic Sans MS" pitchFamily="66" charset="0"/>
                        </a:rPr>
                        <a:t>  0x1</a:t>
                      </a:r>
                      <a:endParaRPr lang="zh-CN" altLang="en-US" sz="2000" dirty="0">
                        <a:latin typeface="Comic Sans MS" pitchFamily="66" charset="0"/>
                      </a:endParaRPr>
                    </a:p>
                  </a:txBody>
                  <a:tcPr/>
                </a:tc>
                <a:extLst>
                  <a:ext uri="{0D108BD9-81ED-4DB2-BD59-A6C34878D82A}">
                    <a16:rowId xmlns:a16="http://schemas.microsoft.com/office/drawing/2014/main" val="10002"/>
                  </a:ext>
                </a:extLst>
              </a:tr>
              <a:tr h="360521">
                <a:tc>
                  <a:txBody>
                    <a:bodyPr/>
                    <a:lstStyle/>
                    <a:p>
                      <a:r>
                        <a:rPr lang="en-US" altLang="zh-CN" sz="2000" dirty="0">
                          <a:latin typeface="Comic Sans MS" pitchFamily="66" charset="0"/>
                        </a:rPr>
                        <a:t>  %edx</a:t>
                      </a:r>
                      <a:endParaRPr lang="zh-CN" altLang="en-US" sz="2000" dirty="0">
                        <a:latin typeface="Comic Sans MS" pitchFamily="66" charset="0"/>
                      </a:endParaRPr>
                    </a:p>
                  </a:txBody>
                  <a:tcPr/>
                </a:tc>
                <a:tc>
                  <a:txBody>
                    <a:bodyPr/>
                    <a:lstStyle/>
                    <a:p>
                      <a:r>
                        <a:rPr lang="en-US" altLang="zh-CN" sz="2000" dirty="0">
                          <a:latin typeface="Comic Sans MS" pitchFamily="66" charset="0"/>
                        </a:rPr>
                        <a:t>  0x3</a:t>
                      </a:r>
                      <a:endParaRPr lang="zh-CN" altLang="en-US" sz="2000" dirty="0">
                        <a:latin typeface="Comic Sans MS" pitchFamily="66" charset="0"/>
                      </a:endParaRPr>
                    </a:p>
                  </a:txBody>
                  <a:tcPr/>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4786314" y="5214950"/>
            <a:ext cx="3714776"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0xFF          Address 0x100</a:t>
            </a:r>
            <a:endParaRPr lang="zh-CN" altLang="en-US" sz="2000" dirty="0">
              <a:solidFill>
                <a:srgbClr val="FF0000"/>
              </a:solidFill>
              <a:latin typeface="Comic Sans MS" pitchFamily="66" charset="0"/>
            </a:endParaRPr>
          </a:p>
        </p:txBody>
      </p:sp>
      <p:sp>
        <p:nvSpPr>
          <p:cNvPr id="17" name="矩形 16"/>
          <p:cNvSpPr/>
          <p:nvPr/>
        </p:nvSpPr>
        <p:spPr>
          <a:xfrm>
            <a:off x="4786314" y="4714884"/>
            <a:ext cx="3714776"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0x13          Address 0x108</a:t>
            </a:r>
            <a:endParaRPr lang="zh-CN" altLang="en-US" sz="2000" dirty="0">
              <a:solidFill>
                <a:srgbClr val="FF0000"/>
              </a:solidFill>
              <a:latin typeface="Comic Sans MS" pitchFamily="66" charset="0"/>
            </a:endParaRPr>
          </a:p>
        </p:txBody>
      </p:sp>
      <p:sp>
        <p:nvSpPr>
          <p:cNvPr id="16" name="矩形 15"/>
          <p:cNvSpPr/>
          <p:nvPr/>
        </p:nvSpPr>
        <p:spPr>
          <a:xfrm>
            <a:off x="4786314" y="4214818"/>
            <a:ext cx="3714776"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0x11           Address 0x10C</a:t>
            </a:r>
            <a:endParaRPr lang="zh-CN" altLang="en-US" sz="2000" dirty="0">
              <a:solidFill>
                <a:srgbClr val="FF0000"/>
              </a:solidFill>
              <a:latin typeface="Comic Sans MS" pitchFamily="66" charset="0"/>
            </a:endParaRPr>
          </a:p>
        </p:txBody>
      </p:sp>
      <p:sp>
        <p:nvSpPr>
          <p:cNvPr id="15" name="矩形 14"/>
          <p:cNvSpPr/>
          <p:nvPr/>
        </p:nvSpPr>
        <p:spPr>
          <a:xfrm>
            <a:off x="4786314" y="3786190"/>
            <a:ext cx="3714776"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0xAB          Address 0x104</a:t>
            </a:r>
            <a:endParaRPr lang="zh-CN" altLang="en-US" sz="2000" dirty="0">
              <a:solidFill>
                <a:srgbClr val="FF0000"/>
              </a:solidFill>
              <a:latin typeface="Comic Sans MS" pitchFamily="66" charset="0"/>
            </a:endParaRPr>
          </a:p>
        </p:txBody>
      </p:sp>
      <p:sp>
        <p:nvSpPr>
          <p:cNvPr id="14" name="矩形 13"/>
          <p:cNvSpPr/>
          <p:nvPr/>
        </p:nvSpPr>
        <p:spPr>
          <a:xfrm>
            <a:off x="4786314" y="3357562"/>
            <a:ext cx="3714776"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0xFF          Address 0x100</a:t>
            </a:r>
            <a:endParaRPr lang="zh-CN" altLang="en-US" sz="2000" dirty="0">
              <a:solidFill>
                <a:srgbClr val="FF0000"/>
              </a:solidFill>
              <a:latin typeface="Comic Sans MS" pitchFamily="66" charset="0"/>
            </a:endParaRPr>
          </a:p>
        </p:txBody>
      </p:sp>
      <p:sp>
        <p:nvSpPr>
          <p:cNvPr id="13" name="矩形 12"/>
          <p:cNvSpPr/>
          <p:nvPr/>
        </p:nvSpPr>
        <p:spPr>
          <a:xfrm>
            <a:off x="4786314" y="2928934"/>
            <a:ext cx="3714776"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0x108        Immediate</a:t>
            </a:r>
            <a:endParaRPr lang="zh-CN" altLang="en-US" sz="2000" dirty="0">
              <a:solidFill>
                <a:srgbClr val="FF0000"/>
              </a:solidFill>
              <a:latin typeface="Comic Sans MS" pitchFamily="66" charset="0"/>
            </a:endParaRPr>
          </a:p>
        </p:txBody>
      </p:sp>
      <p:sp>
        <p:nvSpPr>
          <p:cNvPr id="12" name="矩形 11"/>
          <p:cNvSpPr/>
          <p:nvPr/>
        </p:nvSpPr>
        <p:spPr>
          <a:xfrm>
            <a:off x="4786314" y="2428868"/>
            <a:ext cx="3714776"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0xAB         Absolute address</a:t>
            </a:r>
            <a:endParaRPr lang="zh-CN" altLang="en-US" sz="2000" dirty="0">
              <a:solidFill>
                <a:srgbClr val="FF0000"/>
              </a:solidFill>
              <a:latin typeface="Comic Sans MS" pitchFamily="66" charset="0"/>
            </a:endParaRPr>
          </a:p>
        </p:txBody>
      </p:sp>
      <p:sp>
        <p:nvSpPr>
          <p:cNvPr id="11" name="矩形 10"/>
          <p:cNvSpPr/>
          <p:nvPr/>
        </p:nvSpPr>
        <p:spPr>
          <a:xfrm>
            <a:off x="4786314" y="2000240"/>
            <a:ext cx="3714776"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0x100        Register</a:t>
            </a:r>
            <a:endParaRPr lang="zh-CN" altLang="en-US" sz="2000" dirty="0">
              <a:solidFill>
                <a:srgbClr val="FF0000"/>
              </a:solidFill>
              <a:latin typeface="Comic Sans MS" pitchFamily="66" charset="0"/>
            </a:endParaRPr>
          </a:p>
        </p:txBody>
      </p:sp>
      <p:sp>
        <p:nvSpPr>
          <p:cNvPr id="19" name="矩形 18"/>
          <p:cNvSpPr/>
          <p:nvPr/>
        </p:nvSpPr>
        <p:spPr>
          <a:xfrm>
            <a:off x="4786314" y="5643578"/>
            <a:ext cx="3714776"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0x11           Address 0x10C</a:t>
            </a:r>
            <a:endParaRPr lang="zh-CN" altLang="en-US" sz="2000" dirty="0">
              <a:solidFill>
                <a:srgbClr val="FF0000"/>
              </a:solidFill>
              <a:latin typeface="Comic Sans MS" pitchFamily="66" charset="0"/>
            </a:endParaRPr>
          </a:p>
        </p:txBody>
      </p:sp>
      <p:graphicFrame>
        <p:nvGraphicFramePr>
          <p:cNvPr id="7" name="内容占位符 6"/>
          <p:cNvGraphicFramePr>
            <a:graphicFrameLocks noGrp="1"/>
          </p:cNvGraphicFramePr>
          <p:nvPr>
            <p:ph idx="1"/>
          </p:nvPr>
        </p:nvGraphicFramePr>
        <p:xfrm>
          <a:off x="1000100" y="1500174"/>
          <a:ext cx="7543824" cy="4564868"/>
        </p:xfrm>
        <a:graphic>
          <a:graphicData uri="http://schemas.openxmlformats.org/drawingml/2006/table">
            <a:tbl>
              <a:tblPr firstRow="1" bandRow="1">
                <a:tableStyleId>{BC89EF96-8CEA-46FF-86C4-4CE0E7609802}</a:tableStyleId>
              </a:tblPr>
              <a:tblGrid>
                <a:gridCol w="3771912">
                  <a:extLst>
                    <a:ext uri="{9D8B030D-6E8A-4147-A177-3AD203B41FA5}">
                      <a16:colId xmlns:a16="http://schemas.microsoft.com/office/drawing/2014/main" val="20000"/>
                    </a:ext>
                  </a:extLst>
                </a:gridCol>
                <a:gridCol w="3771912">
                  <a:extLst>
                    <a:ext uri="{9D8B030D-6E8A-4147-A177-3AD203B41FA5}">
                      <a16:colId xmlns:a16="http://schemas.microsoft.com/office/drawing/2014/main" val="20001"/>
                    </a:ext>
                  </a:extLst>
                </a:gridCol>
              </a:tblGrid>
              <a:tr h="461488">
                <a:tc>
                  <a:txBody>
                    <a:bodyPr/>
                    <a:lstStyle/>
                    <a:p>
                      <a:r>
                        <a:rPr lang="en-US" altLang="zh-CN" sz="2000" dirty="0">
                          <a:latin typeface="Comic Sans MS" pitchFamily="66" charset="0"/>
                        </a:rPr>
                        <a:t>  Operand</a:t>
                      </a:r>
                      <a:endParaRPr lang="zh-CN" altLang="en-US" sz="2000" dirty="0">
                        <a:latin typeface="Comic Sans MS" pitchFamily="66" charset="0"/>
                      </a:endParaRPr>
                    </a:p>
                  </a:txBody>
                  <a:tcPr/>
                </a:tc>
                <a:tc>
                  <a:txBody>
                    <a:bodyPr/>
                    <a:lstStyle/>
                    <a:p>
                      <a:r>
                        <a:rPr lang="en-US" altLang="zh-CN" sz="2000" dirty="0">
                          <a:latin typeface="Comic Sans MS" pitchFamily="66" charset="0"/>
                        </a:rPr>
                        <a:t>  Value</a:t>
                      </a:r>
                      <a:endParaRPr lang="zh-CN" altLang="en-US" sz="2000" dirty="0">
                        <a:latin typeface="Comic Sans MS" pitchFamily="66" charset="0"/>
                      </a:endParaRPr>
                    </a:p>
                  </a:txBody>
                  <a:tcPr/>
                </a:tc>
                <a:extLst>
                  <a:ext uri="{0D108BD9-81ED-4DB2-BD59-A6C34878D82A}">
                    <a16:rowId xmlns:a16="http://schemas.microsoft.com/office/drawing/2014/main" val="10000"/>
                  </a:ext>
                </a:extLst>
              </a:tr>
              <a:tr h="461488">
                <a:tc>
                  <a:txBody>
                    <a:bodyPr/>
                    <a:lstStyle/>
                    <a:p>
                      <a:r>
                        <a:rPr lang="en-US" altLang="zh-CN" sz="2000" dirty="0">
                          <a:latin typeface="Comic Sans MS" pitchFamily="66" charset="0"/>
                        </a:rPr>
                        <a:t>  %eax</a:t>
                      </a:r>
                      <a:endParaRPr lang="zh-CN" altLang="en-US" sz="2000" dirty="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1"/>
                  </a:ext>
                </a:extLst>
              </a:tr>
              <a:tr h="461488">
                <a:tc>
                  <a:txBody>
                    <a:bodyPr/>
                    <a:lstStyle/>
                    <a:p>
                      <a:r>
                        <a:rPr lang="en-US" altLang="zh-CN" sz="2000" dirty="0">
                          <a:latin typeface="Comic Sans MS" pitchFamily="66" charset="0"/>
                        </a:rPr>
                        <a:t>  0x104</a:t>
                      </a:r>
                      <a:endParaRPr lang="zh-CN" altLang="en-US" sz="2000" dirty="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2"/>
                  </a:ext>
                </a:extLst>
              </a:tr>
              <a:tr h="461488">
                <a:tc>
                  <a:txBody>
                    <a:bodyPr/>
                    <a:lstStyle/>
                    <a:p>
                      <a:r>
                        <a:rPr lang="en-US" altLang="zh-CN" sz="2000">
                          <a:latin typeface="Comic Sans MS" pitchFamily="66" charset="0"/>
                        </a:rPr>
                        <a:t>  $0x108</a:t>
                      </a:r>
                      <a:endParaRPr lang="zh-CN" altLang="en-US" sz="200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3"/>
                  </a:ext>
                </a:extLst>
              </a:tr>
              <a:tr h="411476">
                <a:tc>
                  <a:txBody>
                    <a:bodyPr/>
                    <a:lstStyle/>
                    <a:p>
                      <a:r>
                        <a:rPr lang="en-US" altLang="zh-CN" sz="2000" dirty="0">
                          <a:latin typeface="Comic Sans MS" pitchFamily="66" charset="0"/>
                        </a:rPr>
                        <a:t>  (%eax)</a:t>
                      </a:r>
                      <a:endParaRPr lang="zh-CN" altLang="en-US" sz="2000" dirty="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4"/>
                  </a:ext>
                </a:extLst>
              </a:tr>
              <a:tr h="461488">
                <a:tc>
                  <a:txBody>
                    <a:bodyPr/>
                    <a:lstStyle/>
                    <a:p>
                      <a:r>
                        <a:rPr lang="en-US" altLang="zh-CN" sz="2000" dirty="0">
                          <a:latin typeface="Comic Sans MS" pitchFamily="66" charset="0"/>
                        </a:rPr>
                        <a:t>  4(%eax)</a:t>
                      </a:r>
                      <a:endParaRPr lang="zh-CN" altLang="en-US" sz="2000" dirty="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5"/>
                  </a:ext>
                </a:extLst>
              </a:tr>
              <a:tr h="461488">
                <a:tc>
                  <a:txBody>
                    <a:bodyPr/>
                    <a:lstStyle/>
                    <a:p>
                      <a:r>
                        <a:rPr lang="en-US" altLang="zh-CN" sz="2000" dirty="0">
                          <a:latin typeface="Comic Sans MS" pitchFamily="66" charset="0"/>
                        </a:rPr>
                        <a:t>  9(%eax, %edx)</a:t>
                      </a:r>
                      <a:endParaRPr lang="zh-CN" altLang="en-US" sz="2000" dirty="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6"/>
                  </a:ext>
                </a:extLst>
              </a:tr>
              <a:tr h="461488">
                <a:tc>
                  <a:txBody>
                    <a:bodyPr/>
                    <a:lstStyle/>
                    <a:p>
                      <a:r>
                        <a:rPr lang="en-US" altLang="zh-CN" sz="2000" dirty="0">
                          <a:latin typeface="Comic Sans MS" pitchFamily="66" charset="0"/>
                        </a:rPr>
                        <a:t>  260(%ecx,</a:t>
                      </a:r>
                      <a:r>
                        <a:rPr lang="en-US" altLang="zh-CN" sz="2000" baseline="0" dirty="0">
                          <a:latin typeface="Comic Sans MS" pitchFamily="66" charset="0"/>
                        </a:rPr>
                        <a:t> %edx</a:t>
                      </a:r>
                      <a:r>
                        <a:rPr lang="en-US" altLang="zh-CN" sz="2000" dirty="0">
                          <a:latin typeface="Comic Sans MS" pitchFamily="66" charset="0"/>
                        </a:rPr>
                        <a:t>)</a:t>
                      </a:r>
                      <a:endParaRPr lang="zh-CN" altLang="en-US" sz="2000" dirty="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7"/>
                  </a:ext>
                </a:extLst>
              </a:tr>
              <a:tr h="461488">
                <a:tc>
                  <a:txBody>
                    <a:bodyPr/>
                    <a:lstStyle/>
                    <a:p>
                      <a:r>
                        <a:rPr lang="en-US" altLang="zh-CN" sz="2000" dirty="0">
                          <a:latin typeface="Comic Sans MS" pitchFamily="66" charset="0"/>
                        </a:rPr>
                        <a:t>  0xFC(, %ecx, 4)</a:t>
                      </a:r>
                      <a:endParaRPr lang="zh-CN" altLang="en-US" sz="2000" dirty="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8"/>
                  </a:ext>
                </a:extLst>
              </a:tr>
              <a:tr h="461488">
                <a:tc>
                  <a:txBody>
                    <a:bodyPr/>
                    <a:lstStyle/>
                    <a:p>
                      <a:r>
                        <a:rPr lang="en-US" altLang="zh-CN" sz="2000" kern="1200" dirty="0">
                          <a:solidFill>
                            <a:schemeClr val="tx1"/>
                          </a:solidFill>
                          <a:latin typeface="Comic Sans MS" pitchFamily="66" charset="0"/>
                          <a:ea typeface="+mn-ea"/>
                          <a:cs typeface="+mn-cs"/>
                        </a:rPr>
                        <a:t>  (%eax, %edx, 4)</a:t>
                      </a:r>
                      <a:endParaRPr lang="zh-CN" altLang="en-US" sz="2000" kern="1200" dirty="0">
                        <a:solidFill>
                          <a:schemeClr val="tx1"/>
                        </a:solidFill>
                        <a:latin typeface="Comic Sans MS" pitchFamily="66" charset="0"/>
                        <a:ea typeface="+mn-ea"/>
                        <a:cs typeface="+mn-cs"/>
                      </a:endParaRPr>
                    </a:p>
                  </a:txBody>
                  <a:tcPr/>
                </a:tc>
                <a:tc>
                  <a:txBody>
                    <a:bodyPr/>
                    <a:lstStyle/>
                    <a:p>
                      <a:endParaRPr lang="zh-CN" altLang="en-US" sz="2000" kern="1200" dirty="0">
                        <a:solidFill>
                          <a:schemeClr val="tx1"/>
                        </a:solidFill>
                        <a:latin typeface="Comic Sans MS" pitchFamily="66" charset="0"/>
                        <a:ea typeface="+mn-ea"/>
                        <a:cs typeface="+mn-cs"/>
                      </a:endParaRPr>
                    </a:p>
                  </a:txBody>
                  <a:tcPr/>
                </a:tc>
                <a:extLst>
                  <a:ext uri="{0D108BD9-81ED-4DB2-BD59-A6C34878D82A}">
                    <a16:rowId xmlns:a16="http://schemas.microsoft.com/office/drawing/2014/main" val="10009"/>
                  </a:ext>
                </a:extLst>
              </a:tr>
            </a:tbl>
          </a:graphicData>
        </a:graphic>
      </p:graphicFrame>
      <p:sp>
        <p:nvSpPr>
          <p:cNvPr id="5" name="灯片编号占位符 4"/>
          <p:cNvSpPr>
            <a:spLocks noGrp="1"/>
          </p:cNvSpPr>
          <p:nvPr>
            <p:ph type="sldNum" sz="quarter" idx="12"/>
          </p:nvPr>
        </p:nvSpPr>
        <p:spPr/>
        <p:txBody>
          <a:bodyPr/>
          <a:lstStyle/>
          <a:p>
            <a:fld id="{0C913308-F349-4B6D-A68A-DD1791B4A57B}" type="slidenum">
              <a:rPr lang="zh-CN" altLang="en-US" smtClean="0"/>
              <a:pPr/>
              <a:t>3</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graphicFrame>
        <p:nvGraphicFramePr>
          <p:cNvPr id="20" name="表格 19"/>
          <p:cNvGraphicFramePr>
            <a:graphicFrameLocks noGrp="1"/>
          </p:cNvGraphicFramePr>
          <p:nvPr/>
        </p:nvGraphicFramePr>
        <p:xfrm>
          <a:off x="-32" y="-24"/>
          <a:ext cx="3071802" cy="1524000"/>
        </p:xfrm>
        <a:graphic>
          <a:graphicData uri="http://schemas.openxmlformats.org/drawingml/2006/table">
            <a:tbl>
              <a:tblPr firstRow="1" bandRow="1">
                <a:tableStyleId>{BC89EF96-8CEA-46FF-86C4-4CE0E7609802}</a:tableStyleId>
              </a:tblPr>
              <a:tblGrid>
                <a:gridCol w="1535901">
                  <a:extLst>
                    <a:ext uri="{9D8B030D-6E8A-4147-A177-3AD203B41FA5}">
                      <a16:colId xmlns:a16="http://schemas.microsoft.com/office/drawing/2014/main" val="20000"/>
                    </a:ext>
                  </a:extLst>
                </a:gridCol>
                <a:gridCol w="1535901">
                  <a:extLst>
                    <a:ext uri="{9D8B030D-6E8A-4147-A177-3AD203B41FA5}">
                      <a16:colId xmlns:a16="http://schemas.microsoft.com/office/drawing/2014/main" val="20001"/>
                    </a:ext>
                  </a:extLst>
                </a:gridCol>
              </a:tblGrid>
              <a:tr h="281939">
                <a:tc>
                  <a:txBody>
                    <a:bodyPr/>
                    <a:lstStyle/>
                    <a:p>
                      <a:r>
                        <a:rPr lang="en-US" altLang="zh-CN" sz="1400" dirty="0">
                          <a:latin typeface="Comic Sans MS" pitchFamily="66" charset="0"/>
                        </a:rPr>
                        <a:t>Address</a:t>
                      </a:r>
                      <a:endParaRPr lang="zh-CN" altLang="en-US" sz="1400" dirty="0">
                        <a:latin typeface="Comic Sans MS" pitchFamily="66" charset="0"/>
                      </a:endParaRPr>
                    </a:p>
                  </a:txBody>
                  <a:tcPr/>
                </a:tc>
                <a:tc>
                  <a:txBody>
                    <a:bodyPr/>
                    <a:lstStyle/>
                    <a:p>
                      <a:r>
                        <a:rPr lang="en-US" altLang="zh-CN" sz="1400" dirty="0">
                          <a:latin typeface="Comic Sans MS" pitchFamily="66" charset="0"/>
                        </a:rPr>
                        <a:t>Value</a:t>
                      </a:r>
                      <a:endParaRPr lang="zh-CN" altLang="en-US" sz="1400" dirty="0">
                        <a:latin typeface="Comic Sans MS" pitchFamily="66" charset="0"/>
                      </a:endParaRPr>
                    </a:p>
                  </a:txBody>
                  <a:tcPr/>
                </a:tc>
                <a:extLst>
                  <a:ext uri="{0D108BD9-81ED-4DB2-BD59-A6C34878D82A}">
                    <a16:rowId xmlns:a16="http://schemas.microsoft.com/office/drawing/2014/main" val="10000"/>
                  </a:ext>
                </a:extLst>
              </a:tr>
              <a:tr h="281939">
                <a:tc>
                  <a:txBody>
                    <a:bodyPr/>
                    <a:lstStyle/>
                    <a:p>
                      <a:r>
                        <a:rPr lang="en-US" altLang="zh-CN" sz="1400" dirty="0">
                          <a:latin typeface="Comic Sans MS" pitchFamily="66" charset="0"/>
                        </a:rPr>
                        <a:t>  0x100</a:t>
                      </a:r>
                      <a:endParaRPr lang="zh-CN" altLang="en-US" sz="1400" dirty="0">
                        <a:latin typeface="Comic Sans MS" pitchFamily="66" charset="0"/>
                      </a:endParaRPr>
                    </a:p>
                  </a:txBody>
                  <a:tcPr/>
                </a:tc>
                <a:tc>
                  <a:txBody>
                    <a:bodyPr/>
                    <a:lstStyle/>
                    <a:p>
                      <a:r>
                        <a:rPr lang="en-US" altLang="zh-CN" sz="1400" dirty="0">
                          <a:latin typeface="Comic Sans MS" pitchFamily="66" charset="0"/>
                        </a:rPr>
                        <a:t>  0xFF</a:t>
                      </a:r>
                      <a:endParaRPr lang="zh-CN" altLang="en-US" sz="1400" dirty="0">
                        <a:latin typeface="Comic Sans MS" pitchFamily="66" charset="0"/>
                      </a:endParaRPr>
                    </a:p>
                  </a:txBody>
                  <a:tcPr/>
                </a:tc>
                <a:extLst>
                  <a:ext uri="{0D108BD9-81ED-4DB2-BD59-A6C34878D82A}">
                    <a16:rowId xmlns:a16="http://schemas.microsoft.com/office/drawing/2014/main" val="10001"/>
                  </a:ext>
                </a:extLst>
              </a:tr>
              <a:tr h="281939">
                <a:tc>
                  <a:txBody>
                    <a:bodyPr/>
                    <a:lstStyle/>
                    <a:p>
                      <a:r>
                        <a:rPr lang="en-US" altLang="zh-CN" sz="1400" dirty="0">
                          <a:latin typeface="Comic Sans MS" pitchFamily="66" charset="0"/>
                        </a:rPr>
                        <a:t>  0x104</a:t>
                      </a:r>
                      <a:endParaRPr lang="zh-CN" altLang="en-US" sz="1400" dirty="0">
                        <a:latin typeface="Comic Sans MS" pitchFamily="66" charset="0"/>
                      </a:endParaRPr>
                    </a:p>
                  </a:txBody>
                  <a:tcPr/>
                </a:tc>
                <a:tc>
                  <a:txBody>
                    <a:bodyPr/>
                    <a:lstStyle/>
                    <a:p>
                      <a:r>
                        <a:rPr lang="en-US" altLang="zh-CN" sz="1400" dirty="0">
                          <a:latin typeface="Comic Sans MS" pitchFamily="66" charset="0"/>
                        </a:rPr>
                        <a:t>  0xAB</a:t>
                      </a:r>
                      <a:endParaRPr lang="zh-CN" altLang="en-US" sz="1400" dirty="0">
                        <a:latin typeface="Comic Sans MS" pitchFamily="66" charset="0"/>
                      </a:endParaRPr>
                    </a:p>
                  </a:txBody>
                  <a:tcPr/>
                </a:tc>
                <a:extLst>
                  <a:ext uri="{0D108BD9-81ED-4DB2-BD59-A6C34878D82A}">
                    <a16:rowId xmlns:a16="http://schemas.microsoft.com/office/drawing/2014/main" val="10002"/>
                  </a:ext>
                </a:extLst>
              </a:tr>
              <a:tr h="281939">
                <a:tc>
                  <a:txBody>
                    <a:bodyPr/>
                    <a:lstStyle/>
                    <a:p>
                      <a:r>
                        <a:rPr lang="en-US" altLang="zh-CN" sz="1400" dirty="0">
                          <a:latin typeface="Comic Sans MS" pitchFamily="66" charset="0"/>
                        </a:rPr>
                        <a:t>  0x108</a:t>
                      </a:r>
                      <a:endParaRPr lang="zh-CN" altLang="en-US" sz="1400" dirty="0">
                        <a:latin typeface="Comic Sans MS" pitchFamily="66" charset="0"/>
                      </a:endParaRPr>
                    </a:p>
                  </a:txBody>
                  <a:tcPr/>
                </a:tc>
                <a:tc>
                  <a:txBody>
                    <a:bodyPr/>
                    <a:lstStyle/>
                    <a:p>
                      <a:r>
                        <a:rPr lang="en-US" altLang="zh-CN" sz="1400" dirty="0">
                          <a:latin typeface="Comic Sans MS" pitchFamily="66" charset="0"/>
                        </a:rPr>
                        <a:t>  0x13</a:t>
                      </a:r>
                      <a:endParaRPr lang="zh-CN" altLang="en-US" sz="1400" dirty="0">
                        <a:latin typeface="Comic Sans MS" pitchFamily="66" charset="0"/>
                      </a:endParaRPr>
                    </a:p>
                  </a:txBody>
                  <a:tcPr/>
                </a:tc>
                <a:extLst>
                  <a:ext uri="{0D108BD9-81ED-4DB2-BD59-A6C34878D82A}">
                    <a16:rowId xmlns:a16="http://schemas.microsoft.com/office/drawing/2014/main" val="10003"/>
                  </a:ext>
                </a:extLst>
              </a:tr>
              <a:tr h="281939">
                <a:tc>
                  <a:txBody>
                    <a:bodyPr/>
                    <a:lstStyle/>
                    <a:p>
                      <a:r>
                        <a:rPr lang="en-US" altLang="zh-CN" sz="1400" dirty="0">
                          <a:latin typeface="Comic Sans MS" pitchFamily="66" charset="0"/>
                        </a:rPr>
                        <a:t>  0x10C</a:t>
                      </a:r>
                      <a:endParaRPr lang="zh-CN" altLang="en-US" sz="1400" dirty="0">
                        <a:latin typeface="Comic Sans MS" pitchFamily="66" charset="0"/>
                      </a:endParaRPr>
                    </a:p>
                  </a:txBody>
                  <a:tcPr/>
                </a:tc>
                <a:tc>
                  <a:txBody>
                    <a:bodyPr/>
                    <a:lstStyle/>
                    <a:p>
                      <a:r>
                        <a:rPr lang="en-US" altLang="zh-CN" sz="1400" dirty="0">
                          <a:latin typeface="Comic Sans MS" pitchFamily="66" charset="0"/>
                        </a:rPr>
                        <a:t>  0x11</a:t>
                      </a:r>
                      <a:endParaRPr lang="zh-CN" altLang="en-US" sz="1400" dirty="0">
                        <a:latin typeface="Comic Sans MS" pitchFamily="66" charset="0"/>
                      </a:endParaRPr>
                    </a:p>
                  </a:txBody>
                  <a:tcPr/>
                </a:tc>
                <a:extLst>
                  <a:ext uri="{0D108BD9-81ED-4DB2-BD59-A6C34878D82A}">
                    <a16:rowId xmlns:a16="http://schemas.microsoft.com/office/drawing/2014/main" val="10004"/>
                  </a:ext>
                </a:extLst>
              </a:tr>
            </a:tbl>
          </a:graphicData>
        </a:graphic>
      </p:graphicFrame>
      <p:graphicFrame>
        <p:nvGraphicFramePr>
          <p:cNvPr id="22" name="表格 21"/>
          <p:cNvGraphicFramePr>
            <a:graphicFrameLocks noGrp="1"/>
          </p:cNvGraphicFramePr>
          <p:nvPr/>
        </p:nvGraphicFramePr>
        <p:xfrm>
          <a:off x="5643570" y="66660"/>
          <a:ext cx="2928958" cy="1219200"/>
        </p:xfrm>
        <a:graphic>
          <a:graphicData uri="http://schemas.openxmlformats.org/drawingml/2006/table">
            <a:tbl>
              <a:tblPr firstRow="1" bandRow="1">
                <a:tableStyleId>{BC89EF96-8CEA-46FF-86C4-4CE0E7609802}</a:tableStyleId>
              </a:tblPr>
              <a:tblGrid>
                <a:gridCol w="1464479">
                  <a:extLst>
                    <a:ext uri="{9D8B030D-6E8A-4147-A177-3AD203B41FA5}">
                      <a16:colId xmlns:a16="http://schemas.microsoft.com/office/drawing/2014/main" val="20000"/>
                    </a:ext>
                  </a:extLst>
                </a:gridCol>
                <a:gridCol w="1464479">
                  <a:extLst>
                    <a:ext uri="{9D8B030D-6E8A-4147-A177-3AD203B41FA5}">
                      <a16:colId xmlns:a16="http://schemas.microsoft.com/office/drawing/2014/main" val="20001"/>
                    </a:ext>
                  </a:extLst>
                </a:gridCol>
              </a:tblGrid>
              <a:tr h="303606">
                <a:tc>
                  <a:txBody>
                    <a:bodyPr/>
                    <a:lstStyle/>
                    <a:p>
                      <a:r>
                        <a:rPr lang="en-US" altLang="zh-CN" sz="1400" dirty="0">
                          <a:latin typeface="Comic Sans MS" pitchFamily="66" charset="0"/>
                        </a:rPr>
                        <a:t>Register</a:t>
                      </a:r>
                      <a:endParaRPr lang="zh-CN" altLang="en-US" sz="1400" dirty="0">
                        <a:latin typeface="Comic Sans MS" pitchFamily="66" charset="0"/>
                      </a:endParaRPr>
                    </a:p>
                  </a:txBody>
                  <a:tcPr/>
                </a:tc>
                <a:tc>
                  <a:txBody>
                    <a:bodyPr/>
                    <a:lstStyle/>
                    <a:p>
                      <a:r>
                        <a:rPr lang="en-US" altLang="zh-CN" sz="1400" dirty="0">
                          <a:latin typeface="Comic Sans MS" pitchFamily="66" charset="0"/>
                        </a:rPr>
                        <a:t>Value</a:t>
                      </a:r>
                      <a:endParaRPr lang="zh-CN" altLang="en-US" sz="1400" dirty="0">
                        <a:latin typeface="Comic Sans MS" pitchFamily="66" charset="0"/>
                      </a:endParaRPr>
                    </a:p>
                  </a:txBody>
                  <a:tcPr/>
                </a:tc>
                <a:extLst>
                  <a:ext uri="{0D108BD9-81ED-4DB2-BD59-A6C34878D82A}">
                    <a16:rowId xmlns:a16="http://schemas.microsoft.com/office/drawing/2014/main" val="10000"/>
                  </a:ext>
                </a:extLst>
              </a:tr>
              <a:tr h="303606">
                <a:tc>
                  <a:txBody>
                    <a:bodyPr/>
                    <a:lstStyle/>
                    <a:p>
                      <a:r>
                        <a:rPr lang="en-US" altLang="zh-CN" sz="1400" dirty="0">
                          <a:latin typeface="Comic Sans MS" pitchFamily="66" charset="0"/>
                        </a:rPr>
                        <a:t>  %eax</a:t>
                      </a:r>
                      <a:endParaRPr lang="zh-CN" altLang="en-US" sz="1400" dirty="0">
                        <a:latin typeface="Comic Sans MS" pitchFamily="66" charset="0"/>
                      </a:endParaRPr>
                    </a:p>
                  </a:txBody>
                  <a:tcPr/>
                </a:tc>
                <a:tc>
                  <a:txBody>
                    <a:bodyPr/>
                    <a:lstStyle/>
                    <a:p>
                      <a:r>
                        <a:rPr lang="en-US" altLang="zh-CN" sz="1400" dirty="0">
                          <a:latin typeface="Comic Sans MS" pitchFamily="66" charset="0"/>
                        </a:rPr>
                        <a:t>  0x100</a:t>
                      </a:r>
                      <a:endParaRPr lang="zh-CN" altLang="en-US" sz="1400" dirty="0">
                        <a:latin typeface="Comic Sans MS" pitchFamily="66" charset="0"/>
                      </a:endParaRPr>
                    </a:p>
                  </a:txBody>
                  <a:tcPr/>
                </a:tc>
                <a:extLst>
                  <a:ext uri="{0D108BD9-81ED-4DB2-BD59-A6C34878D82A}">
                    <a16:rowId xmlns:a16="http://schemas.microsoft.com/office/drawing/2014/main" val="10001"/>
                  </a:ext>
                </a:extLst>
              </a:tr>
              <a:tr h="303606">
                <a:tc>
                  <a:txBody>
                    <a:bodyPr/>
                    <a:lstStyle/>
                    <a:p>
                      <a:r>
                        <a:rPr lang="en-US" altLang="zh-CN" sz="1400" dirty="0">
                          <a:latin typeface="Comic Sans MS" pitchFamily="66" charset="0"/>
                        </a:rPr>
                        <a:t>  %ecx</a:t>
                      </a:r>
                      <a:endParaRPr lang="zh-CN" altLang="en-US" sz="1400" dirty="0">
                        <a:latin typeface="Comic Sans MS" pitchFamily="66" charset="0"/>
                      </a:endParaRPr>
                    </a:p>
                  </a:txBody>
                  <a:tcPr/>
                </a:tc>
                <a:tc>
                  <a:txBody>
                    <a:bodyPr/>
                    <a:lstStyle/>
                    <a:p>
                      <a:r>
                        <a:rPr lang="en-US" altLang="zh-CN" sz="1400" dirty="0">
                          <a:latin typeface="Comic Sans MS" pitchFamily="66" charset="0"/>
                        </a:rPr>
                        <a:t>  0x1</a:t>
                      </a:r>
                      <a:endParaRPr lang="zh-CN" altLang="en-US" sz="1400" dirty="0">
                        <a:latin typeface="Comic Sans MS" pitchFamily="66" charset="0"/>
                      </a:endParaRPr>
                    </a:p>
                  </a:txBody>
                  <a:tcPr/>
                </a:tc>
                <a:extLst>
                  <a:ext uri="{0D108BD9-81ED-4DB2-BD59-A6C34878D82A}">
                    <a16:rowId xmlns:a16="http://schemas.microsoft.com/office/drawing/2014/main" val="10002"/>
                  </a:ext>
                </a:extLst>
              </a:tr>
              <a:tr h="303606">
                <a:tc>
                  <a:txBody>
                    <a:bodyPr/>
                    <a:lstStyle/>
                    <a:p>
                      <a:r>
                        <a:rPr lang="en-US" altLang="zh-CN" sz="1400" dirty="0">
                          <a:latin typeface="Comic Sans MS" pitchFamily="66" charset="0"/>
                        </a:rPr>
                        <a:t>  %edx</a:t>
                      </a:r>
                      <a:endParaRPr lang="zh-CN" altLang="en-US" sz="1400" dirty="0">
                        <a:latin typeface="Comic Sans MS" pitchFamily="66" charset="0"/>
                      </a:endParaRPr>
                    </a:p>
                  </a:txBody>
                  <a:tcPr/>
                </a:tc>
                <a:tc>
                  <a:txBody>
                    <a:bodyPr/>
                    <a:lstStyle/>
                    <a:p>
                      <a:r>
                        <a:rPr lang="en-US" altLang="zh-CN" sz="1400" dirty="0">
                          <a:latin typeface="Comic Sans MS" pitchFamily="66" charset="0"/>
                        </a:rPr>
                        <a:t>  0x3</a:t>
                      </a:r>
                      <a:endParaRPr lang="zh-CN" altLang="en-US" sz="1400" dirty="0">
                        <a:latin typeface="Comic Sans MS" pitchFamily="66" charset="0"/>
                      </a:endParaRPr>
                    </a:p>
                  </a:txBody>
                  <a:tcPr/>
                </a:tc>
                <a:extLst>
                  <a:ext uri="{0D108BD9-81ED-4DB2-BD59-A6C34878D82A}">
                    <a16:rowId xmlns:a16="http://schemas.microsoft.com/office/drawing/2014/main" val="10003"/>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ppt_x"/>
                                          </p:val>
                                        </p:tav>
                                        <p:tav tm="100000">
                                          <p:val>
                                            <p:strVal val="#ppt_x"/>
                                          </p:val>
                                        </p:tav>
                                      </p:tavLst>
                                    </p:anim>
                                    <p:anim calcmode="lin" valueType="num">
                                      <p:cBhvr additive="base">
                                        <p:cTn id="4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500" fill="hold"/>
                                        <p:tgtEl>
                                          <p:spTgt spid="18"/>
                                        </p:tgtEl>
                                        <p:attrNameLst>
                                          <p:attrName>ppt_x</p:attrName>
                                        </p:attrNameLst>
                                      </p:cBhvr>
                                      <p:tavLst>
                                        <p:tav tm="0">
                                          <p:val>
                                            <p:strVal val="#ppt_x"/>
                                          </p:val>
                                        </p:tav>
                                        <p:tav tm="100000">
                                          <p:val>
                                            <p:strVal val="#ppt_x"/>
                                          </p:val>
                                        </p:tav>
                                      </p:tavLst>
                                    </p:anim>
                                    <p:anim calcmode="lin" valueType="num">
                                      <p:cBhvr additive="base">
                                        <p:cTn id="5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7" grpId="0" animBg="1"/>
      <p:bldP spid="16" grpId="0" animBg="1"/>
      <p:bldP spid="15" grpId="0" animBg="1"/>
      <p:bldP spid="14" grpId="0" animBg="1"/>
      <p:bldP spid="13" grpId="0" animBg="1"/>
      <p:bldP spid="12" grpId="0" animBg="1"/>
      <p:bldP spid="11"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8EB32-C8AA-75CF-09BB-BD64F990E478}"/>
            </a:ext>
          </a:extLst>
        </p:cNvPr>
        <p:cNvGrpSpPr/>
        <p:nvPr/>
      </p:nvGrpSpPr>
      <p:grpSpPr>
        <a:xfrm>
          <a:off x="0" y="0"/>
          <a:ext cx="0" cy="0"/>
          <a:chOff x="0" y="0"/>
          <a:chExt cx="0" cy="0"/>
        </a:xfrm>
      </p:grpSpPr>
      <p:sp>
        <p:nvSpPr>
          <p:cNvPr id="18" name="矩形 17">
            <a:extLst>
              <a:ext uri="{FF2B5EF4-FFF2-40B4-BE49-F238E27FC236}">
                <a16:creationId xmlns:a16="http://schemas.microsoft.com/office/drawing/2014/main" id="{89597536-58BC-F9E8-61A4-823D7126F050}"/>
              </a:ext>
            </a:extLst>
          </p:cNvPr>
          <p:cNvSpPr/>
          <p:nvPr/>
        </p:nvSpPr>
        <p:spPr>
          <a:xfrm>
            <a:off x="4786314" y="5214950"/>
            <a:ext cx="3714776"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0xFF          Address 0x100</a:t>
            </a:r>
            <a:endParaRPr lang="zh-CN" altLang="en-US" sz="2000" dirty="0">
              <a:solidFill>
                <a:srgbClr val="FF0000"/>
              </a:solidFill>
              <a:latin typeface="Comic Sans MS" pitchFamily="66" charset="0"/>
            </a:endParaRPr>
          </a:p>
        </p:txBody>
      </p:sp>
      <p:sp>
        <p:nvSpPr>
          <p:cNvPr id="19" name="矩形 18">
            <a:extLst>
              <a:ext uri="{FF2B5EF4-FFF2-40B4-BE49-F238E27FC236}">
                <a16:creationId xmlns:a16="http://schemas.microsoft.com/office/drawing/2014/main" id="{5283A517-D563-2465-8F7F-601FE4130007}"/>
              </a:ext>
            </a:extLst>
          </p:cNvPr>
          <p:cNvSpPr/>
          <p:nvPr/>
        </p:nvSpPr>
        <p:spPr>
          <a:xfrm>
            <a:off x="4786314" y="5643578"/>
            <a:ext cx="3714776"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0x11           Address 0x10C</a:t>
            </a:r>
            <a:endParaRPr lang="zh-CN" altLang="en-US" sz="2000" dirty="0">
              <a:solidFill>
                <a:srgbClr val="FF0000"/>
              </a:solidFill>
              <a:latin typeface="Comic Sans MS" pitchFamily="66" charset="0"/>
            </a:endParaRPr>
          </a:p>
        </p:txBody>
      </p:sp>
      <p:graphicFrame>
        <p:nvGraphicFramePr>
          <p:cNvPr id="7" name="内容占位符 6">
            <a:extLst>
              <a:ext uri="{FF2B5EF4-FFF2-40B4-BE49-F238E27FC236}">
                <a16:creationId xmlns:a16="http://schemas.microsoft.com/office/drawing/2014/main" id="{D93A5DB0-1B46-E8B1-8F0A-5909F7E20E35}"/>
              </a:ext>
            </a:extLst>
          </p:cNvPr>
          <p:cNvGraphicFramePr>
            <a:graphicFrameLocks noGrp="1"/>
          </p:cNvGraphicFramePr>
          <p:nvPr>
            <p:ph idx="1"/>
          </p:nvPr>
        </p:nvGraphicFramePr>
        <p:xfrm>
          <a:off x="1000100" y="1500174"/>
          <a:ext cx="7543824" cy="4564868"/>
        </p:xfrm>
        <a:graphic>
          <a:graphicData uri="http://schemas.openxmlformats.org/drawingml/2006/table">
            <a:tbl>
              <a:tblPr firstRow="1" bandRow="1">
                <a:tableStyleId>{BC89EF96-8CEA-46FF-86C4-4CE0E7609802}</a:tableStyleId>
              </a:tblPr>
              <a:tblGrid>
                <a:gridCol w="3771912">
                  <a:extLst>
                    <a:ext uri="{9D8B030D-6E8A-4147-A177-3AD203B41FA5}">
                      <a16:colId xmlns:a16="http://schemas.microsoft.com/office/drawing/2014/main" val="20000"/>
                    </a:ext>
                  </a:extLst>
                </a:gridCol>
                <a:gridCol w="3771912">
                  <a:extLst>
                    <a:ext uri="{9D8B030D-6E8A-4147-A177-3AD203B41FA5}">
                      <a16:colId xmlns:a16="http://schemas.microsoft.com/office/drawing/2014/main" val="20001"/>
                    </a:ext>
                  </a:extLst>
                </a:gridCol>
              </a:tblGrid>
              <a:tr h="461488">
                <a:tc>
                  <a:txBody>
                    <a:bodyPr/>
                    <a:lstStyle/>
                    <a:p>
                      <a:r>
                        <a:rPr lang="en-US" altLang="zh-CN" sz="2000" dirty="0">
                          <a:latin typeface="Comic Sans MS" pitchFamily="66" charset="0"/>
                        </a:rPr>
                        <a:t>  Operand</a:t>
                      </a:r>
                      <a:endParaRPr lang="zh-CN" altLang="en-US" sz="2000" dirty="0">
                        <a:latin typeface="Comic Sans MS" pitchFamily="66" charset="0"/>
                      </a:endParaRPr>
                    </a:p>
                  </a:txBody>
                  <a:tcPr/>
                </a:tc>
                <a:tc>
                  <a:txBody>
                    <a:bodyPr/>
                    <a:lstStyle/>
                    <a:p>
                      <a:r>
                        <a:rPr lang="en-US" altLang="zh-CN" sz="2000" dirty="0">
                          <a:latin typeface="Comic Sans MS" pitchFamily="66" charset="0"/>
                        </a:rPr>
                        <a:t>  Value</a:t>
                      </a:r>
                      <a:endParaRPr lang="zh-CN" altLang="en-US" sz="2000" dirty="0">
                        <a:latin typeface="Comic Sans MS" pitchFamily="66" charset="0"/>
                      </a:endParaRPr>
                    </a:p>
                  </a:txBody>
                  <a:tcPr/>
                </a:tc>
                <a:extLst>
                  <a:ext uri="{0D108BD9-81ED-4DB2-BD59-A6C34878D82A}">
                    <a16:rowId xmlns:a16="http://schemas.microsoft.com/office/drawing/2014/main" val="10000"/>
                  </a:ext>
                </a:extLst>
              </a:tr>
              <a:tr h="461488">
                <a:tc>
                  <a:txBody>
                    <a:bodyPr/>
                    <a:lstStyle/>
                    <a:p>
                      <a:r>
                        <a:rPr lang="en-US" altLang="zh-CN" sz="2000" dirty="0">
                          <a:latin typeface="Comic Sans MS" pitchFamily="66" charset="0"/>
                        </a:rPr>
                        <a:t>  %eax</a:t>
                      </a:r>
                      <a:endParaRPr lang="zh-CN" altLang="en-US" sz="2000" dirty="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1"/>
                  </a:ext>
                </a:extLst>
              </a:tr>
              <a:tr h="461488">
                <a:tc>
                  <a:txBody>
                    <a:bodyPr/>
                    <a:lstStyle/>
                    <a:p>
                      <a:r>
                        <a:rPr lang="en-US" altLang="zh-CN" sz="2000" dirty="0">
                          <a:latin typeface="Comic Sans MS" pitchFamily="66" charset="0"/>
                        </a:rPr>
                        <a:t>  0x104</a:t>
                      </a:r>
                      <a:endParaRPr lang="zh-CN" altLang="en-US" sz="2000" dirty="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2"/>
                  </a:ext>
                </a:extLst>
              </a:tr>
              <a:tr h="461488">
                <a:tc>
                  <a:txBody>
                    <a:bodyPr/>
                    <a:lstStyle/>
                    <a:p>
                      <a:r>
                        <a:rPr lang="en-US" altLang="zh-CN" sz="2000">
                          <a:latin typeface="Comic Sans MS" pitchFamily="66" charset="0"/>
                        </a:rPr>
                        <a:t>  $0x108</a:t>
                      </a:r>
                      <a:endParaRPr lang="zh-CN" altLang="en-US" sz="200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3"/>
                  </a:ext>
                </a:extLst>
              </a:tr>
              <a:tr h="411476">
                <a:tc>
                  <a:txBody>
                    <a:bodyPr/>
                    <a:lstStyle/>
                    <a:p>
                      <a:r>
                        <a:rPr lang="en-US" altLang="zh-CN" sz="2000" dirty="0">
                          <a:latin typeface="Comic Sans MS" pitchFamily="66" charset="0"/>
                        </a:rPr>
                        <a:t>  (%eax)</a:t>
                      </a:r>
                      <a:endParaRPr lang="zh-CN" altLang="en-US" sz="2000" dirty="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4"/>
                  </a:ext>
                </a:extLst>
              </a:tr>
              <a:tr h="461488">
                <a:tc>
                  <a:txBody>
                    <a:bodyPr/>
                    <a:lstStyle/>
                    <a:p>
                      <a:r>
                        <a:rPr lang="en-US" altLang="zh-CN" sz="2000" dirty="0">
                          <a:latin typeface="Comic Sans MS" pitchFamily="66" charset="0"/>
                        </a:rPr>
                        <a:t>  4(%eax)</a:t>
                      </a:r>
                      <a:endParaRPr lang="zh-CN" altLang="en-US" sz="2000" dirty="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5"/>
                  </a:ext>
                </a:extLst>
              </a:tr>
              <a:tr h="461488">
                <a:tc>
                  <a:txBody>
                    <a:bodyPr/>
                    <a:lstStyle/>
                    <a:p>
                      <a:r>
                        <a:rPr lang="en-US" altLang="zh-CN" sz="2000" dirty="0">
                          <a:latin typeface="Comic Sans MS" pitchFamily="66" charset="0"/>
                        </a:rPr>
                        <a:t>  9(%eax, %edx)</a:t>
                      </a:r>
                      <a:endParaRPr lang="zh-CN" altLang="en-US" sz="2000" dirty="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6"/>
                  </a:ext>
                </a:extLst>
              </a:tr>
              <a:tr h="461488">
                <a:tc>
                  <a:txBody>
                    <a:bodyPr/>
                    <a:lstStyle/>
                    <a:p>
                      <a:r>
                        <a:rPr lang="en-US" altLang="zh-CN" sz="2000" dirty="0">
                          <a:latin typeface="Comic Sans MS" pitchFamily="66" charset="0"/>
                        </a:rPr>
                        <a:t>  260(%ecx,</a:t>
                      </a:r>
                      <a:r>
                        <a:rPr lang="en-US" altLang="zh-CN" sz="2000" baseline="0" dirty="0">
                          <a:latin typeface="Comic Sans MS" pitchFamily="66" charset="0"/>
                        </a:rPr>
                        <a:t> %edx</a:t>
                      </a:r>
                      <a:r>
                        <a:rPr lang="en-US" altLang="zh-CN" sz="2000" dirty="0">
                          <a:latin typeface="Comic Sans MS" pitchFamily="66" charset="0"/>
                        </a:rPr>
                        <a:t>)</a:t>
                      </a:r>
                      <a:endParaRPr lang="zh-CN" altLang="en-US" sz="2000" dirty="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7"/>
                  </a:ext>
                </a:extLst>
              </a:tr>
              <a:tr h="461488">
                <a:tc>
                  <a:txBody>
                    <a:bodyPr/>
                    <a:lstStyle/>
                    <a:p>
                      <a:r>
                        <a:rPr lang="en-US" altLang="zh-CN" sz="2000" dirty="0">
                          <a:latin typeface="Comic Sans MS" pitchFamily="66" charset="0"/>
                        </a:rPr>
                        <a:t>  0xFC(, %ecx, 4)</a:t>
                      </a:r>
                      <a:endParaRPr lang="zh-CN" altLang="en-US" sz="2000" dirty="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8"/>
                  </a:ext>
                </a:extLst>
              </a:tr>
              <a:tr h="461488">
                <a:tc>
                  <a:txBody>
                    <a:bodyPr/>
                    <a:lstStyle/>
                    <a:p>
                      <a:r>
                        <a:rPr lang="en-US" altLang="zh-CN" sz="2000" kern="1200" dirty="0">
                          <a:solidFill>
                            <a:schemeClr val="tx1"/>
                          </a:solidFill>
                          <a:latin typeface="Comic Sans MS" pitchFamily="66" charset="0"/>
                          <a:ea typeface="+mn-ea"/>
                          <a:cs typeface="+mn-cs"/>
                        </a:rPr>
                        <a:t>  (%eax, %edx, 4)</a:t>
                      </a:r>
                      <a:endParaRPr lang="zh-CN" altLang="en-US" sz="2000" kern="1200" dirty="0">
                        <a:solidFill>
                          <a:schemeClr val="tx1"/>
                        </a:solidFill>
                        <a:latin typeface="Comic Sans MS" pitchFamily="66" charset="0"/>
                        <a:ea typeface="+mn-ea"/>
                        <a:cs typeface="+mn-cs"/>
                      </a:endParaRPr>
                    </a:p>
                  </a:txBody>
                  <a:tcPr/>
                </a:tc>
                <a:tc>
                  <a:txBody>
                    <a:bodyPr/>
                    <a:lstStyle/>
                    <a:p>
                      <a:endParaRPr lang="zh-CN" altLang="en-US" sz="2000" kern="1200" dirty="0">
                        <a:solidFill>
                          <a:schemeClr val="tx1"/>
                        </a:solidFill>
                        <a:latin typeface="Comic Sans MS" pitchFamily="66" charset="0"/>
                        <a:ea typeface="+mn-ea"/>
                        <a:cs typeface="+mn-cs"/>
                      </a:endParaRPr>
                    </a:p>
                  </a:txBody>
                  <a:tcPr/>
                </a:tc>
                <a:extLst>
                  <a:ext uri="{0D108BD9-81ED-4DB2-BD59-A6C34878D82A}">
                    <a16:rowId xmlns:a16="http://schemas.microsoft.com/office/drawing/2014/main" val="10009"/>
                  </a:ext>
                </a:extLst>
              </a:tr>
            </a:tbl>
          </a:graphicData>
        </a:graphic>
      </p:graphicFrame>
      <p:sp>
        <p:nvSpPr>
          <p:cNvPr id="5" name="灯片编号占位符 4">
            <a:extLst>
              <a:ext uri="{FF2B5EF4-FFF2-40B4-BE49-F238E27FC236}">
                <a16:creationId xmlns:a16="http://schemas.microsoft.com/office/drawing/2014/main" id="{88B1FDBE-50DA-C7D6-A17F-1A1184F4F3A0}"/>
              </a:ext>
            </a:extLst>
          </p:cNvPr>
          <p:cNvSpPr>
            <a:spLocks noGrp="1"/>
          </p:cNvSpPr>
          <p:nvPr>
            <p:ph type="sldNum" sz="quarter" idx="12"/>
          </p:nvPr>
        </p:nvSpPr>
        <p:spPr/>
        <p:txBody>
          <a:bodyPr/>
          <a:lstStyle/>
          <a:p>
            <a:fld id="{0C913308-F349-4B6D-A68A-DD1791B4A57B}" type="slidenum">
              <a:rPr lang="zh-CN" altLang="en-US" smtClean="0"/>
              <a:pPr/>
              <a:t>4</a:t>
            </a:fld>
            <a:endParaRPr lang="zh-CN" altLang="en-US"/>
          </a:p>
        </p:txBody>
      </p:sp>
      <p:sp>
        <p:nvSpPr>
          <p:cNvPr id="6" name="日期占位符 5">
            <a:extLst>
              <a:ext uri="{FF2B5EF4-FFF2-40B4-BE49-F238E27FC236}">
                <a16:creationId xmlns:a16="http://schemas.microsoft.com/office/drawing/2014/main" id="{A637FE50-2005-1CBD-D204-197CB72579FF}"/>
              </a:ext>
            </a:extLst>
          </p:cNvPr>
          <p:cNvSpPr>
            <a:spLocks noGrp="1"/>
          </p:cNvSpPr>
          <p:nvPr>
            <p:ph type="dt" sz="half" idx="10"/>
          </p:nvPr>
        </p:nvSpPr>
        <p:spPr/>
        <p:txBody>
          <a:bodyPr/>
          <a:lstStyle/>
          <a:p>
            <a:fld id="{F507D199-2FD6-4EB3-9FEE-088460C0F44A}" type="datetime1">
              <a:rPr lang="zh-CN" altLang="en-US" smtClean="0"/>
              <a:pPr/>
              <a:t>2025/12/5</a:t>
            </a:fld>
            <a:endParaRPr lang="zh-CN" altLang="en-US"/>
          </a:p>
        </p:txBody>
      </p:sp>
      <p:graphicFrame>
        <p:nvGraphicFramePr>
          <p:cNvPr id="20" name="表格 19">
            <a:extLst>
              <a:ext uri="{FF2B5EF4-FFF2-40B4-BE49-F238E27FC236}">
                <a16:creationId xmlns:a16="http://schemas.microsoft.com/office/drawing/2014/main" id="{4150813D-2350-9972-10BA-97F6E5C9B6AB}"/>
              </a:ext>
            </a:extLst>
          </p:cNvPr>
          <p:cNvGraphicFramePr>
            <a:graphicFrameLocks noGrp="1"/>
          </p:cNvGraphicFramePr>
          <p:nvPr/>
        </p:nvGraphicFramePr>
        <p:xfrm>
          <a:off x="-32" y="-24"/>
          <a:ext cx="3071802" cy="1524000"/>
        </p:xfrm>
        <a:graphic>
          <a:graphicData uri="http://schemas.openxmlformats.org/drawingml/2006/table">
            <a:tbl>
              <a:tblPr firstRow="1" bandRow="1">
                <a:tableStyleId>{BC89EF96-8CEA-46FF-86C4-4CE0E7609802}</a:tableStyleId>
              </a:tblPr>
              <a:tblGrid>
                <a:gridCol w="1535901">
                  <a:extLst>
                    <a:ext uri="{9D8B030D-6E8A-4147-A177-3AD203B41FA5}">
                      <a16:colId xmlns:a16="http://schemas.microsoft.com/office/drawing/2014/main" val="20000"/>
                    </a:ext>
                  </a:extLst>
                </a:gridCol>
                <a:gridCol w="1535901">
                  <a:extLst>
                    <a:ext uri="{9D8B030D-6E8A-4147-A177-3AD203B41FA5}">
                      <a16:colId xmlns:a16="http://schemas.microsoft.com/office/drawing/2014/main" val="20001"/>
                    </a:ext>
                  </a:extLst>
                </a:gridCol>
              </a:tblGrid>
              <a:tr h="281939">
                <a:tc>
                  <a:txBody>
                    <a:bodyPr/>
                    <a:lstStyle/>
                    <a:p>
                      <a:r>
                        <a:rPr lang="en-US" altLang="zh-CN" sz="1400" dirty="0">
                          <a:latin typeface="Comic Sans MS" pitchFamily="66" charset="0"/>
                        </a:rPr>
                        <a:t>Address</a:t>
                      </a:r>
                      <a:endParaRPr lang="zh-CN" altLang="en-US" sz="1400" dirty="0">
                        <a:latin typeface="Comic Sans MS" pitchFamily="66" charset="0"/>
                      </a:endParaRPr>
                    </a:p>
                  </a:txBody>
                  <a:tcPr/>
                </a:tc>
                <a:tc>
                  <a:txBody>
                    <a:bodyPr/>
                    <a:lstStyle/>
                    <a:p>
                      <a:r>
                        <a:rPr lang="en-US" altLang="zh-CN" sz="1400" dirty="0">
                          <a:latin typeface="Comic Sans MS" pitchFamily="66" charset="0"/>
                        </a:rPr>
                        <a:t>Value</a:t>
                      </a:r>
                      <a:endParaRPr lang="zh-CN" altLang="en-US" sz="1400" dirty="0">
                        <a:latin typeface="Comic Sans MS" pitchFamily="66" charset="0"/>
                      </a:endParaRPr>
                    </a:p>
                  </a:txBody>
                  <a:tcPr/>
                </a:tc>
                <a:extLst>
                  <a:ext uri="{0D108BD9-81ED-4DB2-BD59-A6C34878D82A}">
                    <a16:rowId xmlns:a16="http://schemas.microsoft.com/office/drawing/2014/main" val="10000"/>
                  </a:ext>
                </a:extLst>
              </a:tr>
              <a:tr h="281939">
                <a:tc>
                  <a:txBody>
                    <a:bodyPr/>
                    <a:lstStyle/>
                    <a:p>
                      <a:r>
                        <a:rPr lang="en-US" altLang="zh-CN" sz="1400" dirty="0">
                          <a:latin typeface="Comic Sans MS" pitchFamily="66" charset="0"/>
                        </a:rPr>
                        <a:t>  0x100</a:t>
                      </a:r>
                      <a:endParaRPr lang="zh-CN" altLang="en-US" sz="1400" dirty="0">
                        <a:latin typeface="Comic Sans MS" pitchFamily="66" charset="0"/>
                      </a:endParaRPr>
                    </a:p>
                  </a:txBody>
                  <a:tcPr/>
                </a:tc>
                <a:tc>
                  <a:txBody>
                    <a:bodyPr/>
                    <a:lstStyle/>
                    <a:p>
                      <a:r>
                        <a:rPr lang="en-US" altLang="zh-CN" sz="1400" dirty="0">
                          <a:latin typeface="Comic Sans MS" pitchFamily="66" charset="0"/>
                        </a:rPr>
                        <a:t>  0xFF</a:t>
                      </a:r>
                      <a:endParaRPr lang="zh-CN" altLang="en-US" sz="1400" dirty="0">
                        <a:latin typeface="Comic Sans MS" pitchFamily="66" charset="0"/>
                      </a:endParaRPr>
                    </a:p>
                  </a:txBody>
                  <a:tcPr/>
                </a:tc>
                <a:extLst>
                  <a:ext uri="{0D108BD9-81ED-4DB2-BD59-A6C34878D82A}">
                    <a16:rowId xmlns:a16="http://schemas.microsoft.com/office/drawing/2014/main" val="10001"/>
                  </a:ext>
                </a:extLst>
              </a:tr>
              <a:tr h="281939">
                <a:tc>
                  <a:txBody>
                    <a:bodyPr/>
                    <a:lstStyle/>
                    <a:p>
                      <a:r>
                        <a:rPr lang="en-US" altLang="zh-CN" sz="1400" dirty="0">
                          <a:latin typeface="Comic Sans MS" pitchFamily="66" charset="0"/>
                        </a:rPr>
                        <a:t>  0x104</a:t>
                      </a:r>
                      <a:endParaRPr lang="zh-CN" altLang="en-US" sz="1400" dirty="0">
                        <a:latin typeface="Comic Sans MS" pitchFamily="66" charset="0"/>
                      </a:endParaRPr>
                    </a:p>
                  </a:txBody>
                  <a:tcPr/>
                </a:tc>
                <a:tc>
                  <a:txBody>
                    <a:bodyPr/>
                    <a:lstStyle/>
                    <a:p>
                      <a:r>
                        <a:rPr lang="en-US" altLang="zh-CN" sz="1400" dirty="0">
                          <a:latin typeface="Comic Sans MS" pitchFamily="66" charset="0"/>
                        </a:rPr>
                        <a:t>  0xAB</a:t>
                      </a:r>
                      <a:endParaRPr lang="zh-CN" altLang="en-US" sz="1400" dirty="0">
                        <a:latin typeface="Comic Sans MS" pitchFamily="66" charset="0"/>
                      </a:endParaRPr>
                    </a:p>
                  </a:txBody>
                  <a:tcPr/>
                </a:tc>
                <a:extLst>
                  <a:ext uri="{0D108BD9-81ED-4DB2-BD59-A6C34878D82A}">
                    <a16:rowId xmlns:a16="http://schemas.microsoft.com/office/drawing/2014/main" val="10002"/>
                  </a:ext>
                </a:extLst>
              </a:tr>
              <a:tr h="281939">
                <a:tc>
                  <a:txBody>
                    <a:bodyPr/>
                    <a:lstStyle/>
                    <a:p>
                      <a:r>
                        <a:rPr lang="en-US" altLang="zh-CN" sz="1400" dirty="0">
                          <a:latin typeface="Comic Sans MS" pitchFamily="66" charset="0"/>
                        </a:rPr>
                        <a:t>  0x108</a:t>
                      </a:r>
                      <a:endParaRPr lang="zh-CN" altLang="en-US" sz="1400" dirty="0">
                        <a:latin typeface="Comic Sans MS" pitchFamily="66" charset="0"/>
                      </a:endParaRPr>
                    </a:p>
                  </a:txBody>
                  <a:tcPr/>
                </a:tc>
                <a:tc>
                  <a:txBody>
                    <a:bodyPr/>
                    <a:lstStyle/>
                    <a:p>
                      <a:r>
                        <a:rPr lang="en-US" altLang="zh-CN" sz="1400" dirty="0">
                          <a:latin typeface="Comic Sans MS" pitchFamily="66" charset="0"/>
                        </a:rPr>
                        <a:t>  0x13</a:t>
                      </a:r>
                      <a:endParaRPr lang="zh-CN" altLang="en-US" sz="1400" dirty="0">
                        <a:latin typeface="Comic Sans MS" pitchFamily="66" charset="0"/>
                      </a:endParaRPr>
                    </a:p>
                  </a:txBody>
                  <a:tcPr/>
                </a:tc>
                <a:extLst>
                  <a:ext uri="{0D108BD9-81ED-4DB2-BD59-A6C34878D82A}">
                    <a16:rowId xmlns:a16="http://schemas.microsoft.com/office/drawing/2014/main" val="10003"/>
                  </a:ext>
                </a:extLst>
              </a:tr>
              <a:tr h="281939">
                <a:tc>
                  <a:txBody>
                    <a:bodyPr/>
                    <a:lstStyle/>
                    <a:p>
                      <a:r>
                        <a:rPr lang="en-US" altLang="zh-CN" sz="1400" dirty="0">
                          <a:latin typeface="Comic Sans MS" pitchFamily="66" charset="0"/>
                        </a:rPr>
                        <a:t>  0x10C</a:t>
                      </a:r>
                      <a:endParaRPr lang="zh-CN" altLang="en-US" sz="1400" dirty="0">
                        <a:latin typeface="Comic Sans MS" pitchFamily="66" charset="0"/>
                      </a:endParaRPr>
                    </a:p>
                  </a:txBody>
                  <a:tcPr/>
                </a:tc>
                <a:tc>
                  <a:txBody>
                    <a:bodyPr/>
                    <a:lstStyle/>
                    <a:p>
                      <a:r>
                        <a:rPr lang="en-US" altLang="zh-CN" sz="1400" dirty="0">
                          <a:latin typeface="Comic Sans MS" pitchFamily="66" charset="0"/>
                        </a:rPr>
                        <a:t>  0x11</a:t>
                      </a:r>
                      <a:endParaRPr lang="zh-CN" altLang="en-US" sz="1400" dirty="0">
                        <a:latin typeface="Comic Sans MS" pitchFamily="66" charset="0"/>
                      </a:endParaRPr>
                    </a:p>
                  </a:txBody>
                  <a:tcPr/>
                </a:tc>
                <a:extLst>
                  <a:ext uri="{0D108BD9-81ED-4DB2-BD59-A6C34878D82A}">
                    <a16:rowId xmlns:a16="http://schemas.microsoft.com/office/drawing/2014/main" val="10004"/>
                  </a:ext>
                </a:extLst>
              </a:tr>
            </a:tbl>
          </a:graphicData>
        </a:graphic>
      </p:graphicFrame>
      <p:graphicFrame>
        <p:nvGraphicFramePr>
          <p:cNvPr id="22" name="表格 21">
            <a:extLst>
              <a:ext uri="{FF2B5EF4-FFF2-40B4-BE49-F238E27FC236}">
                <a16:creationId xmlns:a16="http://schemas.microsoft.com/office/drawing/2014/main" id="{7C3F07AA-A2F6-8DED-D9C9-184C60B62735}"/>
              </a:ext>
            </a:extLst>
          </p:cNvPr>
          <p:cNvGraphicFramePr>
            <a:graphicFrameLocks noGrp="1"/>
          </p:cNvGraphicFramePr>
          <p:nvPr/>
        </p:nvGraphicFramePr>
        <p:xfrm>
          <a:off x="5643570" y="66660"/>
          <a:ext cx="2928958" cy="1219200"/>
        </p:xfrm>
        <a:graphic>
          <a:graphicData uri="http://schemas.openxmlformats.org/drawingml/2006/table">
            <a:tbl>
              <a:tblPr firstRow="1" bandRow="1">
                <a:tableStyleId>{BC89EF96-8CEA-46FF-86C4-4CE0E7609802}</a:tableStyleId>
              </a:tblPr>
              <a:tblGrid>
                <a:gridCol w="1464479">
                  <a:extLst>
                    <a:ext uri="{9D8B030D-6E8A-4147-A177-3AD203B41FA5}">
                      <a16:colId xmlns:a16="http://schemas.microsoft.com/office/drawing/2014/main" val="20000"/>
                    </a:ext>
                  </a:extLst>
                </a:gridCol>
                <a:gridCol w="1464479">
                  <a:extLst>
                    <a:ext uri="{9D8B030D-6E8A-4147-A177-3AD203B41FA5}">
                      <a16:colId xmlns:a16="http://schemas.microsoft.com/office/drawing/2014/main" val="20001"/>
                    </a:ext>
                  </a:extLst>
                </a:gridCol>
              </a:tblGrid>
              <a:tr h="303606">
                <a:tc>
                  <a:txBody>
                    <a:bodyPr/>
                    <a:lstStyle/>
                    <a:p>
                      <a:r>
                        <a:rPr lang="en-US" altLang="zh-CN" sz="1400" dirty="0">
                          <a:latin typeface="Comic Sans MS" pitchFamily="66" charset="0"/>
                        </a:rPr>
                        <a:t>Register</a:t>
                      </a:r>
                      <a:endParaRPr lang="zh-CN" altLang="en-US" sz="1400" dirty="0">
                        <a:latin typeface="Comic Sans MS" pitchFamily="66" charset="0"/>
                      </a:endParaRPr>
                    </a:p>
                  </a:txBody>
                  <a:tcPr/>
                </a:tc>
                <a:tc>
                  <a:txBody>
                    <a:bodyPr/>
                    <a:lstStyle/>
                    <a:p>
                      <a:r>
                        <a:rPr lang="en-US" altLang="zh-CN" sz="1400" dirty="0">
                          <a:latin typeface="Comic Sans MS" pitchFamily="66" charset="0"/>
                        </a:rPr>
                        <a:t>Value</a:t>
                      </a:r>
                      <a:endParaRPr lang="zh-CN" altLang="en-US" sz="1400" dirty="0">
                        <a:latin typeface="Comic Sans MS" pitchFamily="66" charset="0"/>
                      </a:endParaRPr>
                    </a:p>
                  </a:txBody>
                  <a:tcPr/>
                </a:tc>
                <a:extLst>
                  <a:ext uri="{0D108BD9-81ED-4DB2-BD59-A6C34878D82A}">
                    <a16:rowId xmlns:a16="http://schemas.microsoft.com/office/drawing/2014/main" val="10000"/>
                  </a:ext>
                </a:extLst>
              </a:tr>
              <a:tr h="303606">
                <a:tc>
                  <a:txBody>
                    <a:bodyPr/>
                    <a:lstStyle/>
                    <a:p>
                      <a:r>
                        <a:rPr lang="en-US" altLang="zh-CN" sz="1400" dirty="0">
                          <a:latin typeface="Comic Sans MS" pitchFamily="66" charset="0"/>
                        </a:rPr>
                        <a:t>  %eax</a:t>
                      </a:r>
                      <a:endParaRPr lang="zh-CN" altLang="en-US" sz="1400" dirty="0">
                        <a:latin typeface="Comic Sans MS" pitchFamily="66" charset="0"/>
                      </a:endParaRPr>
                    </a:p>
                  </a:txBody>
                  <a:tcPr/>
                </a:tc>
                <a:tc>
                  <a:txBody>
                    <a:bodyPr/>
                    <a:lstStyle/>
                    <a:p>
                      <a:r>
                        <a:rPr lang="en-US" altLang="zh-CN" sz="1400" dirty="0">
                          <a:latin typeface="Comic Sans MS" pitchFamily="66" charset="0"/>
                        </a:rPr>
                        <a:t>  0x100</a:t>
                      </a:r>
                      <a:endParaRPr lang="zh-CN" altLang="en-US" sz="1400" dirty="0">
                        <a:latin typeface="Comic Sans MS" pitchFamily="66" charset="0"/>
                      </a:endParaRPr>
                    </a:p>
                  </a:txBody>
                  <a:tcPr/>
                </a:tc>
                <a:extLst>
                  <a:ext uri="{0D108BD9-81ED-4DB2-BD59-A6C34878D82A}">
                    <a16:rowId xmlns:a16="http://schemas.microsoft.com/office/drawing/2014/main" val="10001"/>
                  </a:ext>
                </a:extLst>
              </a:tr>
              <a:tr h="303606">
                <a:tc>
                  <a:txBody>
                    <a:bodyPr/>
                    <a:lstStyle/>
                    <a:p>
                      <a:r>
                        <a:rPr lang="en-US" altLang="zh-CN" sz="1400" dirty="0">
                          <a:latin typeface="Comic Sans MS" pitchFamily="66" charset="0"/>
                        </a:rPr>
                        <a:t>  %ecx</a:t>
                      </a:r>
                      <a:endParaRPr lang="zh-CN" altLang="en-US" sz="1400" dirty="0">
                        <a:latin typeface="Comic Sans MS" pitchFamily="66" charset="0"/>
                      </a:endParaRPr>
                    </a:p>
                  </a:txBody>
                  <a:tcPr/>
                </a:tc>
                <a:tc>
                  <a:txBody>
                    <a:bodyPr/>
                    <a:lstStyle/>
                    <a:p>
                      <a:r>
                        <a:rPr lang="en-US" altLang="zh-CN" sz="1400" dirty="0">
                          <a:latin typeface="Comic Sans MS" pitchFamily="66" charset="0"/>
                        </a:rPr>
                        <a:t>  0x1</a:t>
                      </a:r>
                      <a:endParaRPr lang="zh-CN" altLang="en-US" sz="1400" dirty="0">
                        <a:latin typeface="Comic Sans MS" pitchFamily="66" charset="0"/>
                      </a:endParaRPr>
                    </a:p>
                  </a:txBody>
                  <a:tcPr/>
                </a:tc>
                <a:extLst>
                  <a:ext uri="{0D108BD9-81ED-4DB2-BD59-A6C34878D82A}">
                    <a16:rowId xmlns:a16="http://schemas.microsoft.com/office/drawing/2014/main" val="10002"/>
                  </a:ext>
                </a:extLst>
              </a:tr>
              <a:tr h="303606">
                <a:tc>
                  <a:txBody>
                    <a:bodyPr/>
                    <a:lstStyle/>
                    <a:p>
                      <a:r>
                        <a:rPr lang="en-US" altLang="zh-CN" sz="1400" dirty="0">
                          <a:latin typeface="Comic Sans MS" pitchFamily="66" charset="0"/>
                        </a:rPr>
                        <a:t>  %edx</a:t>
                      </a:r>
                      <a:endParaRPr lang="zh-CN" altLang="en-US" sz="1400" dirty="0">
                        <a:latin typeface="Comic Sans MS" pitchFamily="66" charset="0"/>
                      </a:endParaRPr>
                    </a:p>
                  </a:txBody>
                  <a:tcPr/>
                </a:tc>
                <a:tc>
                  <a:txBody>
                    <a:bodyPr/>
                    <a:lstStyle/>
                    <a:p>
                      <a:r>
                        <a:rPr lang="en-US" altLang="zh-CN" sz="1400" dirty="0">
                          <a:latin typeface="Comic Sans MS" pitchFamily="66" charset="0"/>
                        </a:rPr>
                        <a:t>  0x3</a:t>
                      </a:r>
                      <a:endParaRPr lang="zh-CN" altLang="en-US" sz="1400" dirty="0">
                        <a:latin typeface="Comic Sans MS" pitchFamily="66" charset="0"/>
                      </a:endParaRPr>
                    </a:p>
                  </a:txBody>
                  <a:tcPr/>
                </a:tc>
                <a:extLst>
                  <a:ext uri="{0D108BD9-81ED-4DB2-BD59-A6C34878D82A}">
                    <a16:rowId xmlns:a16="http://schemas.microsoft.com/office/drawing/2014/main" val="10003"/>
                  </a:ext>
                </a:extLst>
              </a:tr>
            </a:tbl>
          </a:graphicData>
        </a:graphic>
      </p:graphicFrame>
      <mc:AlternateContent xmlns:mc="http://schemas.openxmlformats.org/markup-compatibility/2006">
        <mc:Choice xmlns:pslz="http://schemas.microsoft.com/office/powerpoint/2016/slidezoom" Requires="pslz">
          <p:graphicFrame>
            <p:nvGraphicFramePr>
              <p:cNvPr id="3" name="Slide Zoom 2">
                <a:extLst>
                  <a:ext uri="{FF2B5EF4-FFF2-40B4-BE49-F238E27FC236}">
                    <a16:creationId xmlns:a16="http://schemas.microsoft.com/office/drawing/2014/main" id="{128B264F-2B7B-8225-2AB5-54C4BE54DE67}"/>
                  </a:ext>
                </a:extLst>
              </p:cNvPr>
              <p:cNvGraphicFramePr>
                <a:graphicFrameLocks noChangeAspect="1"/>
              </p:cNvGraphicFramePr>
              <p:nvPr>
                <p:extLst>
                  <p:ext uri="{D42A27DB-BD31-4B8C-83A1-F6EECF244321}">
                    <p14:modId xmlns:p14="http://schemas.microsoft.com/office/powerpoint/2010/main" val="1941268185"/>
                  </p:ext>
                </p:extLst>
              </p:nvPr>
            </p:nvGraphicFramePr>
            <p:xfrm>
              <a:off x="4026877" y="4963258"/>
              <a:ext cx="2286000" cy="1714500"/>
            </p:xfrm>
            <a:graphic>
              <a:graphicData uri="http://schemas.microsoft.com/office/powerpoint/2016/slidezoom">
                <pslz:sldZm>
                  <pslz:sldZmObj sldId="294" cId="1395694652">
                    <pslz:zmPr id="{5FF3866E-43D9-4B77-84A2-02FBA3B42D1E}" returnToParent="0" transitionDur="1000">
                      <p166:blipFill xmlns:p166="http://schemas.microsoft.com/office/powerpoint/2016/6/main">
                        <a:blip r:embed="rId3"/>
                        <a:stretch>
                          <a:fillRect/>
                        </a:stretch>
                      </p166:blipFill>
                      <p166:spPr xmlns:p166="http://schemas.microsoft.com/office/powerpoint/2016/6/main">
                        <a:xfrm>
                          <a:off x="0" y="0"/>
                          <a:ext cx="2286000" cy="1714500"/>
                        </a:xfrm>
                        <a:prstGeom prst="rect">
                          <a:avLst/>
                        </a:prstGeom>
                        <a:ln w="3175">
                          <a:solidFill>
                            <a:prstClr val="ltGray"/>
                          </a:solidFill>
                        </a:ln>
                      </p166:spPr>
                    </pslz:zmPr>
                  </pslz:sldZmObj>
                </pslz:sldZm>
              </a:graphicData>
            </a:graphic>
          </p:graphicFrame>
        </mc:Choice>
        <mc:Fallback>
          <p:pic>
            <p:nvPicPr>
              <p:cNvPr id="3" name="Slide Zoom 2">
                <a:hlinkClick r:id="rId4" action="ppaction://hlinksldjump"/>
                <a:extLst>
                  <a:ext uri="{FF2B5EF4-FFF2-40B4-BE49-F238E27FC236}">
                    <a16:creationId xmlns:a16="http://schemas.microsoft.com/office/drawing/2014/main" id="{128B264F-2B7B-8225-2AB5-54C4BE54DE67}"/>
                  </a:ext>
                </a:extLst>
              </p:cNvPr>
              <p:cNvPicPr>
                <a:picLocks noGrp="1" noRot="1" noChangeAspect="1" noMove="1" noResize="1" noEditPoints="1" noAdjustHandles="1" noChangeArrowheads="1" noChangeShapeType="1"/>
              </p:cNvPicPr>
              <p:nvPr/>
            </p:nvPicPr>
            <p:blipFill>
              <a:blip r:embed="rId3"/>
              <a:stretch>
                <a:fillRect/>
              </a:stretch>
            </p:blipFill>
            <p:spPr>
              <a:xfrm>
                <a:off x="4026877" y="4963258"/>
                <a:ext cx="2286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13956946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70C0"/>
                </a:solidFill>
                <a:latin typeface="Comic Sans MS" pitchFamily="66" charset="0"/>
              </a:rPr>
              <a:t>Problem 3.2 </a:t>
            </a:r>
            <a:r>
              <a:rPr lang="en-US" altLang="zh-CN" dirty="0">
                <a:latin typeface="Comic Sans MS" pitchFamily="66" charset="0"/>
              </a:rPr>
              <a:t>(P142)</a:t>
            </a:r>
            <a:endParaRPr lang="zh-CN" altLang="en-US" dirty="0">
              <a:latin typeface="Comic Sans MS" pitchFamily="66" charset="0"/>
            </a:endParaRPr>
          </a:p>
        </p:txBody>
      </p:sp>
      <p:sp>
        <p:nvSpPr>
          <p:cNvPr id="3" name="内容占位符 2"/>
          <p:cNvSpPr>
            <a:spLocks noGrp="1"/>
          </p:cNvSpPr>
          <p:nvPr>
            <p:ph idx="1"/>
          </p:nvPr>
        </p:nvSpPr>
        <p:spPr/>
        <p:txBody>
          <a:bodyPr>
            <a:normAutofit fontScale="92500" lnSpcReduction="20000"/>
          </a:bodyPr>
          <a:lstStyle/>
          <a:p>
            <a:r>
              <a:rPr lang="en-US" altLang="zh-CN" dirty="0">
                <a:latin typeface="Comic Sans MS" pitchFamily="66" charset="0"/>
              </a:rPr>
              <a:t>You are given the following information. A function with prototype</a:t>
            </a:r>
          </a:p>
          <a:p>
            <a:pPr>
              <a:buNone/>
            </a:pPr>
            <a:r>
              <a:rPr lang="en-US" altLang="zh-CN" dirty="0">
                <a:latin typeface="Comic Sans MS" pitchFamily="66" charset="0"/>
              </a:rPr>
              <a:t>   </a:t>
            </a:r>
            <a:r>
              <a:rPr lang="en-US" altLang="zh-CN" dirty="0">
                <a:solidFill>
                  <a:srgbClr val="00B050"/>
                </a:solidFill>
                <a:latin typeface="Comic Sans MS" pitchFamily="66" charset="0"/>
              </a:rPr>
              <a:t>void decode1(int *xp, int *yp, int *zp)</a:t>
            </a:r>
          </a:p>
          <a:p>
            <a:pPr>
              <a:buNone/>
            </a:pPr>
            <a:r>
              <a:rPr lang="en-US" altLang="zh-CN" dirty="0">
                <a:latin typeface="Comic Sans MS" pitchFamily="66" charset="0"/>
              </a:rPr>
              <a:t>   is compiled into assembly code. The body of the code is as follows:</a:t>
            </a:r>
          </a:p>
          <a:p>
            <a:pPr>
              <a:buNone/>
            </a:pPr>
            <a:r>
              <a:rPr lang="en-US" altLang="zh-CN" dirty="0">
                <a:latin typeface="Comic Sans MS" pitchFamily="66" charset="0"/>
              </a:rPr>
              <a:t>    …</a:t>
            </a:r>
          </a:p>
          <a:p>
            <a:r>
              <a:rPr lang="en-US" altLang="zh-CN" dirty="0">
                <a:latin typeface="Comic Sans MS" pitchFamily="66" charset="0"/>
              </a:rPr>
              <a:t>Parameters </a:t>
            </a:r>
            <a:r>
              <a:rPr lang="en-US" altLang="zh-CN" dirty="0">
                <a:solidFill>
                  <a:srgbClr val="00B050"/>
                </a:solidFill>
                <a:latin typeface="Comic Sans MS" pitchFamily="66" charset="0"/>
              </a:rPr>
              <a:t>xp</a:t>
            </a:r>
            <a:r>
              <a:rPr lang="en-US" altLang="zh-CN" dirty="0">
                <a:latin typeface="Comic Sans MS" pitchFamily="66" charset="0"/>
              </a:rPr>
              <a:t>, </a:t>
            </a:r>
            <a:r>
              <a:rPr lang="en-US" altLang="zh-CN" dirty="0">
                <a:solidFill>
                  <a:srgbClr val="00B050"/>
                </a:solidFill>
                <a:latin typeface="Comic Sans MS" pitchFamily="66" charset="0"/>
              </a:rPr>
              <a:t>yp</a:t>
            </a:r>
            <a:r>
              <a:rPr lang="en-US" altLang="zh-CN" dirty="0">
                <a:latin typeface="Comic Sans MS" pitchFamily="66" charset="0"/>
              </a:rPr>
              <a:t> and </a:t>
            </a:r>
            <a:r>
              <a:rPr lang="en-US" altLang="zh-CN" dirty="0">
                <a:solidFill>
                  <a:srgbClr val="00B050"/>
                </a:solidFill>
                <a:latin typeface="Comic Sans MS" pitchFamily="66" charset="0"/>
              </a:rPr>
              <a:t>zp</a:t>
            </a:r>
            <a:r>
              <a:rPr lang="en-US" altLang="zh-CN" dirty="0">
                <a:latin typeface="Comic Sans MS" pitchFamily="66" charset="0"/>
              </a:rPr>
              <a:t> are stored at memory locations with offsets 8, 12, and 16, respectively, relative to the address in register </a:t>
            </a:r>
            <a:r>
              <a:rPr lang="en-US" altLang="zh-CN" dirty="0">
                <a:solidFill>
                  <a:srgbClr val="00B0F0"/>
                </a:solidFill>
                <a:latin typeface="Comic Sans MS" pitchFamily="66" charset="0"/>
              </a:rPr>
              <a:t>%ebp</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5</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Comic Sans MS" pitchFamily="66" charset="0"/>
              </a:rPr>
              <a:t>Problem 3.2+</a:t>
            </a:r>
            <a:endParaRPr lang="zh-CN" altLang="en-US" dirty="0">
              <a:latin typeface="Comic Sans MS" pitchFamily="66" charset="0"/>
            </a:endParaRPr>
          </a:p>
        </p:txBody>
      </p:sp>
      <p:sp>
        <p:nvSpPr>
          <p:cNvPr id="3" name="内容占位符 2"/>
          <p:cNvSpPr>
            <a:spLocks noGrp="1"/>
          </p:cNvSpPr>
          <p:nvPr>
            <p:ph idx="1"/>
          </p:nvPr>
        </p:nvSpPr>
        <p:spPr>
          <a:xfrm>
            <a:off x="457200" y="1285860"/>
            <a:ext cx="8229600" cy="4840303"/>
          </a:xfrm>
        </p:spPr>
        <p:txBody>
          <a:bodyPr>
            <a:normAutofit fontScale="85000" lnSpcReduction="20000"/>
          </a:bodyPr>
          <a:lstStyle/>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1 </a:t>
            </a:r>
            <a:r>
              <a:rPr lang="en-US" altLang="zh-CN" dirty="0">
                <a:latin typeface="Comic Sans MS" pitchFamily="66" charset="0"/>
              </a:rPr>
              <a:t>movl 8(%ebp), %edi</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2</a:t>
            </a:r>
            <a:r>
              <a:rPr lang="en-US" altLang="zh-CN" dirty="0">
                <a:latin typeface="Comic Sans MS" pitchFamily="66" charset="0"/>
              </a:rPr>
              <a:t> movl 12(%ebp), %ebx</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3</a:t>
            </a:r>
            <a:r>
              <a:rPr lang="en-US" altLang="zh-CN" dirty="0">
                <a:latin typeface="Comic Sans MS" pitchFamily="66" charset="0"/>
              </a:rPr>
              <a:t> movl 16(%ebp), %esi</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4</a:t>
            </a:r>
            <a:r>
              <a:rPr lang="en-US" altLang="zh-CN" dirty="0">
                <a:latin typeface="Comic Sans MS" pitchFamily="66" charset="0"/>
              </a:rPr>
              <a:t> movl  (%edi), %eax</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5</a:t>
            </a:r>
            <a:r>
              <a:rPr lang="en-US" altLang="zh-CN" dirty="0">
                <a:latin typeface="Comic Sans MS" pitchFamily="66" charset="0"/>
              </a:rPr>
              <a:t> movl (%ebx), %edx</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6</a:t>
            </a:r>
            <a:r>
              <a:rPr lang="en-US" altLang="zh-CN" dirty="0">
                <a:latin typeface="Comic Sans MS" pitchFamily="66" charset="0"/>
              </a:rPr>
              <a:t> movl (%esi), %ecx</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7</a:t>
            </a:r>
            <a:r>
              <a:rPr lang="en-US" altLang="zh-CN" dirty="0">
                <a:latin typeface="Comic Sans MS" pitchFamily="66" charset="0"/>
              </a:rPr>
              <a:t> movl %eax, (%ebx)</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8</a:t>
            </a:r>
            <a:r>
              <a:rPr lang="en-US" altLang="zh-CN" dirty="0">
                <a:latin typeface="Comic Sans MS" pitchFamily="66" charset="0"/>
              </a:rPr>
              <a:t> movl %edx, (%esi)</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9</a:t>
            </a:r>
            <a:r>
              <a:rPr lang="en-US" altLang="zh-CN" dirty="0">
                <a:latin typeface="Comic Sans MS" pitchFamily="66" charset="0"/>
              </a:rPr>
              <a:t> movl %ecx, (%edi)</a:t>
            </a:r>
          </a:p>
          <a:p>
            <a:r>
              <a:rPr lang="en-US" altLang="zh-CN" dirty="0">
                <a:latin typeface="Comic Sans MS" pitchFamily="66" charset="0"/>
              </a:rPr>
              <a:t>Write C code for decode1 that will have an effect equivalent to the assembly code above.</a:t>
            </a:r>
            <a:endParaRPr lang="zh-CN" altLang="en-US" dirty="0">
              <a:latin typeface="Comic Sans MS" pitchFamily="66" charset="0"/>
            </a:endParaRPr>
          </a:p>
          <a:p>
            <a:pPr>
              <a:buNone/>
            </a:pPr>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6</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
        <p:nvSpPr>
          <p:cNvPr id="7" name="云形标注 6"/>
          <p:cNvSpPr/>
          <p:nvPr/>
        </p:nvSpPr>
        <p:spPr>
          <a:xfrm>
            <a:off x="4429092" y="1071546"/>
            <a:ext cx="4714908" cy="3286148"/>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0000"/>
                </a:solidFill>
                <a:latin typeface="Comic Sans MS" pitchFamily="66" charset="0"/>
              </a:rPr>
              <a:t>int x  = *xp;</a:t>
            </a:r>
          </a:p>
          <a:p>
            <a:pPr algn="ctr"/>
            <a:r>
              <a:rPr lang="en-US" altLang="zh-CN" sz="2000" dirty="0">
                <a:solidFill>
                  <a:srgbClr val="FF0000"/>
                </a:solidFill>
                <a:latin typeface="Comic Sans MS" pitchFamily="66" charset="0"/>
              </a:rPr>
              <a:t>int y = *yp;</a:t>
            </a:r>
          </a:p>
          <a:p>
            <a:pPr algn="ctr"/>
            <a:r>
              <a:rPr lang="en-US" altLang="zh-CN" sz="2000" dirty="0">
                <a:solidFill>
                  <a:srgbClr val="FF0000"/>
                </a:solidFill>
                <a:latin typeface="Comic Sans MS" pitchFamily="66" charset="0"/>
              </a:rPr>
              <a:t>int z = *zp;</a:t>
            </a:r>
          </a:p>
          <a:p>
            <a:pPr algn="ctr"/>
            <a:r>
              <a:rPr lang="en-US" altLang="zh-CN" sz="2000" dirty="0">
                <a:solidFill>
                  <a:srgbClr val="FF0000"/>
                </a:solidFill>
                <a:latin typeface="Comic Sans MS" pitchFamily="66" charset="0"/>
              </a:rPr>
              <a:t>*yp = x;</a:t>
            </a:r>
          </a:p>
          <a:p>
            <a:pPr algn="ctr"/>
            <a:r>
              <a:rPr lang="en-US" altLang="zh-CN" sz="2000" dirty="0">
                <a:solidFill>
                  <a:srgbClr val="FF0000"/>
                </a:solidFill>
                <a:latin typeface="Comic Sans MS" pitchFamily="66" charset="0"/>
              </a:rPr>
              <a:t>*zp = y;</a:t>
            </a:r>
          </a:p>
          <a:p>
            <a:pPr algn="ctr"/>
            <a:r>
              <a:rPr lang="en-US" altLang="zh-CN" sz="2000" dirty="0">
                <a:solidFill>
                  <a:srgbClr val="FF0000"/>
                </a:solidFill>
                <a:latin typeface="Comic Sans MS" pitchFamily="66" charset="0"/>
              </a:rPr>
              <a:t>*xp = z;</a:t>
            </a:r>
          </a:p>
          <a:p>
            <a:pPr algn="ctr"/>
            <a:endParaRPr lang="zh-CN" altLang="en-US" sz="2000" dirty="0">
              <a:solidFill>
                <a:srgbClr val="FF0000"/>
              </a:solidFill>
              <a:latin typeface="Comic Sans MS" pitchFamily="66"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072066" y="5857892"/>
            <a:ext cx="2214578"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9 + x + 2y</a:t>
            </a:r>
            <a:endParaRPr lang="zh-CN" altLang="en-US" sz="2000" dirty="0">
              <a:solidFill>
                <a:srgbClr val="FF0000"/>
              </a:solidFill>
              <a:latin typeface="Comic Sans MS" pitchFamily="66" charset="0"/>
            </a:endParaRPr>
          </a:p>
        </p:txBody>
      </p:sp>
      <p:sp>
        <p:nvSpPr>
          <p:cNvPr id="12" name="矩形 11"/>
          <p:cNvSpPr/>
          <p:nvPr/>
        </p:nvSpPr>
        <p:spPr>
          <a:xfrm>
            <a:off x="5072066" y="5357826"/>
            <a:ext cx="2214578"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10 + 4y</a:t>
            </a:r>
            <a:endParaRPr lang="zh-CN" altLang="en-US" sz="2000" dirty="0">
              <a:solidFill>
                <a:srgbClr val="FF0000"/>
              </a:solidFill>
              <a:latin typeface="Comic Sans MS" pitchFamily="66" charset="0"/>
            </a:endParaRPr>
          </a:p>
        </p:txBody>
      </p:sp>
      <p:sp>
        <p:nvSpPr>
          <p:cNvPr id="11" name="矩形 10"/>
          <p:cNvSpPr/>
          <p:nvPr/>
        </p:nvSpPr>
        <p:spPr>
          <a:xfrm>
            <a:off x="5072066" y="4929198"/>
            <a:ext cx="2214578"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7 + 9x</a:t>
            </a:r>
            <a:endParaRPr lang="zh-CN" altLang="en-US" sz="2000" dirty="0">
              <a:solidFill>
                <a:srgbClr val="FF0000"/>
              </a:solidFill>
              <a:latin typeface="Comic Sans MS" pitchFamily="66" charset="0"/>
            </a:endParaRPr>
          </a:p>
        </p:txBody>
      </p:sp>
      <p:sp>
        <p:nvSpPr>
          <p:cNvPr id="10" name="矩形 9"/>
          <p:cNvSpPr/>
          <p:nvPr/>
        </p:nvSpPr>
        <p:spPr>
          <a:xfrm>
            <a:off x="5072066" y="4429132"/>
            <a:ext cx="2214578"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x + 4y</a:t>
            </a:r>
            <a:endParaRPr lang="zh-CN" altLang="en-US" sz="2000" dirty="0">
              <a:solidFill>
                <a:srgbClr val="FF0000"/>
              </a:solidFill>
              <a:latin typeface="Comic Sans MS" pitchFamily="66" charset="0"/>
            </a:endParaRPr>
          </a:p>
        </p:txBody>
      </p:sp>
      <p:sp>
        <p:nvSpPr>
          <p:cNvPr id="9" name="矩形 8"/>
          <p:cNvSpPr/>
          <p:nvPr/>
        </p:nvSpPr>
        <p:spPr>
          <a:xfrm>
            <a:off x="5072066" y="3929066"/>
            <a:ext cx="2214578"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x + y</a:t>
            </a:r>
            <a:endParaRPr lang="zh-CN" altLang="en-US" sz="2000" dirty="0">
              <a:solidFill>
                <a:srgbClr val="FF0000"/>
              </a:solidFill>
              <a:latin typeface="Comic Sans MS" pitchFamily="66" charset="0"/>
            </a:endParaRPr>
          </a:p>
        </p:txBody>
      </p:sp>
      <p:sp>
        <p:nvSpPr>
          <p:cNvPr id="8" name="矩形 7"/>
          <p:cNvSpPr/>
          <p:nvPr/>
        </p:nvSpPr>
        <p:spPr>
          <a:xfrm>
            <a:off x="5072066" y="3429000"/>
            <a:ext cx="2214578"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6 + x</a:t>
            </a:r>
            <a:endParaRPr lang="zh-CN" altLang="en-US" sz="2000" dirty="0">
              <a:solidFill>
                <a:srgbClr val="FF0000"/>
              </a:solidFill>
              <a:latin typeface="Comic Sans MS" pitchFamily="66" charset="0"/>
            </a:endParaRPr>
          </a:p>
        </p:txBody>
      </p:sp>
      <p:sp>
        <p:nvSpPr>
          <p:cNvPr id="2" name="标题 1"/>
          <p:cNvSpPr>
            <a:spLocks noGrp="1"/>
          </p:cNvSpPr>
          <p:nvPr>
            <p:ph type="title"/>
          </p:nvPr>
        </p:nvSpPr>
        <p:spPr/>
        <p:txBody>
          <a:bodyPr/>
          <a:lstStyle/>
          <a:p>
            <a:r>
              <a:rPr lang="en-US" altLang="zh-CN" dirty="0">
                <a:solidFill>
                  <a:srgbClr val="0070C0"/>
                </a:solidFill>
                <a:latin typeface="Comic Sans MS" pitchFamily="66" charset="0"/>
              </a:rPr>
              <a:t>Problem 3.3 </a:t>
            </a:r>
            <a:r>
              <a:rPr lang="en-US" altLang="zh-CN" dirty="0">
                <a:latin typeface="Comic Sans MS" pitchFamily="66" charset="0"/>
              </a:rPr>
              <a:t>(143)</a:t>
            </a:r>
            <a:endParaRPr lang="zh-CN" altLang="en-US" dirty="0">
              <a:latin typeface="Comic Sans MS" pitchFamily="66" charset="0"/>
            </a:endParaRPr>
          </a:p>
        </p:txBody>
      </p:sp>
      <p:sp>
        <p:nvSpPr>
          <p:cNvPr id="3" name="内容占位符 2"/>
          <p:cNvSpPr>
            <a:spLocks noGrp="1"/>
          </p:cNvSpPr>
          <p:nvPr>
            <p:ph idx="1"/>
          </p:nvPr>
        </p:nvSpPr>
        <p:spPr/>
        <p:txBody>
          <a:bodyPr/>
          <a:lstStyle/>
          <a:p>
            <a:r>
              <a:rPr lang="en-US" altLang="zh-CN" dirty="0">
                <a:latin typeface="Comic Sans MS" pitchFamily="66" charset="0"/>
              </a:rPr>
              <a:t>Suppose register </a:t>
            </a:r>
            <a:r>
              <a:rPr lang="en-US" altLang="zh-CN" dirty="0">
                <a:solidFill>
                  <a:srgbClr val="00B0F0"/>
                </a:solidFill>
                <a:latin typeface="Comic Sans MS" pitchFamily="66" charset="0"/>
              </a:rPr>
              <a:t>%eax </a:t>
            </a:r>
            <a:r>
              <a:rPr lang="en-US" altLang="zh-CN" dirty="0">
                <a:latin typeface="Comic Sans MS" pitchFamily="66" charset="0"/>
              </a:rPr>
              <a:t>holds values x and </a:t>
            </a:r>
            <a:r>
              <a:rPr lang="en-US" altLang="zh-CN" dirty="0">
                <a:solidFill>
                  <a:srgbClr val="00B0F0"/>
                </a:solidFill>
                <a:latin typeface="Comic Sans MS" pitchFamily="66" charset="0"/>
              </a:rPr>
              <a:t>%ecx </a:t>
            </a:r>
            <a:r>
              <a:rPr lang="en-US" altLang="zh-CN" dirty="0">
                <a:latin typeface="Comic Sans MS" pitchFamily="66" charset="0"/>
              </a:rPr>
              <a:t>holds value y. Fill the table …</a:t>
            </a:r>
          </a:p>
          <a:p>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7</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graphicFrame>
        <p:nvGraphicFramePr>
          <p:cNvPr id="7" name="表格 6"/>
          <p:cNvGraphicFramePr>
            <a:graphicFrameLocks noGrp="1"/>
          </p:cNvGraphicFramePr>
          <p:nvPr/>
        </p:nvGraphicFramePr>
        <p:xfrm>
          <a:off x="1214414" y="2928934"/>
          <a:ext cx="6096000" cy="3357585"/>
        </p:xfrm>
        <a:graphic>
          <a:graphicData uri="http://schemas.openxmlformats.org/drawingml/2006/table">
            <a:tbl>
              <a:tblPr firstRow="1" bandRow="1">
                <a:tableStyleId>{BC89EF96-8CEA-46FF-86C4-4CE0E7609802}</a:tableStyleId>
              </a:tblPr>
              <a:tblGrid>
                <a:gridCol w="3786214">
                  <a:extLst>
                    <a:ext uri="{9D8B030D-6E8A-4147-A177-3AD203B41FA5}">
                      <a16:colId xmlns:a16="http://schemas.microsoft.com/office/drawing/2014/main" val="20000"/>
                    </a:ext>
                  </a:extLst>
                </a:gridCol>
                <a:gridCol w="2309786">
                  <a:extLst>
                    <a:ext uri="{9D8B030D-6E8A-4147-A177-3AD203B41FA5}">
                      <a16:colId xmlns:a16="http://schemas.microsoft.com/office/drawing/2014/main" val="20001"/>
                    </a:ext>
                  </a:extLst>
                </a:gridCol>
              </a:tblGrid>
              <a:tr h="479655">
                <a:tc>
                  <a:txBody>
                    <a:bodyPr/>
                    <a:lstStyle/>
                    <a:p>
                      <a:r>
                        <a:rPr lang="en-US" altLang="zh-CN" sz="2000" dirty="0">
                          <a:latin typeface="Comic Sans MS" pitchFamily="66" charset="0"/>
                        </a:rPr>
                        <a:t>Expression</a:t>
                      </a:r>
                      <a:endParaRPr lang="zh-CN" altLang="en-US" sz="2000" dirty="0">
                        <a:latin typeface="Comic Sans MS" pitchFamily="66" charset="0"/>
                      </a:endParaRPr>
                    </a:p>
                  </a:txBody>
                  <a:tcPr/>
                </a:tc>
                <a:tc>
                  <a:txBody>
                    <a:bodyPr/>
                    <a:lstStyle/>
                    <a:p>
                      <a:r>
                        <a:rPr lang="en-US" altLang="zh-CN" sz="2000" dirty="0">
                          <a:latin typeface="Comic Sans MS" pitchFamily="66" charset="0"/>
                        </a:rPr>
                        <a:t> Result</a:t>
                      </a:r>
                      <a:endParaRPr lang="zh-CN" altLang="en-US" sz="2000" dirty="0">
                        <a:latin typeface="Comic Sans MS" pitchFamily="66" charset="0"/>
                      </a:endParaRPr>
                    </a:p>
                  </a:txBody>
                  <a:tcPr/>
                </a:tc>
                <a:extLst>
                  <a:ext uri="{0D108BD9-81ED-4DB2-BD59-A6C34878D82A}">
                    <a16:rowId xmlns:a16="http://schemas.microsoft.com/office/drawing/2014/main" val="10000"/>
                  </a:ext>
                </a:extLst>
              </a:tr>
              <a:tr h="479655">
                <a:tc>
                  <a:txBody>
                    <a:bodyPr/>
                    <a:lstStyle/>
                    <a:p>
                      <a:r>
                        <a:rPr lang="en-US" altLang="zh-CN" sz="2000" dirty="0">
                          <a:latin typeface="Comic Sans MS" pitchFamily="66" charset="0"/>
                        </a:rPr>
                        <a:t> leal 6(%eax), %edx</a:t>
                      </a:r>
                      <a:endParaRPr lang="zh-CN" altLang="en-US" sz="2000" dirty="0">
                        <a:latin typeface="Comic Sans MS" pitchFamily="66" charset="0"/>
                      </a:endParaRPr>
                    </a:p>
                  </a:txBody>
                  <a:tcPr/>
                </a:tc>
                <a:tc>
                  <a:txBody>
                    <a:bodyPr/>
                    <a:lstStyle/>
                    <a:p>
                      <a:r>
                        <a:rPr lang="en-US" altLang="zh-CN" sz="2000" dirty="0">
                          <a:latin typeface="Comic Sans MS" pitchFamily="66" charset="0"/>
                        </a:rPr>
                        <a:t> </a:t>
                      </a:r>
                      <a:endParaRPr lang="zh-CN" altLang="en-US" sz="2000" dirty="0">
                        <a:latin typeface="Comic Sans MS" pitchFamily="66" charset="0"/>
                      </a:endParaRPr>
                    </a:p>
                  </a:txBody>
                  <a:tcPr/>
                </a:tc>
                <a:extLst>
                  <a:ext uri="{0D108BD9-81ED-4DB2-BD59-A6C34878D82A}">
                    <a16:rowId xmlns:a16="http://schemas.microsoft.com/office/drawing/2014/main" val="10001"/>
                  </a:ext>
                </a:extLst>
              </a:tr>
              <a:tr h="479655">
                <a:tc>
                  <a:txBody>
                    <a:bodyPr/>
                    <a:lstStyle/>
                    <a:p>
                      <a:r>
                        <a:rPr lang="en-US" altLang="zh-CN" sz="2000" dirty="0">
                          <a:latin typeface="Comic Sans MS" pitchFamily="66" charset="0"/>
                        </a:rPr>
                        <a:t> leal</a:t>
                      </a:r>
                      <a:r>
                        <a:rPr lang="en-US" altLang="zh-CN" sz="2000" baseline="0" dirty="0">
                          <a:latin typeface="Comic Sans MS" pitchFamily="66" charset="0"/>
                        </a:rPr>
                        <a:t> (%eax, %ecx), %edx</a:t>
                      </a:r>
                      <a:endParaRPr lang="zh-CN" altLang="en-US" sz="2000" dirty="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2"/>
                  </a:ext>
                </a:extLst>
              </a:tr>
              <a:tr h="479655">
                <a:tc>
                  <a:txBody>
                    <a:bodyPr/>
                    <a:lstStyle/>
                    <a:p>
                      <a:r>
                        <a:rPr lang="en-US" altLang="zh-CN" sz="2000" dirty="0">
                          <a:latin typeface="Comic Sans MS" pitchFamily="66" charset="0"/>
                        </a:rPr>
                        <a:t> leal (%eax, %ecx,</a:t>
                      </a:r>
                      <a:r>
                        <a:rPr lang="en-US" altLang="zh-CN" sz="2000" baseline="0" dirty="0">
                          <a:latin typeface="Comic Sans MS" pitchFamily="66" charset="0"/>
                        </a:rPr>
                        <a:t> 4</a:t>
                      </a:r>
                      <a:r>
                        <a:rPr lang="en-US" altLang="zh-CN" sz="2000" dirty="0">
                          <a:latin typeface="Comic Sans MS" pitchFamily="66" charset="0"/>
                        </a:rPr>
                        <a:t>), %edx</a:t>
                      </a:r>
                      <a:endParaRPr lang="zh-CN" altLang="en-US" sz="2000" dirty="0">
                        <a:latin typeface="Comic Sans MS" pitchFamily="66" charset="0"/>
                      </a:endParaRPr>
                    </a:p>
                  </a:txBody>
                  <a:tcPr/>
                </a:tc>
                <a:tc>
                  <a:txBody>
                    <a:bodyPr/>
                    <a:lstStyle/>
                    <a:p>
                      <a:endParaRPr lang="zh-CN" altLang="en-US" sz="2000">
                        <a:latin typeface="Comic Sans MS" pitchFamily="66" charset="0"/>
                      </a:endParaRPr>
                    </a:p>
                  </a:txBody>
                  <a:tcPr/>
                </a:tc>
                <a:extLst>
                  <a:ext uri="{0D108BD9-81ED-4DB2-BD59-A6C34878D82A}">
                    <a16:rowId xmlns:a16="http://schemas.microsoft.com/office/drawing/2014/main" val="10003"/>
                  </a:ext>
                </a:extLst>
              </a:tr>
              <a:tr h="479655">
                <a:tc>
                  <a:txBody>
                    <a:bodyPr/>
                    <a:lstStyle/>
                    <a:p>
                      <a:r>
                        <a:rPr lang="en-US" altLang="zh-CN" sz="2000" dirty="0">
                          <a:latin typeface="Comic Sans MS" pitchFamily="66" charset="0"/>
                        </a:rPr>
                        <a:t> leal</a:t>
                      </a:r>
                      <a:r>
                        <a:rPr lang="en-US" altLang="zh-CN" sz="2000" baseline="0" dirty="0">
                          <a:latin typeface="Comic Sans MS" pitchFamily="66" charset="0"/>
                        </a:rPr>
                        <a:t> 7(%eax, %eax ,8), %edx</a:t>
                      </a:r>
                      <a:endParaRPr lang="zh-CN" altLang="en-US" sz="2000" dirty="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4"/>
                  </a:ext>
                </a:extLst>
              </a:tr>
              <a:tr h="479655">
                <a:tc>
                  <a:txBody>
                    <a:bodyPr/>
                    <a:lstStyle/>
                    <a:p>
                      <a:r>
                        <a:rPr lang="en-US" altLang="zh-CN" sz="2000" dirty="0">
                          <a:latin typeface="Comic Sans MS" pitchFamily="66" charset="0"/>
                        </a:rPr>
                        <a:t> leal</a:t>
                      </a:r>
                      <a:r>
                        <a:rPr lang="en-US" altLang="zh-CN" sz="2000" baseline="0" dirty="0">
                          <a:latin typeface="Comic Sans MS" pitchFamily="66" charset="0"/>
                        </a:rPr>
                        <a:t> 0xA (, %ecx, 4), %edx</a:t>
                      </a:r>
                      <a:endParaRPr lang="zh-CN" altLang="en-US" sz="2000" dirty="0">
                        <a:latin typeface="Comic Sans MS" pitchFamily="66" charset="0"/>
                      </a:endParaRPr>
                    </a:p>
                  </a:txBody>
                  <a:tcPr/>
                </a:tc>
                <a:tc>
                  <a:txBody>
                    <a:bodyPr/>
                    <a:lstStyle/>
                    <a:p>
                      <a:endParaRPr lang="zh-CN" altLang="en-US" sz="2000" dirty="0">
                        <a:latin typeface="Comic Sans MS" pitchFamily="66" charset="0"/>
                      </a:endParaRPr>
                    </a:p>
                  </a:txBody>
                  <a:tcPr/>
                </a:tc>
                <a:extLst>
                  <a:ext uri="{0D108BD9-81ED-4DB2-BD59-A6C34878D82A}">
                    <a16:rowId xmlns:a16="http://schemas.microsoft.com/office/drawing/2014/main" val="10005"/>
                  </a:ext>
                </a:extLst>
              </a:tr>
              <a:tr h="479655">
                <a:tc>
                  <a:txBody>
                    <a:bodyPr/>
                    <a:lstStyle/>
                    <a:p>
                      <a:r>
                        <a:rPr lang="en-US" altLang="zh-CN" sz="2000" kern="1200" baseline="0" dirty="0">
                          <a:solidFill>
                            <a:schemeClr val="tx1"/>
                          </a:solidFill>
                          <a:latin typeface="Comic Sans MS" pitchFamily="66" charset="0"/>
                          <a:ea typeface="+mn-ea"/>
                          <a:cs typeface="+mn-cs"/>
                        </a:rPr>
                        <a:t> leal 9(%eax, %ecx, 2), %edx</a:t>
                      </a:r>
                      <a:endParaRPr lang="zh-CN" altLang="en-US" sz="2000" kern="1200" baseline="0" dirty="0">
                        <a:solidFill>
                          <a:schemeClr val="tx1"/>
                        </a:solidFill>
                        <a:latin typeface="Comic Sans MS" pitchFamily="66" charset="0"/>
                        <a:ea typeface="+mn-ea"/>
                        <a:cs typeface="+mn-cs"/>
                      </a:endParaRPr>
                    </a:p>
                  </a:txBody>
                  <a:tcPr/>
                </a:tc>
                <a:tc>
                  <a:txBody>
                    <a:bodyPr/>
                    <a:lstStyle/>
                    <a:p>
                      <a:endParaRPr lang="zh-CN" altLang="en-US" sz="2000" kern="1200" baseline="0" dirty="0">
                        <a:solidFill>
                          <a:schemeClr val="tx1"/>
                        </a:solidFill>
                        <a:latin typeface="Comic Sans MS" pitchFamily="66" charset="0"/>
                        <a:ea typeface="+mn-ea"/>
                        <a:cs typeface="+mn-cs"/>
                      </a:endParaRPr>
                    </a:p>
                  </a:txBody>
                  <a:tcPr/>
                </a:tc>
                <a:extLst>
                  <a:ext uri="{0D108BD9-81ED-4DB2-BD59-A6C34878D82A}">
                    <a16:rowId xmlns:a16="http://schemas.microsoft.com/office/drawing/2014/main" val="10006"/>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linds(horizontal)">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linds(horizontal)">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animBg="1"/>
      <p:bldP spid="11" grpId="0" animBg="1"/>
      <p:bldP spid="10" grpId="0" animBg="1"/>
      <p:bldP spid="9"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70C0"/>
                </a:solidFill>
                <a:latin typeface="Comic Sans MS" pitchFamily="66" charset="0"/>
              </a:rPr>
              <a:t>Problem 3.4 </a:t>
            </a:r>
            <a:r>
              <a:rPr lang="en-US" altLang="zh-CN" dirty="0">
                <a:latin typeface="Comic Sans MS" pitchFamily="66" charset="0"/>
              </a:rPr>
              <a:t>(P145)</a:t>
            </a:r>
            <a:endParaRPr lang="zh-CN" altLang="en-US" dirty="0">
              <a:latin typeface="Comic Sans MS" pitchFamily="66" charset="0"/>
            </a:endParaRPr>
          </a:p>
        </p:txBody>
      </p:sp>
      <p:sp>
        <p:nvSpPr>
          <p:cNvPr id="3" name="内容占位符 2"/>
          <p:cNvSpPr>
            <a:spLocks noGrp="1"/>
          </p:cNvSpPr>
          <p:nvPr>
            <p:ph idx="1"/>
          </p:nvPr>
        </p:nvSpPr>
        <p:spPr>
          <a:xfrm>
            <a:off x="457200" y="1600200"/>
            <a:ext cx="8229600" cy="4686320"/>
          </a:xfrm>
        </p:spPr>
        <p:txBody>
          <a:bodyPr>
            <a:normAutofit lnSpcReduction="10000"/>
          </a:bodyPr>
          <a:lstStyle/>
          <a:p>
            <a:r>
              <a:rPr lang="en-US" altLang="zh-CN" dirty="0">
                <a:latin typeface="Comic Sans MS" pitchFamily="66" charset="0"/>
              </a:rPr>
              <a:t>Assume the following values are stored at the indicated memory addresses and registers:</a:t>
            </a:r>
          </a:p>
          <a:p>
            <a:endParaRPr lang="en-US" altLang="zh-CN" dirty="0">
              <a:latin typeface="Comic Sans MS" pitchFamily="66" charset="0"/>
            </a:endParaRPr>
          </a:p>
          <a:p>
            <a:endParaRPr lang="en-US" altLang="zh-CN" dirty="0">
              <a:latin typeface="Comic Sans MS" pitchFamily="66" charset="0"/>
            </a:endParaRPr>
          </a:p>
          <a:p>
            <a:endParaRPr lang="en-US" altLang="zh-CN" dirty="0">
              <a:latin typeface="Comic Sans MS" pitchFamily="66" charset="0"/>
            </a:endParaRPr>
          </a:p>
          <a:p>
            <a:endParaRPr lang="en-US" altLang="zh-CN" dirty="0">
              <a:latin typeface="Comic Sans MS" pitchFamily="66" charset="0"/>
            </a:endParaRPr>
          </a:p>
          <a:p>
            <a:r>
              <a:rPr lang="en-US" altLang="zh-CN" dirty="0">
                <a:latin typeface="Comic Sans MS" pitchFamily="66" charset="0"/>
              </a:rPr>
              <a:t>Fill in the following table showing the effects of the following instructions …</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8</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graphicFrame>
        <p:nvGraphicFramePr>
          <p:cNvPr id="7" name="表格 6"/>
          <p:cNvGraphicFramePr>
            <a:graphicFrameLocks noGrp="1"/>
          </p:cNvGraphicFramePr>
          <p:nvPr/>
        </p:nvGraphicFramePr>
        <p:xfrm>
          <a:off x="857224" y="3071810"/>
          <a:ext cx="3857652" cy="1981200"/>
        </p:xfrm>
        <a:graphic>
          <a:graphicData uri="http://schemas.openxmlformats.org/drawingml/2006/table">
            <a:tbl>
              <a:tblPr firstRow="1" bandRow="1">
                <a:tableStyleId>{BC89EF96-8CEA-46FF-86C4-4CE0E7609802}</a:tableStyleId>
              </a:tblPr>
              <a:tblGrid>
                <a:gridCol w="1928826">
                  <a:extLst>
                    <a:ext uri="{9D8B030D-6E8A-4147-A177-3AD203B41FA5}">
                      <a16:colId xmlns:a16="http://schemas.microsoft.com/office/drawing/2014/main" val="20000"/>
                    </a:ext>
                  </a:extLst>
                </a:gridCol>
                <a:gridCol w="1928826">
                  <a:extLst>
                    <a:ext uri="{9D8B030D-6E8A-4147-A177-3AD203B41FA5}">
                      <a16:colId xmlns:a16="http://schemas.microsoft.com/office/drawing/2014/main" val="20001"/>
                    </a:ext>
                  </a:extLst>
                </a:gridCol>
              </a:tblGrid>
              <a:tr h="370840">
                <a:tc>
                  <a:txBody>
                    <a:bodyPr/>
                    <a:lstStyle/>
                    <a:p>
                      <a:r>
                        <a:rPr lang="en-US" altLang="zh-CN" sz="2000" dirty="0">
                          <a:latin typeface="Comic Sans MS" pitchFamily="66" charset="0"/>
                        </a:rPr>
                        <a:t>Address</a:t>
                      </a:r>
                      <a:endParaRPr lang="zh-CN" altLang="en-US" sz="2000" dirty="0">
                        <a:latin typeface="Comic Sans MS" pitchFamily="66" charset="0"/>
                      </a:endParaRPr>
                    </a:p>
                  </a:txBody>
                  <a:tcPr/>
                </a:tc>
                <a:tc>
                  <a:txBody>
                    <a:bodyPr/>
                    <a:lstStyle/>
                    <a:p>
                      <a:r>
                        <a:rPr lang="en-US" altLang="zh-CN" sz="2000" dirty="0">
                          <a:latin typeface="Comic Sans MS" pitchFamily="66" charset="0"/>
                        </a:rPr>
                        <a:t>Value</a:t>
                      </a:r>
                      <a:endParaRPr lang="zh-CN" altLang="en-US" sz="2000" dirty="0">
                        <a:latin typeface="Comic Sans MS" pitchFamily="66" charset="0"/>
                      </a:endParaRPr>
                    </a:p>
                  </a:txBody>
                  <a:tcPr/>
                </a:tc>
                <a:extLst>
                  <a:ext uri="{0D108BD9-81ED-4DB2-BD59-A6C34878D82A}">
                    <a16:rowId xmlns:a16="http://schemas.microsoft.com/office/drawing/2014/main" val="10000"/>
                  </a:ext>
                </a:extLst>
              </a:tr>
              <a:tr h="370840">
                <a:tc>
                  <a:txBody>
                    <a:bodyPr/>
                    <a:lstStyle/>
                    <a:p>
                      <a:r>
                        <a:rPr lang="en-US" altLang="zh-CN" sz="2000" dirty="0">
                          <a:latin typeface="Comic Sans MS" pitchFamily="66" charset="0"/>
                        </a:rPr>
                        <a:t>  0x100</a:t>
                      </a:r>
                      <a:endParaRPr lang="zh-CN" altLang="en-US" sz="2000" dirty="0">
                        <a:latin typeface="Comic Sans MS" pitchFamily="66" charset="0"/>
                      </a:endParaRPr>
                    </a:p>
                  </a:txBody>
                  <a:tcPr/>
                </a:tc>
                <a:tc>
                  <a:txBody>
                    <a:bodyPr/>
                    <a:lstStyle/>
                    <a:p>
                      <a:r>
                        <a:rPr lang="en-US" altLang="zh-CN" sz="2000" dirty="0">
                          <a:latin typeface="Comic Sans MS" pitchFamily="66" charset="0"/>
                        </a:rPr>
                        <a:t>  0xFF</a:t>
                      </a:r>
                      <a:endParaRPr lang="zh-CN" altLang="en-US" sz="2000" dirty="0">
                        <a:latin typeface="Comic Sans MS" pitchFamily="66" charset="0"/>
                      </a:endParaRPr>
                    </a:p>
                  </a:txBody>
                  <a:tcPr/>
                </a:tc>
                <a:extLst>
                  <a:ext uri="{0D108BD9-81ED-4DB2-BD59-A6C34878D82A}">
                    <a16:rowId xmlns:a16="http://schemas.microsoft.com/office/drawing/2014/main" val="10001"/>
                  </a:ext>
                </a:extLst>
              </a:tr>
              <a:tr h="370840">
                <a:tc>
                  <a:txBody>
                    <a:bodyPr/>
                    <a:lstStyle/>
                    <a:p>
                      <a:r>
                        <a:rPr lang="en-US" altLang="zh-CN" sz="2000" dirty="0">
                          <a:latin typeface="Comic Sans MS" pitchFamily="66" charset="0"/>
                        </a:rPr>
                        <a:t>  0x104</a:t>
                      </a:r>
                      <a:endParaRPr lang="zh-CN" altLang="en-US" sz="2000" dirty="0">
                        <a:latin typeface="Comic Sans MS" pitchFamily="66" charset="0"/>
                      </a:endParaRPr>
                    </a:p>
                  </a:txBody>
                  <a:tcPr/>
                </a:tc>
                <a:tc>
                  <a:txBody>
                    <a:bodyPr/>
                    <a:lstStyle/>
                    <a:p>
                      <a:r>
                        <a:rPr lang="en-US" altLang="zh-CN" sz="2000" dirty="0">
                          <a:latin typeface="Comic Sans MS" pitchFamily="66" charset="0"/>
                        </a:rPr>
                        <a:t>  0xAB</a:t>
                      </a:r>
                      <a:endParaRPr lang="zh-CN" altLang="en-US" sz="2000" dirty="0">
                        <a:latin typeface="Comic Sans MS" pitchFamily="66" charset="0"/>
                      </a:endParaRPr>
                    </a:p>
                  </a:txBody>
                  <a:tcPr/>
                </a:tc>
                <a:extLst>
                  <a:ext uri="{0D108BD9-81ED-4DB2-BD59-A6C34878D82A}">
                    <a16:rowId xmlns:a16="http://schemas.microsoft.com/office/drawing/2014/main" val="10002"/>
                  </a:ext>
                </a:extLst>
              </a:tr>
              <a:tr h="370840">
                <a:tc>
                  <a:txBody>
                    <a:bodyPr/>
                    <a:lstStyle/>
                    <a:p>
                      <a:r>
                        <a:rPr lang="en-US" altLang="zh-CN" sz="2000" dirty="0">
                          <a:latin typeface="Comic Sans MS" pitchFamily="66" charset="0"/>
                        </a:rPr>
                        <a:t>  0x108</a:t>
                      </a:r>
                      <a:endParaRPr lang="zh-CN" altLang="en-US" sz="2000" dirty="0">
                        <a:latin typeface="Comic Sans MS" pitchFamily="66" charset="0"/>
                      </a:endParaRPr>
                    </a:p>
                  </a:txBody>
                  <a:tcPr/>
                </a:tc>
                <a:tc>
                  <a:txBody>
                    <a:bodyPr/>
                    <a:lstStyle/>
                    <a:p>
                      <a:r>
                        <a:rPr lang="en-US" altLang="zh-CN" sz="2000" dirty="0">
                          <a:latin typeface="Comic Sans MS" pitchFamily="66" charset="0"/>
                        </a:rPr>
                        <a:t>  0x13</a:t>
                      </a:r>
                      <a:endParaRPr lang="zh-CN" altLang="en-US" sz="2000" dirty="0">
                        <a:latin typeface="Comic Sans MS" pitchFamily="66" charset="0"/>
                      </a:endParaRPr>
                    </a:p>
                  </a:txBody>
                  <a:tcPr/>
                </a:tc>
                <a:extLst>
                  <a:ext uri="{0D108BD9-81ED-4DB2-BD59-A6C34878D82A}">
                    <a16:rowId xmlns:a16="http://schemas.microsoft.com/office/drawing/2014/main" val="10003"/>
                  </a:ext>
                </a:extLst>
              </a:tr>
              <a:tr h="370840">
                <a:tc>
                  <a:txBody>
                    <a:bodyPr/>
                    <a:lstStyle/>
                    <a:p>
                      <a:r>
                        <a:rPr lang="en-US" altLang="zh-CN" sz="2000" dirty="0">
                          <a:latin typeface="Comic Sans MS" pitchFamily="66" charset="0"/>
                        </a:rPr>
                        <a:t>  0x10C</a:t>
                      </a:r>
                      <a:endParaRPr lang="zh-CN" altLang="en-US" sz="2000" dirty="0">
                        <a:latin typeface="Comic Sans MS" pitchFamily="66" charset="0"/>
                      </a:endParaRPr>
                    </a:p>
                  </a:txBody>
                  <a:tcPr/>
                </a:tc>
                <a:tc>
                  <a:txBody>
                    <a:bodyPr/>
                    <a:lstStyle/>
                    <a:p>
                      <a:r>
                        <a:rPr lang="en-US" altLang="zh-CN" sz="2000" dirty="0">
                          <a:latin typeface="Comic Sans MS" pitchFamily="66" charset="0"/>
                        </a:rPr>
                        <a:t>  0x11</a:t>
                      </a:r>
                      <a:endParaRPr lang="zh-CN" altLang="en-US" sz="2000" dirty="0">
                        <a:latin typeface="Comic Sans MS" pitchFamily="66" charset="0"/>
                      </a:endParaRPr>
                    </a:p>
                  </a:txBody>
                  <a:tcPr/>
                </a:tc>
                <a:extLst>
                  <a:ext uri="{0D108BD9-81ED-4DB2-BD59-A6C34878D82A}">
                    <a16:rowId xmlns:a16="http://schemas.microsoft.com/office/drawing/2014/main" val="10004"/>
                  </a:ext>
                </a:extLst>
              </a:tr>
            </a:tbl>
          </a:graphicData>
        </a:graphic>
      </p:graphicFrame>
      <p:graphicFrame>
        <p:nvGraphicFramePr>
          <p:cNvPr id="8" name="表格 7"/>
          <p:cNvGraphicFramePr>
            <a:graphicFrameLocks noGrp="1"/>
          </p:cNvGraphicFramePr>
          <p:nvPr/>
        </p:nvGraphicFramePr>
        <p:xfrm>
          <a:off x="5000628" y="3071810"/>
          <a:ext cx="3500462" cy="1584960"/>
        </p:xfrm>
        <a:graphic>
          <a:graphicData uri="http://schemas.openxmlformats.org/drawingml/2006/table">
            <a:tbl>
              <a:tblPr firstRow="1" bandRow="1">
                <a:tableStyleId>{BC89EF96-8CEA-46FF-86C4-4CE0E7609802}</a:tableStyleId>
              </a:tblPr>
              <a:tblGrid>
                <a:gridCol w="1750231">
                  <a:extLst>
                    <a:ext uri="{9D8B030D-6E8A-4147-A177-3AD203B41FA5}">
                      <a16:colId xmlns:a16="http://schemas.microsoft.com/office/drawing/2014/main" val="20000"/>
                    </a:ext>
                  </a:extLst>
                </a:gridCol>
                <a:gridCol w="1750231">
                  <a:extLst>
                    <a:ext uri="{9D8B030D-6E8A-4147-A177-3AD203B41FA5}">
                      <a16:colId xmlns:a16="http://schemas.microsoft.com/office/drawing/2014/main" val="20001"/>
                    </a:ext>
                  </a:extLst>
                </a:gridCol>
              </a:tblGrid>
              <a:tr h="360521">
                <a:tc>
                  <a:txBody>
                    <a:bodyPr/>
                    <a:lstStyle/>
                    <a:p>
                      <a:r>
                        <a:rPr lang="en-US" altLang="zh-CN" sz="2000" dirty="0">
                          <a:latin typeface="Comic Sans MS" pitchFamily="66" charset="0"/>
                        </a:rPr>
                        <a:t>Register</a:t>
                      </a:r>
                      <a:endParaRPr lang="zh-CN" altLang="en-US" sz="2000" dirty="0">
                        <a:latin typeface="Comic Sans MS" pitchFamily="66" charset="0"/>
                      </a:endParaRPr>
                    </a:p>
                  </a:txBody>
                  <a:tcPr/>
                </a:tc>
                <a:tc>
                  <a:txBody>
                    <a:bodyPr/>
                    <a:lstStyle/>
                    <a:p>
                      <a:r>
                        <a:rPr lang="en-US" altLang="zh-CN" sz="2000" dirty="0">
                          <a:latin typeface="Comic Sans MS" pitchFamily="66" charset="0"/>
                        </a:rPr>
                        <a:t>Value</a:t>
                      </a:r>
                      <a:endParaRPr lang="zh-CN" altLang="en-US" sz="2000" dirty="0">
                        <a:latin typeface="Comic Sans MS" pitchFamily="66" charset="0"/>
                      </a:endParaRPr>
                    </a:p>
                  </a:txBody>
                  <a:tcPr/>
                </a:tc>
                <a:extLst>
                  <a:ext uri="{0D108BD9-81ED-4DB2-BD59-A6C34878D82A}">
                    <a16:rowId xmlns:a16="http://schemas.microsoft.com/office/drawing/2014/main" val="10000"/>
                  </a:ext>
                </a:extLst>
              </a:tr>
              <a:tr h="360521">
                <a:tc>
                  <a:txBody>
                    <a:bodyPr/>
                    <a:lstStyle/>
                    <a:p>
                      <a:r>
                        <a:rPr lang="en-US" altLang="zh-CN" sz="2000" dirty="0">
                          <a:latin typeface="Comic Sans MS" pitchFamily="66" charset="0"/>
                        </a:rPr>
                        <a:t>  %eax</a:t>
                      </a:r>
                      <a:endParaRPr lang="zh-CN" altLang="en-US" sz="2000" dirty="0">
                        <a:latin typeface="Comic Sans MS" pitchFamily="66" charset="0"/>
                      </a:endParaRPr>
                    </a:p>
                  </a:txBody>
                  <a:tcPr/>
                </a:tc>
                <a:tc>
                  <a:txBody>
                    <a:bodyPr/>
                    <a:lstStyle/>
                    <a:p>
                      <a:r>
                        <a:rPr lang="en-US" altLang="zh-CN" sz="2000" dirty="0">
                          <a:latin typeface="Comic Sans MS" pitchFamily="66" charset="0"/>
                        </a:rPr>
                        <a:t>  0x100</a:t>
                      </a:r>
                      <a:endParaRPr lang="zh-CN" altLang="en-US" sz="2000" dirty="0">
                        <a:latin typeface="Comic Sans MS" pitchFamily="66" charset="0"/>
                      </a:endParaRPr>
                    </a:p>
                  </a:txBody>
                  <a:tcPr/>
                </a:tc>
                <a:extLst>
                  <a:ext uri="{0D108BD9-81ED-4DB2-BD59-A6C34878D82A}">
                    <a16:rowId xmlns:a16="http://schemas.microsoft.com/office/drawing/2014/main" val="10001"/>
                  </a:ext>
                </a:extLst>
              </a:tr>
              <a:tr h="360521">
                <a:tc>
                  <a:txBody>
                    <a:bodyPr/>
                    <a:lstStyle/>
                    <a:p>
                      <a:r>
                        <a:rPr lang="en-US" altLang="zh-CN" sz="2000" dirty="0">
                          <a:latin typeface="Comic Sans MS" pitchFamily="66" charset="0"/>
                        </a:rPr>
                        <a:t>  %ecx</a:t>
                      </a:r>
                      <a:endParaRPr lang="zh-CN" altLang="en-US" sz="2000" dirty="0">
                        <a:latin typeface="Comic Sans MS" pitchFamily="66" charset="0"/>
                      </a:endParaRPr>
                    </a:p>
                  </a:txBody>
                  <a:tcPr/>
                </a:tc>
                <a:tc>
                  <a:txBody>
                    <a:bodyPr/>
                    <a:lstStyle/>
                    <a:p>
                      <a:r>
                        <a:rPr lang="en-US" altLang="zh-CN" sz="2000" dirty="0">
                          <a:latin typeface="Comic Sans MS" pitchFamily="66" charset="0"/>
                        </a:rPr>
                        <a:t>  0x1</a:t>
                      </a:r>
                      <a:endParaRPr lang="zh-CN" altLang="en-US" sz="2000" dirty="0">
                        <a:latin typeface="Comic Sans MS" pitchFamily="66" charset="0"/>
                      </a:endParaRPr>
                    </a:p>
                  </a:txBody>
                  <a:tcPr/>
                </a:tc>
                <a:extLst>
                  <a:ext uri="{0D108BD9-81ED-4DB2-BD59-A6C34878D82A}">
                    <a16:rowId xmlns:a16="http://schemas.microsoft.com/office/drawing/2014/main" val="10002"/>
                  </a:ext>
                </a:extLst>
              </a:tr>
              <a:tr h="360521">
                <a:tc>
                  <a:txBody>
                    <a:bodyPr/>
                    <a:lstStyle/>
                    <a:p>
                      <a:r>
                        <a:rPr lang="en-US" altLang="zh-CN" sz="2000" dirty="0">
                          <a:latin typeface="Comic Sans MS" pitchFamily="66" charset="0"/>
                        </a:rPr>
                        <a:t>  %edx</a:t>
                      </a:r>
                      <a:endParaRPr lang="zh-CN" altLang="en-US" sz="2000" dirty="0">
                        <a:latin typeface="Comic Sans MS" pitchFamily="66" charset="0"/>
                      </a:endParaRPr>
                    </a:p>
                  </a:txBody>
                  <a:tcPr/>
                </a:tc>
                <a:tc>
                  <a:txBody>
                    <a:bodyPr/>
                    <a:lstStyle/>
                    <a:p>
                      <a:r>
                        <a:rPr lang="en-US" altLang="zh-CN" sz="2000" dirty="0">
                          <a:latin typeface="Comic Sans MS" pitchFamily="66" charset="0"/>
                        </a:rPr>
                        <a:t>  0x3</a:t>
                      </a:r>
                      <a:endParaRPr lang="zh-CN" altLang="en-US" sz="2000" dirty="0">
                        <a:latin typeface="Comic Sans MS" pitchFamily="66" charset="0"/>
                      </a:endParaRPr>
                    </a:p>
                  </a:txBody>
                  <a:tcPr/>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4929190" y="5357826"/>
            <a:ext cx="3500462"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latin typeface="Comic Sans MS" pitchFamily="66" charset="0"/>
              </a:rPr>
              <a:t> </a:t>
            </a:r>
            <a:r>
              <a:rPr lang="en-US" altLang="zh-CN" sz="2400" dirty="0">
                <a:solidFill>
                  <a:srgbClr val="FF0000"/>
                </a:solidFill>
                <a:latin typeface="Comic Sans MS" pitchFamily="66" charset="0"/>
              </a:rPr>
              <a:t>%eax               0xFD</a:t>
            </a:r>
          </a:p>
        </p:txBody>
      </p:sp>
      <p:sp>
        <p:nvSpPr>
          <p:cNvPr id="13" name="矩形 12"/>
          <p:cNvSpPr/>
          <p:nvPr/>
        </p:nvSpPr>
        <p:spPr>
          <a:xfrm>
            <a:off x="4929190" y="4714884"/>
            <a:ext cx="3500462"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latin typeface="Comic Sans MS" pitchFamily="66" charset="0"/>
              </a:rPr>
              <a:t> </a:t>
            </a:r>
            <a:r>
              <a:rPr lang="en-US" altLang="zh-CN" sz="2400" dirty="0">
                <a:solidFill>
                  <a:srgbClr val="FF0000"/>
                </a:solidFill>
                <a:latin typeface="Comic Sans MS" pitchFamily="66" charset="0"/>
              </a:rPr>
              <a:t>%ecx               0x0</a:t>
            </a:r>
            <a:endParaRPr lang="zh-CN" altLang="en-US" sz="2400" dirty="0">
              <a:latin typeface="Comic Sans MS" pitchFamily="66" charset="0"/>
            </a:endParaRPr>
          </a:p>
        </p:txBody>
      </p:sp>
      <p:sp>
        <p:nvSpPr>
          <p:cNvPr id="12" name="矩形 11"/>
          <p:cNvSpPr/>
          <p:nvPr/>
        </p:nvSpPr>
        <p:spPr>
          <a:xfrm>
            <a:off x="4929190" y="4143380"/>
            <a:ext cx="3500462"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latin typeface="Comic Sans MS" pitchFamily="66" charset="0"/>
              </a:rPr>
              <a:t> </a:t>
            </a:r>
            <a:r>
              <a:rPr lang="en-US" altLang="zh-CN" sz="2400" dirty="0">
                <a:solidFill>
                  <a:srgbClr val="FF0000"/>
                </a:solidFill>
                <a:latin typeface="Comic Sans MS" pitchFamily="66" charset="0"/>
              </a:rPr>
              <a:t>0x108              0x14</a:t>
            </a:r>
            <a:endParaRPr lang="zh-CN" altLang="en-US" sz="2400" dirty="0">
              <a:latin typeface="Comic Sans MS" pitchFamily="66" charset="0"/>
            </a:endParaRPr>
          </a:p>
        </p:txBody>
      </p:sp>
      <p:sp>
        <p:nvSpPr>
          <p:cNvPr id="11" name="矩形 10"/>
          <p:cNvSpPr/>
          <p:nvPr/>
        </p:nvSpPr>
        <p:spPr>
          <a:xfrm>
            <a:off x="4929190" y="3500438"/>
            <a:ext cx="3500462"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latin typeface="Comic Sans MS" pitchFamily="66" charset="0"/>
              </a:rPr>
              <a:t> </a:t>
            </a:r>
            <a:r>
              <a:rPr lang="en-US" altLang="zh-CN" sz="2400" dirty="0">
                <a:solidFill>
                  <a:srgbClr val="FF0000"/>
                </a:solidFill>
                <a:latin typeface="Comic Sans MS" pitchFamily="66" charset="0"/>
              </a:rPr>
              <a:t>0x10C              0x110</a:t>
            </a:r>
            <a:endParaRPr lang="zh-CN" altLang="en-US" sz="2400" dirty="0">
              <a:latin typeface="Comic Sans MS" pitchFamily="66" charset="0"/>
            </a:endParaRPr>
          </a:p>
        </p:txBody>
      </p:sp>
      <p:sp>
        <p:nvSpPr>
          <p:cNvPr id="10" name="矩形 9"/>
          <p:cNvSpPr/>
          <p:nvPr/>
        </p:nvSpPr>
        <p:spPr>
          <a:xfrm>
            <a:off x="4929190" y="2928934"/>
            <a:ext cx="3500462"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latin typeface="Comic Sans MS" pitchFamily="66" charset="0"/>
              </a:rPr>
              <a:t> </a:t>
            </a:r>
            <a:r>
              <a:rPr lang="en-US" altLang="zh-CN" sz="2400" dirty="0">
                <a:solidFill>
                  <a:srgbClr val="FF0000"/>
                </a:solidFill>
                <a:latin typeface="Comic Sans MS" pitchFamily="66" charset="0"/>
              </a:rPr>
              <a:t>0x104              0xA8</a:t>
            </a:r>
            <a:endParaRPr lang="zh-CN" altLang="en-US" sz="2400" dirty="0">
              <a:latin typeface="Comic Sans MS" pitchFamily="66" charset="0"/>
            </a:endParaRPr>
          </a:p>
        </p:txBody>
      </p:sp>
      <p:sp>
        <p:nvSpPr>
          <p:cNvPr id="9" name="矩形 8"/>
          <p:cNvSpPr/>
          <p:nvPr/>
        </p:nvSpPr>
        <p:spPr>
          <a:xfrm>
            <a:off x="4929190" y="2285992"/>
            <a:ext cx="3500462"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latin typeface="Comic Sans MS" pitchFamily="66" charset="0"/>
              </a:rPr>
              <a:t> </a:t>
            </a:r>
            <a:r>
              <a:rPr lang="en-US" altLang="zh-CN" sz="2400" dirty="0">
                <a:solidFill>
                  <a:srgbClr val="FF0000"/>
                </a:solidFill>
                <a:latin typeface="Comic Sans MS" pitchFamily="66" charset="0"/>
              </a:rPr>
              <a:t>0x100              </a:t>
            </a:r>
            <a:r>
              <a:rPr lang="en-US" altLang="zh-CN" sz="2400" dirty="0" err="1">
                <a:solidFill>
                  <a:srgbClr val="FF0000"/>
                </a:solidFill>
                <a:latin typeface="Comic Sans MS" pitchFamily="66" charset="0"/>
              </a:rPr>
              <a:t>0x100</a:t>
            </a:r>
            <a:endParaRPr lang="zh-CN" altLang="en-US" sz="2400" dirty="0">
              <a:latin typeface="Comic Sans MS" pitchFamily="66" charset="0"/>
            </a:endParaRPr>
          </a:p>
        </p:txBody>
      </p:sp>
      <p:graphicFrame>
        <p:nvGraphicFramePr>
          <p:cNvPr id="8" name="内容占位符 7"/>
          <p:cNvGraphicFramePr>
            <a:graphicFrameLocks noGrp="1"/>
          </p:cNvGraphicFramePr>
          <p:nvPr>
            <p:ph idx="1"/>
          </p:nvPr>
        </p:nvGraphicFramePr>
        <p:xfrm>
          <a:off x="642910" y="1643050"/>
          <a:ext cx="7829576" cy="4257694"/>
        </p:xfrm>
        <a:graphic>
          <a:graphicData uri="http://schemas.openxmlformats.org/drawingml/2006/table">
            <a:tbl>
              <a:tblPr firstRow="1" bandRow="1">
                <a:tableStyleId>{BC89EF96-8CEA-46FF-86C4-4CE0E7609802}</a:tableStyleId>
              </a:tblPr>
              <a:tblGrid>
                <a:gridCol w="4214842">
                  <a:extLst>
                    <a:ext uri="{9D8B030D-6E8A-4147-A177-3AD203B41FA5}">
                      <a16:colId xmlns:a16="http://schemas.microsoft.com/office/drawing/2014/main" val="20000"/>
                    </a:ext>
                  </a:extLst>
                </a:gridCol>
                <a:gridCol w="2000264">
                  <a:extLst>
                    <a:ext uri="{9D8B030D-6E8A-4147-A177-3AD203B41FA5}">
                      <a16:colId xmlns:a16="http://schemas.microsoft.com/office/drawing/2014/main" val="20001"/>
                    </a:ext>
                  </a:extLst>
                </a:gridCol>
                <a:gridCol w="1614470">
                  <a:extLst>
                    <a:ext uri="{9D8B030D-6E8A-4147-A177-3AD203B41FA5}">
                      <a16:colId xmlns:a16="http://schemas.microsoft.com/office/drawing/2014/main" val="20002"/>
                    </a:ext>
                  </a:extLst>
                </a:gridCol>
              </a:tblGrid>
              <a:tr h="608242">
                <a:tc>
                  <a:txBody>
                    <a:bodyPr/>
                    <a:lstStyle/>
                    <a:p>
                      <a:r>
                        <a:rPr lang="en-US" altLang="zh-CN" sz="2400" dirty="0">
                          <a:latin typeface="Comic Sans MS" pitchFamily="66" charset="0"/>
                        </a:rPr>
                        <a:t>  Instruction</a:t>
                      </a:r>
                    </a:p>
                  </a:txBody>
                  <a:tcPr/>
                </a:tc>
                <a:tc>
                  <a:txBody>
                    <a:bodyPr/>
                    <a:lstStyle/>
                    <a:p>
                      <a:r>
                        <a:rPr lang="en-US" altLang="zh-CN" sz="2400" dirty="0">
                          <a:latin typeface="Comic Sans MS" pitchFamily="66" charset="0"/>
                        </a:rPr>
                        <a:t> Destination</a:t>
                      </a:r>
                      <a:endParaRPr lang="zh-CN" altLang="en-US" sz="2400" dirty="0">
                        <a:latin typeface="Comic Sans MS" pitchFamily="66" charset="0"/>
                      </a:endParaRPr>
                    </a:p>
                  </a:txBody>
                  <a:tcPr/>
                </a:tc>
                <a:tc>
                  <a:txBody>
                    <a:bodyPr/>
                    <a:lstStyle/>
                    <a:p>
                      <a:r>
                        <a:rPr lang="en-US" altLang="zh-CN" sz="2400" dirty="0">
                          <a:latin typeface="Comic Sans MS" pitchFamily="66" charset="0"/>
                        </a:rPr>
                        <a:t>  Value</a:t>
                      </a:r>
                      <a:endParaRPr lang="zh-CN" altLang="en-US" sz="2400" dirty="0">
                        <a:latin typeface="Comic Sans MS" pitchFamily="66" charset="0"/>
                      </a:endParaRPr>
                    </a:p>
                  </a:txBody>
                  <a:tcPr/>
                </a:tc>
                <a:extLst>
                  <a:ext uri="{0D108BD9-81ED-4DB2-BD59-A6C34878D82A}">
                    <a16:rowId xmlns:a16="http://schemas.microsoft.com/office/drawing/2014/main" val="10000"/>
                  </a:ext>
                </a:extLst>
              </a:tr>
              <a:tr h="608242">
                <a:tc>
                  <a:txBody>
                    <a:bodyPr/>
                    <a:lstStyle/>
                    <a:p>
                      <a:r>
                        <a:rPr lang="en-US" altLang="zh-CN" sz="2400" dirty="0">
                          <a:latin typeface="Comic Sans MS" pitchFamily="66" charset="0"/>
                        </a:rPr>
                        <a:t> </a:t>
                      </a:r>
                      <a:r>
                        <a:rPr lang="en-US" altLang="zh-CN" sz="2400" baseline="0" dirty="0">
                          <a:latin typeface="Comic Sans MS" pitchFamily="66" charset="0"/>
                        </a:rPr>
                        <a:t>  addl %ecx, (%eax)</a:t>
                      </a:r>
                      <a:endParaRPr lang="zh-CN" altLang="en-US" sz="2400" dirty="0">
                        <a:latin typeface="Comic Sans MS" pitchFamily="66" charset="0"/>
                      </a:endParaRPr>
                    </a:p>
                  </a:txBody>
                  <a:tcPr/>
                </a:tc>
                <a:tc>
                  <a:txBody>
                    <a:bodyPr/>
                    <a:lstStyle/>
                    <a:p>
                      <a:endParaRPr lang="zh-CN" altLang="en-US" sz="2400">
                        <a:latin typeface="Comic Sans MS" pitchFamily="66" charset="0"/>
                      </a:endParaRPr>
                    </a:p>
                  </a:txBody>
                  <a:tcPr/>
                </a:tc>
                <a:tc>
                  <a:txBody>
                    <a:bodyPr/>
                    <a:lstStyle/>
                    <a:p>
                      <a:endParaRPr lang="zh-CN" altLang="en-US" sz="2400">
                        <a:latin typeface="Comic Sans MS" pitchFamily="66" charset="0"/>
                      </a:endParaRPr>
                    </a:p>
                  </a:txBody>
                  <a:tcPr/>
                </a:tc>
                <a:extLst>
                  <a:ext uri="{0D108BD9-81ED-4DB2-BD59-A6C34878D82A}">
                    <a16:rowId xmlns:a16="http://schemas.microsoft.com/office/drawing/2014/main" val="10001"/>
                  </a:ext>
                </a:extLst>
              </a:tr>
              <a:tr h="608242">
                <a:tc>
                  <a:txBody>
                    <a:bodyPr/>
                    <a:lstStyle/>
                    <a:p>
                      <a:r>
                        <a:rPr lang="en-US" altLang="zh-CN" sz="2400" dirty="0">
                          <a:latin typeface="Comic Sans MS" pitchFamily="66" charset="0"/>
                        </a:rPr>
                        <a:t>   subl</a:t>
                      </a:r>
                      <a:r>
                        <a:rPr lang="en-US" altLang="zh-CN" sz="2400" baseline="0" dirty="0">
                          <a:latin typeface="Comic Sans MS" pitchFamily="66" charset="0"/>
                        </a:rPr>
                        <a:t> %edx, 4(%eax)</a:t>
                      </a:r>
                      <a:endParaRPr lang="zh-CN" altLang="en-US" sz="2400" dirty="0">
                        <a:latin typeface="Comic Sans MS" pitchFamily="66" charset="0"/>
                      </a:endParaRPr>
                    </a:p>
                  </a:txBody>
                  <a:tcPr/>
                </a:tc>
                <a:tc>
                  <a:txBody>
                    <a:bodyPr/>
                    <a:lstStyle/>
                    <a:p>
                      <a:endParaRPr lang="zh-CN" altLang="en-US" sz="2400">
                        <a:latin typeface="Comic Sans MS" pitchFamily="66" charset="0"/>
                      </a:endParaRPr>
                    </a:p>
                  </a:txBody>
                  <a:tcPr/>
                </a:tc>
                <a:tc>
                  <a:txBody>
                    <a:bodyPr/>
                    <a:lstStyle/>
                    <a:p>
                      <a:endParaRPr lang="zh-CN" altLang="en-US" sz="2400">
                        <a:latin typeface="Comic Sans MS" pitchFamily="66" charset="0"/>
                      </a:endParaRPr>
                    </a:p>
                  </a:txBody>
                  <a:tcPr/>
                </a:tc>
                <a:extLst>
                  <a:ext uri="{0D108BD9-81ED-4DB2-BD59-A6C34878D82A}">
                    <a16:rowId xmlns:a16="http://schemas.microsoft.com/office/drawing/2014/main" val="10002"/>
                  </a:ext>
                </a:extLst>
              </a:tr>
              <a:tr h="608242">
                <a:tc>
                  <a:txBody>
                    <a:bodyPr/>
                    <a:lstStyle/>
                    <a:p>
                      <a:r>
                        <a:rPr lang="en-US" altLang="zh-CN" sz="2400" dirty="0">
                          <a:latin typeface="Comic Sans MS" pitchFamily="66" charset="0"/>
                        </a:rPr>
                        <a:t>   imull $16, (%eax, %edx, 4)</a:t>
                      </a:r>
                      <a:endParaRPr lang="zh-CN" altLang="en-US" sz="2400" dirty="0">
                        <a:latin typeface="Comic Sans MS" pitchFamily="66" charset="0"/>
                      </a:endParaRPr>
                    </a:p>
                  </a:txBody>
                  <a:tcPr/>
                </a:tc>
                <a:tc>
                  <a:txBody>
                    <a:bodyPr/>
                    <a:lstStyle/>
                    <a:p>
                      <a:endParaRPr lang="zh-CN" altLang="en-US" sz="2400" dirty="0">
                        <a:latin typeface="Comic Sans MS" pitchFamily="66" charset="0"/>
                      </a:endParaRPr>
                    </a:p>
                  </a:txBody>
                  <a:tcPr/>
                </a:tc>
                <a:tc>
                  <a:txBody>
                    <a:bodyPr/>
                    <a:lstStyle/>
                    <a:p>
                      <a:endParaRPr lang="zh-CN" altLang="en-US" sz="2400">
                        <a:latin typeface="Comic Sans MS" pitchFamily="66" charset="0"/>
                      </a:endParaRPr>
                    </a:p>
                  </a:txBody>
                  <a:tcPr/>
                </a:tc>
                <a:extLst>
                  <a:ext uri="{0D108BD9-81ED-4DB2-BD59-A6C34878D82A}">
                    <a16:rowId xmlns:a16="http://schemas.microsoft.com/office/drawing/2014/main" val="10003"/>
                  </a:ext>
                </a:extLst>
              </a:tr>
              <a:tr h="608242">
                <a:tc>
                  <a:txBody>
                    <a:bodyPr/>
                    <a:lstStyle/>
                    <a:p>
                      <a:r>
                        <a:rPr lang="en-US" altLang="zh-CN" sz="2400" dirty="0">
                          <a:latin typeface="Comic Sans MS" pitchFamily="66" charset="0"/>
                        </a:rPr>
                        <a:t>   </a:t>
                      </a:r>
                      <a:r>
                        <a:rPr lang="en-US" altLang="zh-CN" sz="2400" dirty="0" err="1">
                          <a:latin typeface="Comic Sans MS" pitchFamily="66" charset="0"/>
                        </a:rPr>
                        <a:t>incl</a:t>
                      </a:r>
                      <a:r>
                        <a:rPr lang="en-US" altLang="zh-CN" sz="2400" dirty="0">
                          <a:latin typeface="Comic Sans MS" pitchFamily="66" charset="0"/>
                        </a:rPr>
                        <a:t> 8(%eax)</a:t>
                      </a:r>
                      <a:endParaRPr lang="zh-CN" altLang="en-US" sz="2400" dirty="0">
                        <a:latin typeface="Comic Sans MS" pitchFamily="66" charset="0"/>
                      </a:endParaRPr>
                    </a:p>
                  </a:txBody>
                  <a:tcPr/>
                </a:tc>
                <a:tc>
                  <a:txBody>
                    <a:bodyPr/>
                    <a:lstStyle/>
                    <a:p>
                      <a:endParaRPr lang="zh-CN" altLang="en-US" sz="2400" dirty="0">
                        <a:latin typeface="Comic Sans MS" pitchFamily="66" charset="0"/>
                      </a:endParaRPr>
                    </a:p>
                  </a:txBody>
                  <a:tcPr/>
                </a:tc>
                <a:tc>
                  <a:txBody>
                    <a:bodyPr/>
                    <a:lstStyle/>
                    <a:p>
                      <a:endParaRPr lang="zh-CN" altLang="en-US" sz="2400">
                        <a:latin typeface="Comic Sans MS" pitchFamily="66" charset="0"/>
                      </a:endParaRPr>
                    </a:p>
                  </a:txBody>
                  <a:tcPr/>
                </a:tc>
                <a:extLst>
                  <a:ext uri="{0D108BD9-81ED-4DB2-BD59-A6C34878D82A}">
                    <a16:rowId xmlns:a16="http://schemas.microsoft.com/office/drawing/2014/main" val="10004"/>
                  </a:ext>
                </a:extLst>
              </a:tr>
              <a:tr h="608242">
                <a:tc>
                  <a:txBody>
                    <a:bodyPr/>
                    <a:lstStyle/>
                    <a:p>
                      <a:r>
                        <a:rPr lang="en-US" altLang="zh-CN" sz="2400" dirty="0">
                          <a:latin typeface="Comic Sans MS" pitchFamily="66" charset="0"/>
                        </a:rPr>
                        <a:t>   decl %ecx</a:t>
                      </a:r>
                      <a:endParaRPr lang="zh-CN" altLang="en-US" sz="2400" dirty="0">
                        <a:latin typeface="Comic Sans MS" pitchFamily="66" charset="0"/>
                      </a:endParaRPr>
                    </a:p>
                  </a:txBody>
                  <a:tcPr/>
                </a:tc>
                <a:tc>
                  <a:txBody>
                    <a:bodyPr/>
                    <a:lstStyle/>
                    <a:p>
                      <a:endParaRPr lang="zh-CN" altLang="en-US" sz="2400" dirty="0">
                        <a:latin typeface="Comic Sans MS" pitchFamily="66" charset="0"/>
                      </a:endParaRPr>
                    </a:p>
                  </a:txBody>
                  <a:tcPr/>
                </a:tc>
                <a:tc>
                  <a:txBody>
                    <a:bodyPr/>
                    <a:lstStyle/>
                    <a:p>
                      <a:endParaRPr lang="zh-CN" altLang="en-US" sz="2400">
                        <a:latin typeface="Comic Sans MS" pitchFamily="66" charset="0"/>
                      </a:endParaRPr>
                    </a:p>
                  </a:txBody>
                  <a:tcPr/>
                </a:tc>
                <a:extLst>
                  <a:ext uri="{0D108BD9-81ED-4DB2-BD59-A6C34878D82A}">
                    <a16:rowId xmlns:a16="http://schemas.microsoft.com/office/drawing/2014/main" val="10005"/>
                  </a:ext>
                </a:extLst>
              </a:tr>
              <a:tr h="608242">
                <a:tc>
                  <a:txBody>
                    <a:bodyPr/>
                    <a:lstStyle/>
                    <a:p>
                      <a:r>
                        <a:rPr lang="en-US" altLang="zh-CN" sz="2400" dirty="0">
                          <a:latin typeface="Comic Sans MS" pitchFamily="66" charset="0"/>
                        </a:rPr>
                        <a:t>   subl %edx,</a:t>
                      </a:r>
                      <a:r>
                        <a:rPr lang="en-US" altLang="zh-CN" sz="2400" baseline="0" dirty="0">
                          <a:latin typeface="Comic Sans MS" pitchFamily="66" charset="0"/>
                        </a:rPr>
                        <a:t> %eax</a:t>
                      </a:r>
                      <a:endParaRPr lang="zh-CN" altLang="en-US" sz="2400" dirty="0">
                        <a:latin typeface="Comic Sans MS" pitchFamily="66" charset="0"/>
                      </a:endParaRPr>
                    </a:p>
                  </a:txBody>
                  <a:tcPr/>
                </a:tc>
                <a:tc>
                  <a:txBody>
                    <a:bodyPr/>
                    <a:lstStyle/>
                    <a:p>
                      <a:endParaRPr lang="zh-CN" altLang="en-US" sz="2400" dirty="0">
                        <a:latin typeface="Comic Sans MS" pitchFamily="66" charset="0"/>
                      </a:endParaRPr>
                    </a:p>
                  </a:txBody>
                  <a:tcPr/>
                </a:tc>
                <a:tc>
                  <a:txBody>
                    <a:bodyPr/>
                    <a:lstStyle/>
                    <a:p>
                      <a:endParaRPr lang="zh-CN" altLang="en-US" sz="2400" dirty="0">
                        <a:latin typeface="Comic Sans MS" pitchFamily="66" charset="0"/>
                      </a:endParaRPr>
                    </a:p>
                  </a:txBody>
                  <a:tcPr/>
                </a:tc>
                <a:extLst>
                  <a:ext uri="{0D108BD9-81ED-4DB2-BD59-A6C34878D82A}">
                    <a16:rowId xmlns:a16="http://schemas.microsoft.com/office/drawing/2014/main" val="10006"/>
                  </a:ext>
                </a:extLst>
              </a:tr>
            </a:tbl>
          </a:graphicData>
        </a:graphic>
      </p:graphicFrame>
      <p:sp>
        <p:nvSpPr>
          <p:cNvPr id="5" name="灯片编号占位符 4"/>
          <p:cNvSpPr>
            <a:spLocks noGrp="1"/>
          </p:cNvSpPr>
          <p:nvPr>
            <p:ph type="sldNum" sz="quarter" idx="12"/>
          </p:nvPr>
        </p:nvSpPr>
        <p:spPr/>
        <p:txBody>
          <a:bodyPr/>
          <a:lstStyle/>
          <a:p>
            <a:fld id="{0C913308-F349-4B6D-A68A-DD1791B4A57B}" type="slidenum">
              <a:rPr lang="zh-CN" altLang="en-US" smtClean="0"/>
              <a:pPr/>
              <a:t>9</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graphicFrame>
        <p:nvGraphicFramePr>
          <p:cNvPr id="16" name="表格 15"/>
          <p:cNvGraphicFramePr>
            <a:graphicFrameLocks noGrp="1"/>
          </p:cNvGraphicFramePr>
          <p:nvPr/>
        </p:nvGraphicFramePr>
        <p:xfrm>
          <a:off x="-32" y="-24"/>
          <a:ext cx="3071802" cy="1524000"/>
        </p:xfrm>
        <a:graphic>
          <a:graphicData uri="http://schemas.openxmlformats.org/drawingml/2006/table">
            <a:tbl>
              <a:tblPr firstRow="1" bandRow="1">
                <a:tableStyleId>{BC89EF96-8CEA-46FF-86C4-4CE0E7609802}</a:tableStyleId>
              </a:tblPr>
              <a:tblGrid>
                <a:gridCol w="1535901">
                  <a:extLst>
                    <a:ext uri="{9D8B030D-6E8A-4147-A177-3AD203B41FA5}">
                      <a16:colId xmlns:a16="http://schemas.microsoft.com/office/drawing/2014/main" val="20000"/>
                    </a:ext>
                  </a:extLst>
                </a:gridCol>
                <a:gridCol w="1535901">
                  <a:extLst>
                    <a:ext uri="{9D8B030D-6E8A-4147-A177-3AD203B41FA5}">
                      <a16:colId xmlns:a16="http://schemas.microsoft.com/office/drawing/2014/main" val="20001"/>
                    </a:ext>
                  </a:extLst>
                </a:gridCol>
              </a:tblGrid>
              <a:tr h="281939">
                <a:tc>
                  <a:txBody>
                    <a:bodyPr/>
                    <a:lstStyle/>
                    <a:p>
                      <a:r>
                        <a:rPr lang="en-US" altLang="zh-CN" sz="1400" dirty="0">
                          <a:latin typeface="Comic Sans MS" pitchFamily="66" charset="0"/>
                        </a:rPr>
                        <a:t>Address</a:t>
                      </a:r>
                      <a:endParaRPr lang="zh-CN" altLang="en-US" sz="1400" dirty="0">
                        <a:latin typeface="Comic Sans MS" pitchFamily="66" charset="0"/>
                      </a:endParaRPr>
                    </a:p>
                  </a:txBody>
                  <a:tcPr/>
                </a:tc>
                <a:tc>
                  <a:txBody>
                    <a:bodyPr/>
                    <a:lstStyle/>
                    <a:p>
                      <a:r>
                        <a:rPr lang="en-US" altLang="zh-CN" sz="1400" dirty="0">
                          <a:latin typeface="Comic Sans MS" pitchFamily="66" charset="0"/>
                        </a:rPr>
                        <a:t>Value</a:t>
                      </a:r>
                      <a:endParaRPr lang="zh-CN" altLang="en-US" sz="1400" dirty="0">
                        <a:latin typeface="Comic Sans MS" pitchFamily="66" charset="0"/>
                      </a:endParaRPr>
                    </a:p>
                  </a:txBody>
                  <a:tcPr/>
                </a:tc>
                <a:extLst>
                  <a:ext uri="{0D108BD9-81ED-4DB2-BD59-A6C34878D82A}">
                    <a16:rowId xmlns:a16="http://schemas.microsoft.com/office/drawing/2014/main" val="10000"/>
                  </a:ext>
                </a:extLst>
              </a:tr>
              <a:tr h="281939">
                <a:tc>
                  <a:txBody>
                    <a:bodyPr/>
                    <a:lstStyle/>
                    <a:p>
                      <a:r>
                        <a:rPr lang="en-US" altLang="zh-CN" sz="1400" dirty="0">
                          <a:latin typeface="Comic Sans MS" pitchFamily="66" charset="0"/>
                        </a:rPr>
                        <a:t>  0x100</a:t>
                      </a:r>
                      <a:endParaRPr lang="zh-CN" altLang="en-US" sz="1400" dirty="0">
                        <a:latin typeface="Comic Sans MS" pitchFamily="66" charset="0"/>
                      </a:endParaRPr>
                    </a:p>
                  </a:txBody>
                  <a:tcPr/>
                </a:tc>
                <a:tc>
                  <a:txBody>
                    <a:bodyPr/>
                    <a:lstStyle/>
                    <a:p>
                      <a:r>
                        <a:rPr lang="en-US" altLang="zh-CN" sz="1400" dirty="0">
                          <a:latin typeface="Comic Sans MS" pitchFamily="66" charset="0"/>
                        </a:rPr>
                        <a:t>  0xFF</a:t>
                      </a:r>
                      <a:endParaRPr lang="zh-CN" altLang="en-US" sz="1400" dirty="0">
                        <a:latin typeface="Comic Sans MS" pitchFamily="66" charset="0"/>
                      </a:endParaRPr>
                    </a:p>
                  </a:txBody>
                  <a:tcPr/>
                </a:tc>
                <a:extLst>
                  <a:ext uri="{0D108BD9-81ED-4DB2-BD59-A6C34878D82A}">
                    <a16:rowId xmlns:a16="http://schemas.microsoft.com/office/drawing/2014/main" val="10001"/>
                  </a:ext>
                </a:extLst>
              </a:tr>
              <a:tr h="281939">
                <a:tc>
                  <a:txBody>
                    <a:bodyPr/>
                    <a:lstStyle/>
                    <a:p>
                      <a:r>
                        <a:rPr lang="en-US" altLang="zh-CN" sz="1400" dirty="0">
                          <a:latin typeface="Comic Sans MS" pitchFamily="66" charset="0"/>
                        </a:rPr>
                        <a:t>  0x104</a:t>
                      </a:r>
                      <a:endParaRPr lang="zh-CN" altLang="en-US" sz="1400" dirty="0">
                        <a:latin typeface="Comic Sans MS" pitchFamily="66" charset="0"/>
                      </a:endParaRPr>
                    </a:p>
                  </a:txBody>
                  <a:tcPr/>
                </a:tc>
                <a:tc>
                  <a:txBody>
                    <a:bodyPr/>
                    <a:lstStyle/>
                    <a:p>
                      <a:r>
                        <a:rPr lang="en-US" altLang="zh-CN" sz="1400" dirty="0">
                          <a:latin typeface="Comic Sans MS" pitchFamily="66" charset="0"/>
                        </a:rPr>
                        <a:t>  0xAB</a:t>
                      </a:r>
                      <a:endParaRPr lang="zh-CN" altLang="en-US" sz="1400" dirty="0">
                        <a:latin typeface="Comic Sans MS" pitchFamily="66" charset="0"/>
                      </a:endParaRPr>
                    </a:p>
                  </a:txBody>
                  <a:tcPr/>
                </a:tc>
                <a:extLst>
                  <a:ext uri="{0D108BD9-81ED-4DB2-BD59-A6C34878D82A}">
                    <a16:rowId xmlns:a16="http://schemas.microsoft.com/office/drawing/2014/main" val="10002"/>
                  </a:ext>
                </a:extLst>
              </a:tr>
              <a:tr h="281939">
                <a:tc>
                  <a:txBody>
                    <a:bodyPr/>
                    <a:lstStyle/>
                    <a:p>
                      <a:r>
                        <a:rPr lang="en-US" altLang="zh-CN" sz="1400" dirty="0">
                          <a:latin typeface="Comic Sans MS" pitchFamily="66" charset="0"/>
                        </a:rPr>
                        <a:t>  0x108</a:t>
                      </a:r>
                      <a:endParaRPr lang="zh-CN" altLang="en-US" sz="1400" dirty="0">
                        <a:latin typeface="Comic Sans MS" pitchFamily="66" charset="0"/>
                      </a:endParaRPr>
                    </a:p>
                  </a:txBody>
                  <a:tcPr/>
                </a:tc>
                <a:tc>
                  <a:txBody>
                    <a:bodyPr/>
                    <a:lstStyle/>
                    <a:p>
                      <a:r>
                        <a:rPr lang="en-US" altLang="zh-CN" sz="1400" dirty="0">
                          <a:latin typeface="Comic Sans MS" pitchFamily="66" charset="0"/>
                        </a:rPr>
                        <a:t>  0x13</a:t>
                      </a:r>
                      <a:endParaRPr lang="zh-CN" altLang="en-US" sz="1400" dirty="0">
                        <a:latin typeface="Comic Sans MS" pitchFamily="66" charset="0"/>
                      </a:endParaRPr>
                    </a:p>
                  </a:txBody>
                  <a:tcPr/>
                </a:tc>
                <a:extLst>
                  <a:ext uri="{0D108BD9-81ED-4DB2-BD59-A6C34878D82A}">
                    <a16:rowId xmlns:a16="http://schemas.microsoft.com/office/drawing/2014/main" val="10003"/>
                  </a:ext>
                </a:extLst>
              </a:tr>
              <a:tr h="281939">
                <a:tc>
                  <a:txBody>
                    <a:bodyPr/>
                    <a:lstStyle/>
                    <a:p>
                      <a:r>
                        <a:rPr lang="en-US" altLang="zh-CN" sz="1400" dirty="0">
                          <a:latin typeface="Comic Sans MS" pitchFamily="66" charset="0"/>
                        </a:rPr>
                        <a:t>  0x10C</a:t>
                      </a:r>
                      <a:endParaRPr lang="zh-CN" altLang="en-US" sz="1400" dirty="0">
                        <a:latin typeface="Comic Sans MS" pitchFamily="66" charset="0"/>
                      </a:endParaRPr>
                    </a:p>
                  </a:txBody>
                  <a:tcPr/>
                </a:tc>
                <a:tc>
                  <a:txBody>
                    <a:bodyPr/>
                    <a:lstStyle/>
                    <a:p>
                      <a:r>
                        <a:rPr lang="en-US" altLang="zh-CN" sz="1400" dirty="0">
                          <a:latin typeface="Comic Sans MS" pitchFamily="66" charset="0"/>
                        </a:rPr>
                        <a:t>  0x11</a:t>
                      </a:r>
                      <a:endParaRPr lang="zh-CN" altLang="en-US" sz="1400" dirty="0">
                        <a:latin typeface="Comic Sans MS" pitchFamily="66" charset="0"/>
                      </a:endParaRPr>
                    </a:p>
                  </a:txBody>
                  <a:tcPr/>
                </a:tc>
                <a:extLst>
                  <a:ext uri="{0D108BD9-81ED-4DB2-BD59-A6C34878D82A}">
                    <a16:rowId xmlns:a16="http://schemas.microsoft.com/office/drawing/2014/main" val="10004"/>
                  </a:ext>
                </a:extLst>
              </a:tr>
            </a:tbl>
          </a:graphicData>
        </a:graphic>
      </p:graphicFrame>
      <p:graphicFrame>
        <p:nvGraphicFramePr>
          <p:cNvPr id="17" name="表格 16"/>
          <p:cNvGraphicFramePr>
            <a:graphicFrameLocks noGrp="1"/>
          </p:cNvGraphicFramePr>
          <p:nvPr/>
        </p:nvGraphicFramePr>
        <p:xfrm>
          <a:off x="5643570" y="66660"/>
          <a:ext cx="2928958" cy="1219200"/>
        </p:xfrm>
        <a:graphic>
          <a:graphicData uri="http://schemas.openxmlformats.org/drawingml/2006/table">
            <a:tbl>
              <a:tblPr firstRow="1" bandRow="1">
                <a:tableStyleId>{BC89EF96-8CEA-46FF-86C4-4CE0E7609802}</a:tableStyleId>
              </a:tblPr>
              <a:tblGrid>
                <a:gridCol w="1464479">
                  <a:extLst>
                    <a:ext uri="{9D8B030D-6E8A-4147-A177-3AD203B41FA5}">
                      <a16:colId xmlns:a16="http://schemas.microsoft.com/office/drawing/2014/main" val="20000"/>
                    </a:ext>
                  </a:extLst>
                </a:gridCol>
                <a:gridCol w="1464479">
                  <a:extLst>
                    <a:ext uri="{9D8B030D-6E8A-4147-A177-3AD203B41FA5}">
                      <a16:colId xmlns:a16="http://schemas.microsoft.com/office/drawing/2014/main" val="20001"/>
                    </a:ext>
                  </a:extLst>
                </a:gridCol>
              </a:tblGrid>
              <a:tr h="303606">
                <a:tc>
                  <a:txBody>
                    <a:bodyPr/>
                    <a:lstStyle/>
                    <a:p>
                      <a:r>
                        <a:rPr lang="en-US" altLang="zh-CN" sz="1400" dirty="0">
                          <a:latin typeface="Comic Sans MS" pitchFamily="66" charset="0"/>
                        </a:rPr>
                        <a:t>Register</a:t>
                      </a:r>
                      <a:endParaRPr lang="zh-CN" altLang="en-US" sz="1400" dirty="0">
                        <a:latin typeface="Comic Sans MS" pitchFamily="66" charset="0"/>
                      </a:endParaRPr>
                    </a:p>
                  </a:txBody>
                  <a:tcPr/>
                </a:tc>
                <a:tc>
                  <a:txBody>
                    <a:bodyPr/>
                    <a:lstStyle/>
                    <a:p>
                      <a:r>
                        <a:rPr lang="en-US" altLang="zh-CN" sz="1400" dirty="0">
                          <a:latin typeface="Comic Sans MS" pitchFamily="66" charset="0"/>
                        </a:rPr>
                        <a:t>Value</a:t>
                      </a:r>
                      <a:endParaRPr lang="zh-CN" altLang="en-US" sz="1400" dirty="0">
                        <a:latin typeface="Comic Sans MS" pitchFamily="66" charset="0"/>
                      </a:endParaRPr>
                    </a:p>
                  </a:txBody>
                  <a:tcPr/>
                </a:tc>
                <a:extLst>
                  <a:ext uri="{0D108BD9-81ED-4DB2-BD59-A6C34878D82A}">
                    <a16:rowId xmlns:a16="http://schemas.microsoft.com/office/drawing/2014/main" val="10000"/>
                  </a:ext>
                </a:extLst>
              </a:tr>
              <a:tr h="303606">
                <a:tc>
                  <a:txBody>
                    <a:bodyPr/>
                    <a:lstStyle/>
                    <a:p>
                      <a:r>
                        <a:rPr lang="en-US" altLang="zh-CN" sz="1400" dirty="0">
                          <a:latin typeface="Comic Sans MS" pitchFamily="66" charset="0"/>
                        </a:rPr>
                        <a:t>  %eax</a:t>
                      </a:r>
                      <a:endParaRPr lang="zh-CN" altLang="en-US" sz="1400" dirty="0">
                        <a:latin typeface="Comic Sans MS" pitchFamily="66" charset="0"/>
                      </a:endParaRPr>
                    </a:p>
                  </a:txBody>
                  <a:tcPr/>
                </a:tc>
                <a:tc>
                  <a:txBody>
                    <a:bodyPr/>
                    <a:lstStyle/>
                    <a:p>
                      <a:r>
                        <a:rPr lang="en-US" altLang="zh-CN" sz="1400" dirty="0">
                          <a:latin typeface="Comic Sans MS" pitchFamily="66" charset="0"/>
                        </a:rPr>
                        <a:t>  0x100</a:t>
                      </a:r>
                      <a:endParaRPr lang="zh-CN" altLang="en-US" sz="1400" dirty="0">
                        <a:latin typeface="Comic Sans MS" pitchFamily="66" charset="0"/>
                      </a:endParaRPr>
                    </a:p>
                  </a:txBody>
                  <a:tcPr/>
                </a:tc>
                <a:extLst>
                  <a:ext uri="{0D108BD9-81ED-4DB2-BD59-A6C34878D82A}">
                    <a16:rowId xmlns:a16="http://schemas.microsoft.com/office/drawing/2014/main" val="10001"/>
                  </a:ext>
                </a:extLst>
              </a:tr>
              <a:tr h="303606">
                <a:tc>
                  <a:txBody>
                    <a:bodyPr/>
                    <a:lstStyle/>
                    <a:p>
                      <a:r>
                        <a:rPr lang="en-US" altLang="zh-CN" sz="1400" dirty="0">
                          <a:latin typeface="Comic Sans MS" pitchFamily="66" charset="0"/>
                        </a:rPr>
                        <a:t>  %ecx</a:t>
                      </a:r>
                      <a:endParaRPr lang="zh-CN" altLang="en-US" sz="1400" dirty="0">
                        <a:latin typeface="Comic Sans MS" pitchFamily="66" charset="0"/>
                      </a:endParaRPr>
                    </a:p>
                  </a:txBody>
                  <a:tcPr/>
                </a:tc>
                <a:tc>
                  <a:txBody>
                    <a:bodyPr/>
                    <a:lstStyle/>
                    <a:p>
                      <a:r>
                        <a:rPr lang="en-US" altLang="zh-CN" sz="1400" dirty="0">
                          <a:latin typeface="Comic Sans MS" pitchFamily="66" charset="0"/>
                        </a:rPr>
                        <a:t>  0x1</a:t>
                      </a:r>
                      <a:endParaRPr lang="zh-CN" altLang="en-US" sz="1400" dirty="0">
                        <a:latin typeface="Comic Sans MS" pitchFamily="66" charset="0"/>
                      </a:endParaRPr>
                    </a:p>
                  </a:txBody>
                  <a:tcPr/>
                </a:tc>
                <a:extLst>
                  <a:ext uri="{0D108BD9-81ED-4DB2-BD59-A6C34878D82A}">
                    <a16:rowId xmlns:a16="http://schemas.microsoft.com/office/drawing/2014/main" val="10002"/>
                  </a:ext>
                </a:extLst>
              </a:tr>
              <a:tr h="303606">
                <a:tc>
                  <a:txBody>
                    <a:bodyPr/>
                    <a:lstStyle/>
                    <a:p>
                      <a:r>
                        <a:rPr lang="en-US" altLang="zh-CN" sz="1400" dirty="0">
                          <a:latin typeface="Comic Sans MS" pitchFamily="66" charset="0"/>
                        </a:rPr>
                        <a:t>  %edx</a:t>
                      </a:r>
                      <a:endParaRPr lang="zh-CN" altLang="en-US" sz="1400" dirty="0">
                        <a:latin typeface="Comic Sans MS" pitchFamily="66" charset="0"/>
                      </a:endParaRPr>
                    </a:p>
                  </a:txBody>
                  <a:tcPr/>
                </a:tc>
                <a:tc>
                  <a:txBody>
                    <a:bodyPr/>
                    <a:lstStyle/>
                    <a:p>
                      <a:r>
                        <a:rPr lang="en-US" altLang="zh-CN" sz="1400" dirty="0">
                          <a:latin typeface="Comic Sans MS" pitchFamily="66" charset="0"/>
                        </a:rPr>
                        <a:t>  0x3</a:t>
                      </a:r>
                      <a:endParaRPr lang="zh-CN" altLang="en-US" sz="1400" dirty="0">
                        <a:latin typeface="Comic Sans MS" pitchFamily="66" charset="0"/>
                      </a:endParaRPr>
                    </a:p>
                  </a:txBody>
                  <a:tcPr/>
                </a:tc>
                <a:extLst>
                  <a:ext uri="{0D108BD9-81ED-4DB2-BD59-A6C34878D82A}">
                    <a16:rowId xmlns:a16="http://schemas.microsoft.com/office/drawing/2014/main" val="10003"/>
                  </a:ext>
                </a:extLst>
              </a:tr>
            </a:tbl>
          </a:graphicData>
        </a:graphic>
      </p:graphicFrame>
      <p:sp>
        <p:nvSpPr>
          <p:cNvPr id="18" name="云形标注 17"/>
          <p:cNvSpPr/>
          <p:nvPr/>
        </p:nvSpPr>
        <p:spPr>
          <a:xfrm>
            <a:off x="500034" y="2143116"/>
            <a:ext cx="4000528" cy="1214446"/>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0x11 * 16(</a:t>
            </a:r>
            <a:r>
              <a:rPr lang="en-US" altLang="zh-CN" sz="2000" dirty="0" err="1">
                <a:solidFill>
                  <a:srgbClr val="FF0000"/>
                </a:solidFill>
                <a:latin typeface="Comic Sans MS" pitchFamily="66" charset="0"/>
              </a:rPr>
              <a:t>dec</a:t>
            </a:r>
            <a:r>
              <a:rPr lang="en-US" altLang="zh-CN" sz="2000" dirty="0">
                <a:solidFill>
                  <a:srgbClr val="FF0000"/>
                </a:solidFill>
                <a:latin typeface="Comic Sans MS" pitchFamily="66" charset="0"/>
              </a:rPr>
              <a:t>)= (16+1) * 16 = 256 + 16 = 0x 110</a:t>
            </a:r>
            <a:endParaRPr lang="zh-CN" altLang="en-US" sz="2000" dirty="0">
              <a:solidFill>
                <a:srgbClr val="FF0000"/>
              </a:solidFill>
              <a:latin typeface="Comic Sans MS" pitchFamily="66"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ox(i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ox(in)">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box(in)">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box(in)">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box(in)">
                                      <p:cBhvr>
                                        <p:cTn id="3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animBg="1"/>
      <p:bldP spid="12" grpId="0" animBg="1"/>
      <p:bldP spid="11" grpId="0" animBg="1"/>
      <p:bldP spid="10" grpId="0" animBg="1"/>
      <p:bldP spid="9" grpId="0" animBg="1"/>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70C0"/>
                </a:solidFill>
                <a:latin typeface="Comic Sans MS" pitchFamily="66" charset="0"/>
              </a:rPr>
              <a:t>Problem 3.5 </a:t>
            </a:r>
            <a:r>
              <a:rPr lang="en-US" altLang="zh-CN" dirty="0">
                <a:latin typeface="Comic Sans MS" pitchFamily="66" charset="0"/>
              </a:rPr>
              <a:t>(P145)</a:t>
            </a:r>
            <a:endParaRPr lang="zh-CN" altLang="en-US" dirty="0">
              <a:latin typeface="Comic Sans MS" pitchFamily="66" charset="0"/>
            </a:endParaRPr>
          </a:p>
        </p:txBody>
      </p:sp>
      <p:sp>
        <p:nvSpPr>
          <p:cNvPr id="3" name="内容占位符 2"/>
          <p:cNvSpPr>
            <a:spLocks noGrp="1"/>
          </p:cNvSpPr>
          <p:nvPr>
            <p:ph idx="1"/>
          </p:nvPr>
        </p:nvSpPr>
        <p:spPr/>
        <p:txBody>
          <a:bodyPr>
            <a:normAutofit lnSpcReduction="10000"/>
          </a:bodyPr>
          <a:lstStyle/>
          <a:p>
            <a:r>
              <a:rPr lang="en-US" altLang="zh-CN" dirty="0">
                <a:latin typeface="Comic Sans MS" pitchFamily="66" charset="0"/>
              </a:rPr>
              <a:t>Suppose we want to generate assembly code for the following C Function:</a:t>
            </a:r>
          </a:p>
          <a:p>
            <a:pPr>
              <a:buNone/>
            </a:pPr>
            <a:r>
              <a:rPr lang="en-US" altLang="zh-CN" dirty="0">
                <a:latin typeface="Comic Sans MS" pitchFamily="66" charset="0"/>
              </a:rPr>
              <a:t>   </a:t>
            </a:r>
            <a:r>
              <a:rPr lang="en-US" altLang="zh-CN" dirty="0">
                <a:solidFill>
                  <a:srgbClr val="00B050"/>
                </a:solidFill>
                <a:latin typeface="Comic Sans MS" pitchFamily="66" charset="0"/>
              </a:rPr>
              <a:t>int shift_left2_rightn(int x, int n)</a:t>
            </a:r>
          </a:p>
          <a:p>
            <a:pPr>
              <a:buNone/>
            </a:pPr>
            <a:r>
              <a:rPr lang="en-US" altLang="zh-CN" dirty="0">
                <a:latin typeface="Comic Sans MS" pitchFamily="66" charset="0"/>
              </a:rPr>
              <a:t>  {</a:t>
            </a:r>
          </a:p>
          <a:p>
            <a:pPr>
              <a:buNone/>
            </a:pPr>
            <a:r>
              <a:rPr lang="en-US" altLang="zh-CN" dirty="0">
                <a:latin typeface="Comic Sans MS" pitchFamily="66" charset="0"/>
              </a:rPr>
              <a:t>     x &lt;&lt;= 2;</a:t>
            </a:r>
          </a:p>
          <a:p>
            <a:pPr>
              <a:buNone/>
            </a:pPr>
            <a:r>
              <a:rPr lang="en-US" altLang="zh-CN" dirty="0">
                <a:latin typeface="Comic Sans MS" pitchFamily="66" charset="0"/>
              </a:rPr>
              <a:t>     x &gt;&gt;= n;</a:t>
            </a:r>
          </a:p>
          <a:p>
            <a:pPr>
              <a:buNone/>
            </a:pPr>
            <a:r>
              <a:rPr lang="en-US" altLang="zh-CN" dirty="0">
                <a:latin typeface="Comic Sans MS" pitchFamily="66" charset="0"/>
              </a:rPr>
              <a:t>     return x;</a:t>
            </a:r>
          </a:p>
          <a:p>
            <a:pPr>
              <a:buNone/>
            </a:pPr>
            <a:r>
              <a:rPr lang="en-US" altLang="zh-CN" dirty="0">
                <a:latin typeface="Comic Sans MS" pitchFamily="66" charset="0"/>
              </a:rPr>
              <a:t> }</a:t>
            </a:r>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10</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928662" y="4643446"/>
            <a:ext cx="3714776"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dirty="0">
                <a:solidFill>
                  <a:srgbClr val="FF0000"/>
                </a:solidFill>
                <a:latin typeface="Comic Sans MS" pitchFamily="66" charset="0"/>
              </a:rPr>
              <a:t> subl  %</a:t>
            </a:r>
            <a:r>
              <a:rPr lang="en-US" altLang="zh-CN" sz="3200" dirty="0" err="1">
                <a:solidFill>
                  <a:srgbClr val="FF0000"/>
                </a:solidFill>
                <a:latin typeface="Comic Sans MS" pitchFamily="66" charset="0"/>
              </a:rPr>
              <a:t>cl</a:t>
            </a:r>
            <a:r>
              <a:rPr lang="en-US" altLang="zh-CN" sz="3200" dirty="0">
                <a:solidFill>
                  <a:srgbClr val="FF0000"/>
                </a:solidFill>
                <a:latin typeface="Comic Sans MS" pitchFamily="66" charset="0"/>
              </a:rPr>
              <a:t>, %eax</a:t>
            </a:r>
            <a:endParaRPr lang="zh-CN" altLang="en-US" sz="3200" dirty="0">
              <a:solidFill>
                <a:srgbClr val="FF0000"/>
              </a:solidFill>
              <a:latin typeface="Comic Sans MS" pitchFamily="66" charset="0"/>
            </a:endParaRPr>
          </a:p>
        </p:txBody>
      </p:sp>
      <p:sp>
        <p:nvSpPr>
          <p:cNvPr id="7" name="矩形 6"/>
          <p:cNvSpPr/>
          <p:nvPr/>
        </p:nvSpPr>
        <p:spPr>
          <a:xfrm>
            <a:off x="1000100" y="4071942"/>
            <a:ext cx="3714776"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3200" dirty="0">
                <a:solidFill>
                  <a:srgbClr val="FF0000"/>
                </a:solidFill>
                <a:latin typeface="Comic Sans MS" pitchFamily="66" charset="0"/>
              </a:rPr>
              <a:t> sall  $2, %eax</a:t>
            </a:r>
            <a:endParaRPr lang="zh-CN" altLang="en-US" sz="3200" dirty="0">
              <a:solidFill>
                <a:srgbClr val="FF0000"/>
              </a:solidFill>
              <a:latin typeface="Comic Sans MS" pitchFamily="66" charset="0"/>
            </a:endParaRPr>
          </a:p>
        </p:txBody>
      </p:sp>
      <p:sp>
        <p:nvSpPr>
          <p:cNvPr id="2" name="标题 1"/>
          <p:cNvSpPr>
            <a:spLocks noGrp="1"/>
          </p:cNvSpPr>
          <p:nvPr>
            <p:ph type="title"/>
          </p:nvPr>
        </p:nvSpPr>
        <p:spPr/>
        <p:txBody>
          <a:bodyPr/>
          <a:lstStyle/>
          <a:p>
            <a:r>
              <a:rPr lang="en-US" altLang="zh-CN" dirty="0">
                <a:latin typeface="Comic Sans MS" pitchFamily="66" charset="0"/>
              </a:rPr>
              <a:t>Problem 3.5+</a:t>
            </a:r>
            <a:endParaRPr lang="zh-CN" altLang="en-US" dirty="0">
              <a:latin typeface="Comic Sans MS" pitchFamily="66" charset="0"/>
            </a:endParaRPr>
          </a:p>
        </p:txBody>
      </p:sp>
      <p:sp>
        <p:nvSpPr>
          <p:cNvPr id="3" name="内容占位符 2"/>
          <p:cNvSpPr>
            <a:spLocks noGrp="1"/>
          </p:cNvSpPr>
          <p:nvPr>
            <p:ph idx="1"/>
          </p:nvPr>
        </p:nvSpPr>
        <p:spPr>
          <a:xfrm>
            <a:off x="214282" y="1214422"/>
            <a:ext cx="8643998" cy="5143536"/>
          </a:xfrm>
        </p:spPr>
        <p:txBody>
          <a:bodyPr>
            <a:normAutofit lnSpcReduction="10000"/>
          </a:bodyPr>
          <a:lstStyle/>
          <a:p>
            <a:r>
              <a:rPr lang="en-US" altLang="zh-CN" dirty="0">
                <a:latin typeface="Comic Sans MS" pitchFamily="66" charset="0"/>
              </a:rPr>
              <a:t>Parameters x and n are stored at memory locations with offsets 8 and 12, respectively, relative to the address in register %ebp.</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1</a:t>
            </a:r>
            <a:r>
              <a:rPr lang="en-US" altLang="zh-CN" dirty="0">
                <a:latin typeface="Comic Sans MS" pitchFamily="66" charset="0"/>
              </a:rPr>
              <a:t> movl 12(%ebp), %ecx      </a:t>
            </a:r>
            <a:r>
              <a:rPr lang="en-US" altLang="zh-CN" dirty="0">
                <a:solidFill>
                  <a:schemeClr val="bg1">
                    <a:lumMod val="65000"/>
                  </a:schemeClr>
                </a:solidFill>
                <a:latin typeface="Comic Sans MS" pitchFamily="66" charset="0"/>
              </a:rPr>
              <a:t>Get n</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2</a:t>
            </a:r>
            <a:r>
              <a:rPr lang="en-US" altLang="zh-CN" dirty="0">
                <a:latin typeface="Comic Sans MS" pitchFamily="66" charset="0"/>
              </a:rPr>
              <a:t> movl 8(%ebp), %eax       </a:t>
            </a:r>
            <a:r>
              <a:rPr lang="en-US" altLang="zh-CN" dirty="0">
                <a:solidFill>
                  <a:schemeClr val="bg1">
                    <a:lumMod val="65000"/>
                  </a:schemeClr>
                </a:solidFill>
                <a:latin typeface="Comic Sans MS" pitchFamily="66" charset="0"/>
              </a:rPr>
              <a:t>Get x</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 3 </a:t>
            </a:r>
            <a:r>
              <a:rPr lang="en-US" altLang="zh-CN" dirty="0">
                <a:latin typeface="Comic Sans MS" pitchFamily="66" charset="0"/>
              </a:rPr>
              <a:t>______________        </a:t>
            </a:r>
            <a:r>
              <a:rPr lang="en-US" altLang="zh-CN" dirty="0">
                <a:solidFill>
                  <a:schemeClr val="bg1">
                    <a:lumMod val="65000"/>
                  </a:schemeClr>
                </a:solidFill>
                <a:latin typeface="Comic Sans MS" pitchFamily="66" charset="0"/>
              </a:rPr>
              <a:t>x &lt;&lt;= 2</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4</a:t>
            </a:r>
            <a:r>
              <a:rPr lang="en-US" altLang="zh-CN" dirty="0">
                <a:latin typeface="Comic Sans MS" pitchFamily="66" charset="0"/>
              </a:rPr>
              <a:t> ______________        </a:t>
            </a:r>
            <a:r>
              <a:rPr lang="en-US" altLang="zh-CN" dirty="0">
                <a:solidFill>
                  <a:schemeClr val="bg1">
                    <a:lumMod val="65000"/>
                  </a:schemeClr>
                </a:solidFill>
                <a:latin typeface="Comic Sans MS" pitchFamily="66" charset="0"/>
              </a:rPr>
              <a:t>x &gt;&gt;= n</a:t>
            </a:r>
          </a:p>
          <a:p>
            <a:r>
              <a:rPr lang="en-US" altLang="zh-CN" dirty="0">
                <a:latin typeface="Comic Sans MS" pitchFamily="66" charset="0"/>
              </a:rPr>
              <a:t>Note: the right shift should be performed arithmetically.</a:t>
            </a:r>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11</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
        <p:nvSpPr>
          <p:cNvPr id="10" name="云形标注 9"/>
          <p:cNvSpPr/>
          <p:nvPr/>
        </p:nvSpPr>
        <p:spPr>
          <a:xfrm>
            <a:off x="1571604" y="3357562"/>
            <a:ext cx="4071966" cy="1214446"/>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0070C0"/>
                </a:solidFill>
                <a:latin typeface="Comic Sans MS" pitchFamily="66" charset="0"/>
              </a:rPr>
              <a:t>%ecx ? Shifts amounts between 0 and 31 are allowed</a:t>
            </a:r>
            <a:endParaRPr lang="zh-CN" altLang="en-US" sz="2000" dirty="0">
              <a:solidFill>
                <a:srgbClr val="0070C0"/>
              </a:solidFill>
              <a:latin typeface="Comic Sans MS" pitchFamily="66"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70C0"/>
                </a:solidFill>
                <a:latin typeface="Comic Sans MS" pitchFamily="66" charset="0"/>
              </a:rPr>
              <a:t>Problem 3.6 </a:t>
            </a:r>
            <a:r>
              <a:rPr lang="en-US" altLang="zh-CN" dirty="0">
                <a:latin typeface="Comic Sans MS" pitchFamily="66" charset="0"/>
              </a:rPr>
              <a:t>(P147)</a:t>
            </a:r>
            <a:endParaRPr lang="zh-CN" altLang="en-US" dirty="0">
              <a:latin typeface="Comic Sans MS" pitchFamily="66" charset="0"/>
            </a:endParaRPr>
          </a:p>
        </p:txBody>
      </p:sp>
      <p:sp>
        <p:nvSpPr>
          <p:cNvPr id="3" name="内容占位符 2"/>
          <p:cNvSpPr>
            <a:spLocks noGrp="1"/>
          </p:cNvSpPr>
          <p:nvPr>
            <p:ph idx="1"/>
          </p:nvPr>
        </p:nvSpPr>
        <p:spPr>
          <a:xfrm>
            <a:off x="457200" y="1428736"/>
            <a:ext cx="8229600" cy="4697427"/>
          </a:xfrm>
        </p:spPr>
        <p:txBody>
          <a:bodyPr>
            <a:normAutofit fontScale="92500" lnSpcReduction="10000"/>
          </a:bodyPr>
          <a:lstStyle/>
          <a:p>
            <a:pPr>
              <a:buNone/>
            </a:pPr>
            <a:r>
              <a:rPr lang="en-US" altLang="zh-CN" dirty="0">
                <a:latin typeface="Comic Sans MS" pitchFamily="66" charset="0"/>
              </a:rPr>
              <a:t>  In the compilation of the loop</a:t>
            </a:r>
          </a:p>
          <a:p>
            <a:pPr>
              <a:buNone/>
            </a:pPr>
            <a:r>
              <a:rPr lang="en-US" altLang="zh-CN" dirty="0">
                <a:latin typeface="Comic Sans MS" pitchFamily="66" charset="0"/>
              </a:rPr>
              <a:t>  for (i = 0; i &lt; n; i++)</a:t>
            </a:r>
          </a:p>
          <a:p>
            <a:pPr>
              <a:buNone/>
            </a:pPr>
            <a:r>
              <a:rPr lang="en-US" altLang="zh-CN" dirty="0">
                <a:latin typeface="Comic Sans MS" pitchFamily="66" charset="0"/>
              </a:rPr>
              <a:t>      v += i;</a:t>
            </a:r>
          </a:p>
          <a:p>
            <a:pPr>
              <a:buNone/>
            </a:pPr>
            <a:r>
              <a:rPr lang="en-US" altLang="zh-CN" dirty="0">
                <a:latin typeface="Comic Sans MS" pitchFamily="66" charset="0"/>
              </a:rPr>
              <a:t>  we find the following assembly code line:</a:t>
            </a:r>
          </a:p>
          <a:p>
            <a:pPr>
              <a:buNone/>
            </a:pPr>
            <a:r>
              <a:rPr lang="en-US" altLang="zh-CN" dirty="0">
                <a:latin typeface="Comic Sans MS" pitchFamily="66" charset="0"/>
              </a:rPr>
              <a:t>  </a:t>
            </a:r>
            <a:r>
              <a:rPr lang="en-US" altLang="zh-CN" dirty="0">
                <a:solidFill>
                  <a:srgbClr val="00B050"/>
                </a:solidFill>
                <a:latin typeface="Comic Sans MS" pitchFamily="66" charset="0"/>
              </a:rPr>
              <a:t>xorl %edx, %edx</a:t>
            </a:r>
          </a:p>
          <a:p>
            <a:pPr>
              <a:buNone/>
            </a:pPr>
            <a:r>
              <a:rPr lang="en-US" altLang="zh-CN" dirty="0">
                <a:latin typeface="Comic Sans MS" pitchFamily="66" charset="0"/>
              </a:rPr>
              <a:t>  Explain why this instruction would be there, even though there are no EXCLUSIVE-OR operators in our C code. What operation in the C program does this instruction implement ?</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12</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
        <p:nvSpPr>
          <p:cNvPr id="7" name="云形标注 6"/>
          <p:cNvSpPr/>
          <p:nvPr/>
        </p:nvSpPr>
        <p:spPr>
          <a:xfrm>
            <a:off x="1571604" y="2571744"/>
            <a:ext cx="7286676" cy="2928958"/>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FF0000"/>
                </a:solidFill>
                <a:latin typeface="Comic Sans MS" pitchFamily="66" charset="0"/>
              </a:rPr>
              <a:t>To set register %edx to 0, exploiting the program that x^x =0 for any x. It corresponds to the C statement i = 0.</a:t>
            </a:r>
            <a:endParaRPr lang="zh-CN" altLang="en-US" sz="2800" dirty="0">
              <a:solidFill>
                <a:srgbClr val="FF0000"/>
              </a:solidFill>
              <a:latin typeface="Comic Sans MS" pitchFamily="66"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amond(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3500430" y="3071810"/>
            <a:ext cx="714380" cy="3571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FF0000"/>
                </a:solidFill>
                <a:latin typeface="Comic Sans MS" pitchFamily="66" charset="0"/>
              </a:rPr>
              <a:t>&lt;</a:t>
            </a:r>
            <a:endParaRPr lang="zh-CN" altLang="en-US" sz="2800" dirty="0">
              <a:solidFill>
                <a:srgbClr val="FF0000"/>
              </a:solidFill>
              <a:latin typeface="Comic Sans MS" pitchFamily="66" charset="0"/>
            </a:endParaRPr>
          </a:p>
        </p:txBody>
      </p:sp>
      <p:sp>
        <p:nvSpPr>
          <p:cNvPr id="11" name="矩形 10"/>
          <p:cNvSpPr/>
          <p:nvPr/>
        </p:nvSpPr>
        <p:spPr>
          <a:xfrm>
            <a:off x="4286248" y="4714884"/>
            <a:ext cx="714380" cy="3571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FF0000"/>
                </a:solidFill>
                <a:latin typeface="Comic Sans MS" pitchFamily="66" charset="0"/>
              </a:rPr>
              <a:t>&gt;</a:t>
            </a:r>
            <a:endParaRPr lang="zh-CN" altLang="en-US" sz="2800" dirty="0">
              <a:solidFill>
                <a:srgbClr val="FF0000"/>
              </a:solidFill>
              <a:latin typeface="Comic Sans MS" pitchFamily="66" charset="0"/>
            </a:endParaRPr>
          </a:p>
        </p:txBody>
      </p:sp>
      <p:sp>
        <p:nvSpPr>
          <p:cNvPr id="12" name="矩形 11"/>
          <p:cNvSpPr/>
          <p:nvPr/>
        </p:nvSpPr>
        <p:spPr>
          <a:xfrm>
            <a:off x="3428992" y="5143512"/>
            <a:ext cx="714380" cy="3571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FF0000"/>
                </a:solidFill>
                <a:latin typeface="Comic Sans MS" pitchFamily="66" charset="0"/>
              </a:rPr>
              <a:t>&gt;</a:t>
            </a:r>
            <a:endParaRPr lang="zh-CN" altLang="en-US" sz="2800" dirty="0">
              <a:solidFill>
                <a:srgbClr val="FF0000"/>
              </a:solidFill>
              <a:latin typeface="Comic Sans MS" pitchFamily="66" charset="0"/>
            </a:endParaRPr>
          </a:p>
        </p:txBody>
      </p:sp>
      <p:sp>
        <p:nvSpPr>
          <p:cNvPr id="9" name="矩形 8"/>
          <p:cNvSpPr/>
          <p:nvPr/>
        </p:nvSpPr>
        <p:spPr>
          <a:xfrm>
            <a:off x="3009888" y="3857628"/>
            <a:ext cx="3848128"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dirty="0">
                <a:solidFill>
                  <a:srgbClr val="FF0000"/>
                </a:solidFill>
                <a:latin typeface="Comic Sans MS" pitchFamily="66" charset="0"/>
              </a:rPr>
              <a:t> short       &gt;=   short</a:t>
            </a:r>
            <a:endParaRPr lang="zh-CN" altLang="en-US" sz="2800" dirty="0">
              <a:solidFill>
                <a:srgbClr val="FF0000"/>
              </a:solidFill>
              <a:latin typeface="Comic Sans MS" pitchFamily="66" charset="0"/>
            </a:endParaRPr>
          </a:p>
        </p:txBody>
      </p:sp>
      <p:sp>
        <p:nvSpPr>
          <p:cNvPr id="10" name="矩形 9"/>
          <p:cNvSpPr/>
          <p:nvPr/>
        </p:nvSpPr>
        <p:spPr>
          <a:xfrm>
            <a:off x="3081326" y="4286256"/>
            <a:ext cx="3848128"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dirty="0">
                <a:solidFill>
                  <a:srgbClr val="FF0000"/>
                </a:solidFill>
                <a:latin typeface="Comic Sans MS" pitchFamily="66" charset="0"/>
              </a:rPr>
              <a:t> char        !=    char</a:t>
            </a:r>
            <a:endParaRPr lang="zh-CN" altLang="en-US" sz="2800" dirty="0">
              <a:solidFill>
                <a:srgbClr val="FF0000"/>
              </a:solidFill>
              <a:latin typeface="Comic Sans MS" pitchFamily="66" charset="0"/>
            </a:endParaRPr>
          </a:p>
        </p:txBody>
      </p:sp>
      <p:sp>
        <p:nvSpPr>
          <p:cNvPr id="8" name="矩形 7"/>
          <p:cNvSpPr/>
          <p:nvPr/>
        </p:nvSpPr>
        <p:spPr>
          <a:xfrm>
            <a:off x="3428992" y="3500438"/>
            <a:ext cx="2786082"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dirty="0">
                <a:solidFill>
                  <a:srgbClr val="FF0000"/>
                </a:solidFill>
                <a:latin typeface="Comic Sans MS" pitchFamily="66" charset="0"/>
              </a:rPr>
              <a:t>  &lt;    unsigned</a:t>
            </a:r>
            <a:endParaRPr lang="zh-CN" altLang="en-US" sz="2800" dirty="0">
              <a:solidFill>
                <a:srgbClr val="FF0000"/>
              </a:solidFill>
              <a:latin typeface="Comic Sans MS" pitchFamily="66" charset="0"/>
            </a:endParaRPr>
          </a:p>
        </p:txBody>
      </p:sp>
      <p:sp>
        <p:nvSpPr>
          <p:cNvPr id="2" name="标题 1"/>
          <p:cNvSpPr>
            <a:spLocks noGrp="1"/>
          </p:cNvSpPr>
          <p:nvPr>
            <p:ph type="title"/>
          </p:nvPr>
        </p:nvSpPr>
        <p:spPr>
          <a:xfrm>
            <a:off x="500034" y="214290"/>
            <a:ext cx="8229600" cy="1143000"/>
          </a:xfrm>
        </p:spPr>
        <p:txBody>
          <a:bodyPr/>
          <a:lstStyle/>
          <a:p>
            <a:r>
              <a:rPr lang="en-US" altLang="zh-CN" dirty="0">
                <a:solidFill>
                  <a:srgbClr val="0070C0"/>
                </a:solidFill>
                <a:latin typeface="Comic Sans MS" pitchFamily="66" charset="0"/>
              </a:rPr>
              <a:t>Problem 3.7 </a:t>
            </a:r>
            <a:r>
              <a:rPr lang="en-US" altLang="zh-CN" dirty="0">
                <a:latin typeface="Comic Sans MS" pitchFamily="66" charset="0"/>
              </a:rPr>
              <a:t>(P151)</a:t>
            </a:r>
            <a:endParaRPr lang="zh-CN" altLang="en-US" dirty="0">
              <a:latin typeface="Comic Sans MS" pitchFamily="66" charset="0"/>
            </a:endParaRPr>
          </a:p>
        </p:txBody>
      </p:sp>
      <p:sp>
        <p:nvSpPr>
          <p:cNvPr id="3" name="内容占位符 2"/>
          <p:cNvSpPr>
            <a:spLocks noGrp="1"/>
          </p:cNvSpPr>
          <p:nvPr>
            <p:ph idx="1"/>
          </p:nvPr>
        </p:nvSpPr>
        <p:spPr>
          <a:xfrm>
            <a:off x="457200" y="1214422"/>
            <a:ext cx="8229600" cy="5214974"/>
          </a:xfrm>
        </p:spPr>
        <p:txBody>
          <a:bodyPr>
            <a:normAutofit fontScale="85000" lnSpcReduction="20000"/>
          </a:bodyPr>
          <a:lstStyle/>
          <a:p>
            <a:r>
              <a:rPr lang="en-US" altLang="zh-CN" dirty="0">
                <a:latin typeface="Comic Sans MS" pitchFamily="66" charset="0"/>
              </a:rPr>
              <a:t>In the following C code, we have replaced some of the comparison operators with “__” and omitted the data types in the casts.</a:t>
            </a:r>
          </a:p>
          <a:p>
            <a:pPr>
              <a:buNone/>
            </a:pPr>
            <a:r>
              <a:rPr lang="en-US" altLang="zh-CN" dirty="0">
                <a:latin typeface="Comic Sans MS" pitchFamily="66" charset="0"/>
              </a:rPr>
              <a:t>   char </a:t>
            </a:r>
            <a:r>
              <a:rPr lang="en-US" altLang="zh-CN" dirty="0" err="1">
                <a:latin typeface="Comic Sans MS" pitchFamily="66" charset="0"/>
              </a:rPr>
              <a:t>ctest</a:t>
            </a:r>
            <a:r>
              <a:rPr lang="en-US" altLang="zh-CN" dirty="0">
                <a:latin typeface="Comic Sans MS" pitchFamily="66" charset="0"/>
              </a:rPr>
              <a:t>(in a, int b, int c)</a:t>
            </a:r>
          </a:p>
          <a:p>
            <a:pPr>
              <a:buNone/>
            </a:pPr>
            <a:r>
              <a:rPr lang="en-US" altLang="zh-CN" dirty="0">
                <a:latin typeface="Comic Sans MS" pitchFamily="66" charset="0"/>
              </a:rPr>
              <a:t>   {</a:t>
            </a:r>
          </a:p>
          <a:p>
            <a:pPr>
              <a:buNone/>
            </a:pPr>
            <a:r>
              <a:rPr lang="en-US" altLang="zh-CN" dirty="0">
                <a:latin typeface="Comic Sans MS" pitchFamily="66" charset="0"/>
              </a:rPr>
              <a:t>		char t1 =    a ___ b;</a:t>
            </a:r>
          </a:p>
          <a:p>
            <a:pPr>
              <a:buNone/>
            </a:pPr>
            <a:r>
              <a:rPr lang="en-US" altLang="zh-CN" dirty="0">
                <a:latin typeface="Comic Sans MS" pitchFamily="66" charset="0"/>
              </a:rPr>
              <a:t>		char t2 =   b ___(              ) a;</a:t>
            </a:r>
          </a:p>
          <a:p>
            <a:pPr>
              <a:buNone/>
            </a:pPr>
            <a:r>
              <a:rPr lang="en-US" altLang="zh-CN" dirty="0">
                <a:latin typeface="Comic Sans MS" pitchFamily="66" charset="0"/>
              </a:rPr>
              <a:t>		char t3 = (          )  c __ (         )a;</a:t>
            </a:r>
          </a:p>
          <a:p>
            <a:pPr>
              <a:buNone/>
            </a:pPr>
            <a:r>
              <a:rPr lang="en-US" altLang="zh-CN" dirty="0">
                <a:latin typeface="Comic Sans MS" pitchFamily="66" charset="0"/>
              </a:rPr>
              <a:t>		char t4 = (          )  a __ (         )c;</a:t>
            </a:r>
          </a:p>
          <a:p>
            <a:pPr>
              <a:buNone/>
            </a:pPr>
            <a:r>
              <a:rPr lang="en-US" altLang="zh-CN" dirty="0">
                <a:latin typeface="Comic Sans MS" pitchFamily="66" charset="0"/>
              </a:rPr>
              <a:t>		char t5 =          c ____  b;</a:t>
            </a:r>
          </a:p>
          <a:p>
            <a:pPr>
              <a:buNone/>
            </a:pPr>
            <a:r>
              <a:rPr lang="en-US" altLang="zh-CN" dirty="0">
                <a:latin typeface="Comic Sans MS" pitchFamily="66" charset="0"/>
              </a:rPr>
              <a:t>		char t6 = a _____ 0;</a:t>
            </a:r>
          </a:p>
          <a:p>
            <a:pPr>
              <a:buNone/>
            </a:pPr>
            <a:r>
              <a:rPr lang="en-US" altLang="zh-CN" dirty="0">
                <a:latin typeface="Comic Sans MS" pitchFamily="66" charset="0"/>
              </a:rPr>
              <a:t>		return t1 + t2 + t3 + t4 + t5 + t6 ;</a:t>
            </a:r>
          </a:p>
          <a:p>
            <a:pPr>
              <a:buNone/>
            </a:pPr>
            <a:r>
              <a:rPr lang="en-US" altLang="zh-CN" dirty="0">
                <a:latin typeface="Comic Sans MS" pitchFamily="66" charset="0"/>
              </a:rPr>
              <a:t>   }</a:t>
            </a:r>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13</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
        <p:nvSpPr>
          <p:cNvPr id="13" name="云形标注 12"/>
          <p:cNvSpPr/>
          <p:nvPr/>
        </p:nvSpPr>
        <p:spPr>
          <a:xfrm>
            <a:off x="2357422" y="1857364"/>
            <a:ext cx="3643338" cy="1143008"/>
          </a:xfrm>
          <a:prstGeom prst="cloudCallo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0000"/>
                </a:solidFill>
                <a:latin typeface="Comic Sans MS" pitchFamily="66" charset="0"/>
              </a:rPr>
              <a:t>cmpl %ecx, %esi</a:t>
            </a:r>
          </a:p>
          <a:p>
            <a:r>
              <a:rPr lang="en-US" altLang="zh-CN" sz="2000" dirty="0">
                <a:solidFill>
                  <a:srgbClr val="FF0000"/>
                </a:solidFill>
                <a:latin typeface="Comic Sans MS" pitchFamily="66" charset="0"/>
              </a:rPr>
              <a:t>  setl %al</a:t>
            </a:r>
            <a:endParaRPr lang="zh-CN" altLang="en-US" sz="2000" dirty="0">
              <a:solidFill>
                <a:srgbClr val="FF0000"/>
              </a:solidFill>
              <a:latin typeface="Comic Sans MS" pitchFamily="66" charset="0"/>
            </a:endParaRPr>
          </a:p>
        </p:txBody>
      </p:sp>
      <p:sp>
        <p:nvSpPr>
          <p:cNvPr id="14" name="云形标注 13"/>
          <p:cNvSpPr/>
          <p:nvPr/>
        </p:nvSpPr>
        <p:spPr>
          <a:xfrm>
            <a:off x="4071934" y="2214554"/>
            <a:ext cx="3643338" cy="1143008"/>
          </a:xfrm>
          <a:prstGeom prst="cloudCallo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0000"/>
                </a:solidFill>
                <a:latin typeface="Comic Sans MS" pitchFamily="66" charset="0"/>
              </a:rPr>
              <a:t>cmpl %ecx, %esi</a:t>
            </a:r>
          </a:p>
          <a:p>
            <a:r>
              <a:rPr lang="en-US" altLang="zh-CN" sz="2000" dirty="0">
                <a:solidFill>
                  <a:srgbClr val="FF0000"/>
                </a:solidFill>
                <a:latin typeface="Comic Sans MS" pitchFamily="66" charset="0"/>
              </a:rPr>
              <a:t>  setb -1(%ebp)</a:t>
            </a:r>
            <a:endParaRPr lang="zh-CN" altLang="en-US" sz="2000" dirty="0">
              <a:solidFill>
                <a:srgbClr val="FF0000"/>
              </a:solidFill>
              <a:latin typeface="Comic Sans MS" pitchFamily="66" charset="0"/>
            </a:endParaRPr>
          </a:p>
        </p:txBody>
      </p:sp>
      <p:sp>
        <p:nvSpPr>
          <p:cNvPr id="15" name="云形标注 14"/>
          <p:cNvSpPr/>
          <p:nvPr/>
        </p:nvSpPr>
        <p:spPr>
          <a:xfrm>
            <a:off x="5500662" y="2857496"/>
            <a:ext cx="3929122" cy="1143008"/>
          </a:xfrm>
          <a:prstGeom prst="cloudCallo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err="1">
                <a:solidFill>
                  <a:srgbClr val="FF0000"/>
                </a:solidFill>
                <a:latin typeface="Comic Sans MS" pitchFamily="66" charset="0"/>
              </a:rPr>
              <a:t>cmpw</a:t>
            </a:r>
            <a:r>
              <a:rPr lang="en-US" altLang="zh-CN" sz="2000" dirty="0">
                <a:solidFill>
                  <a:srgbClr val="FF0000"/>
                </a:solidFill>
                <a:latin typeface="Comic Sans MS" pitchFamily="66" charset="0"/>
              </a:rPr>
              <a:t> %</a:t>
            </a:r>
            <a:r>
              <a:rPr lang="en-US" altLang="zh-CN" sz="2000" dirty="0" err="1">
                <a:solidFill>
                  <a:srgbClr val="FF0000"/>
                </a:solidFill>
                <a:latin typeface="Comic Sans MS" pitchFamily="66" charset="0"/>
              </a:rPr>
              <a:t>cx</a:t>
            </a:r>
            <a:r>
              <a:rPr lang="en-US" altLang="zh-CN" sz="2000" dirty="0">
                <a:solidFill>
                  <a:srgbClr val="FF0000"/>
                </a:solidFill>
                <a:latin typeface="Comic Sans MS" pitchFamily="66" charset="0"/>
              </a:rPr>
              <a:t>, 16(%ebp)</a:t>
            </a:r>
          </a:p>
          <a:p>
            <a:r>
              <a:rPr lang="en-US" altLang="zh-CN" sz="2000" dirty="0">
                <a:solidFill>
                  <a:srgbClr val="FF0000"/>
                </a:solidFill>
                <a:latin typeface="Comic Sans MS" pitchFamily="66" charset="0"/>
              </a:rPr>
              <a:t> setge -2(%ebp)</a:t>
            </a:r>
          </a:p>
          <a:p>
            <a:r>
              <a:rPr lang="en-US" altLang="zh-CN" sz="2000" dirty="0">
                <a:solidFill>
                  <a:srgbClr val="FF0000"/>
                </a:solidFill>
                <a:latin typeface="Comic Sans MS" pitchFamily="66" charset="0"/>
              </a:rPr>
              <a:t>movb   %</a:t>
            </a:r>
            <a:r>
              <a:rPr lang="en-US" altLang="zh-CN" sz="2000" dirty="0" err="1">
                <a:solidFill>
                  <a:srgbClr val="FF0000"/>
                </a:solidFill>
                <a:latin typeface="Comic Sans MS" pitchFamily="66" charset="0"/>
              </a:rPr>
              <a:t>cl</a:t>
            </a:r>
            <a:r>
              <a:rPr lang="en-US" altLang="zh-CN" sz="2000" dirty="0">
                <a:solidFill>
                  <a:srgbClr val="FF0000"/>
                </a:solidFill>
                <a:latin typeface="Comic Sans MS" pitchFamily="66" charset="0"/>
              </a:rPr>
              <a:t>, %dl</a:t>
            </a:r>
            <a:endParaRPr lang="zh-CN" altLang="en-US" sz="2000" dirty="0">
              <a:solidFill>
                <a:srgbClr val="FF0000"/>
              </a:solidFill>
              <a:latin typeface="Comic Sans MS" pitchFamily="66"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ox(in)">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additive="base">
                                        <p:cTn id="18" dur="500" fill="hold"/>
                                        <p:tgtEl>
                                          <p:spTgt spid="14"/>
                                        </p:tgtEl>
                                        <p:attrNameLst>
                                          <p:attrName>ppt_x</p:attrName>
                                        </p:attrNameLst>
                                      </p:cBhvr>
                                      <p:tavLst>
                                        <p:tav tm="0">
                                          <p:val>
                                            <p:strVal val="#ppt_x"/>
                                          </p:val>
                                        </p:tav>
                                        <p:tav tm="100000">
                                          <p:val>
                                            <p:strVal val="#ppt_x"/>
                                          </p:val>
                                        </p:tav>
                                      </p:tavLst>
                                    </p:anim>
                                    <p:anim calcmode="lin" valueType="num">
                                      <p:cBhvr additive="base">
                                        <p:cTn id="19"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ox(in)">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box(in)">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box(in)">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box(in)">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16" fill="hold" grpId="0"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box(in)">
                                      <p:cBhvr>
                                        <p:cTn id="5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2" grpId="0" animBg="1"/>
      <p:bldP spid="9" grpId="0" animBg="1"/>
      <p:bldP spid="10" grpId="0" animBg="1"/>
      <p:bldP spid="8" grpId="0" animBg="1"/>
      <p:bldP spid="13" grpId="0" animBg="1"/>
      <p:bldP spid="14"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70C0"/>
                </a:solidFill>
                <a:latin typeface="Comic Sans MS" pitchFamily="66" charset="0"/>
              </a:rPr>
              <a:t>Problem 3.8 </a:t>
            </a:r>
            <a:r>
              <a:rPr lang="en-US" altLang="zh-CN" dirty="0">
                <a:solidFill>
                  <a:srgbClr val="002060"/>
                </a:solidFill>
                <a:latin typeface="Comic Sans MS" pitchFamily="66" charset="0"/>
              </a:rPr>
              <a:t>(P155)</a:t>
            </a:r>
            <a:endParaRPr lang="zh-CN" altLang="en-US" dirty="0">
              <a:solidFill>
                <a:srgbClr val="002060"/>
              </a:solidFill>
              <a:latin typeface="Comic Sans MS" pitchFamily="66" charset="0"/>
            </a:endParaRPr>
          </a:p>
        </p:txBody>
      </p:sp>
      <p:sp>
        <p:nvSpPr>
          <p:cNvPr id="3" name="内容占位符 2"/>
          <p:cNvSpPr>
            <a:spLocks noGrp="1"/>
          </p:cNvSpPr>
          <p:nvPr>
            <p:ph idx="1"/>
          </p:nvPr>
        </p:nvSpPr>
        <p:spPr/>
        <p:txBody>
          <a:bodyPr/>
          <a:lstStyle/>
          <a:p>
            <a:r>
              <a:rPr lang="en-US" altLang="zh-CN" dirty="0">
                <a:latin typeface="Comic Sans MS" pitchFamily="66" charset="0"/>
              </a:rPr>
              <a:t>In the following excerpts from a disassembled binary, some of the information has been replaced by </a:t>
            </a:r>
            <a:r>
              <a:rPr lang="en-US" altLang="zh-CN" dirty="0" err="1">
                <a:latin typeface="Comic Sans MS" pitchFamily="66" charset="0"/>
              </a:rPr>
              <a:t>x’s</a:t>
            </a:r>
            <a:r>
              <a:rPr lang="en-US" altLang="zh-CN" dirty="0">
                <a:latin typeface="Comic Sans MS" pitchFamily="66" charset="0"/>
              </a:rPr>
              <a:t>. Answer the following questions:</a:t>
            </a:r>
          </a:p>
          <a:p>
            <a:r>
              <a:rPr lang="en-US" altLang="zh-CN" dirty="0">
                <a:latin typeface="Comic Sans MS" pitchFamily="66" charset="0"/>
              </a:rPr>
              <a:t>A. What is the target of the jbe instruction below?</a:t>
            </a:r>
          </a:p>
          <a:p>
            <a:pPr>
              <a:buNone/>
            </a:pPr>
            <a:r>
              <a:rPr lang="en-US" altLang="zh-CN" dirty="0">
                <a:latin typeface="Comic Sans MS" pitchFamily="66" charset="0"/>
              </a:rPr>
              <a:t>   8048d1c:  76  da      jbe     xxxxxxx</a:t>
            </a:r>
          </a:p>
          <a:p>
            <a:pPr>
              <a:buNone/>
            </a:pPr>
            <a:r>
              <a:rPr lang="en-US" altLang="zh-CN" dirty="0">
                <a:latin typeface="Comic Sans MS" pitchFamily="66" charset="0"/>
              </a:rPr>
              <a:t>   8048d1e:  eb  24      jmp    8048d44</a:t>
            </a:r>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14</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
        <p:nvSpPr>
          <p:cNvPr id="7" name="云形标注 6"/>
          <p:cNvSpPr/>
          <p:nvPr/>
        </p:nvSpPr>
        <p:spPr>
          <a:xfrm>
            <a:off x="3714744" y="2357430"/>
            <a:ext cx="3429024" cy="2143140"/>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rgbClr val="0070C0"/>
                </a:solidFill>
                <a:latin typeface="Comic Sans MS" pitchFamily="66" charset="0"/>
              </a:rPr>
              <a:t>8048dle</a:t>
            </a:r>
          </a:p>
          <a:p>
            <a:r>
              <a:rPr lang="en-US" altLang="zh-CN" sz="2400" dirty="0">
                <a:solidFill>
                  <a:srgbClr val="0070C0"/>
                </a:solidFill>
                <a:latin typeface="Comic Sans MS" pitchFamily="66" charset="0"/>
              </a:rPr>
              <a:t>        +da</a:t>
            </a:r>
          </a:p>
          <a:p>
            <a:r>
              <a:rPr lang="en-US" altLang="zh-CN" sz="2400" dirty="0">
                <a:solidFill>
                  <a:srgbClr val="0070C0"/>
                </a:solidFill>
                <a:latin typeface="Comic Sans MS" pitchFamily="66" charset="0"/>
              </a:rPr>
              <a:t>8048df8</a:t>
            </a:r>
          </a:p>
          <a:p>
            <a:endParaRPr lang="en-US" altLang="zh-CN" sz="2400" dirty="0">
              <a:solidFill>
                <a:srgbClr val="0070C0"/>
              </a:solidFill>
              <a:latin typeface="Comic Sans MS" pitchFamily="66" charset="0"/>
            </a:endParaRPr>
          </a:p>
        </p:txBody>
      </p:sp>
      <p:cxnSp>
        <p:nvCxnSpPr>
          <p:cNvPr id="9" name="直接连接符 8"/>
          <p:cNvCxnSpPr/>
          <p:nvPr/>
        </p:nvCxnSpPr>
        <p:spPr>
          <a:xfrm>
            <a:off x="4071934" y="3357562"/>
            <a:ext cx="1643074"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70C0"/>
                </a:solidFill>
                <a:latin typeface="Comic Sans MS" pitchFamily="66" charset="0"/>
              </a:rPr>
              <a:t>Problem 3.8</a:t>
            </a:r>
            <a:r>
              <a:rPr lang="en-US" altLang="zh-CN" dirty="0">
                <a:latin typeface="Comic Sans MS" pitchFamily="66" charset="0"/>
              </a:rPr>
              <a:t>+</a:t>
            </a:r>
            <a:endParaRPr lang="zh-CN" altLang="en-US" dirty="0">
              <a:latin typeface="Comic Sans MS" pitchFamily="66" charset="0"/>
            </a:endParaRPr>
          </a:p>
        </p:txBody>
      </p:sp>
      <p:sp>
        <p:nvSpPr>
          <p:cNvPr id="3" name="内容占位符 2"/>
          <p:cNvSpPr>
            <a:spLocks noGrp="1"/>
          </p:cNvSpPr>
          <p:nvPr>
            <p:ph idx="1"/>
          </p:nvPr>
        </p:nvSpPr>
        <p:spPr>
          <a:xfrm>
            <a:off x="457200" y="1285860"/>
            <a:ext cx="8229600" cy="5143536"/>
          </a:xfrm>
        </p:spPr>
        <p:txBody>
          <a:bodyPr>
            <a:normAutofit fontScale="85000" lnSpcReduction="10000"/>
          </a:bodyPr>
          <a:lstStyle/>
          <a:p>
            <a:r>
              <a:rPr lang="en-US" altLang="zh-CN" dirty="0">
                <a:latin typeface="Comic Sans MS" pitchFamily="66" charset="0"/>
              </a:rPr>
              <a:t>B. What is the address of the mov instruction ?</a:t>
            </a:r>
          </a:p>
          <a:p>
            <a:pPr>
              <a:buNone/>
            </a:pPr>
            <a:r>
              <a:rPr lang="en-US" altLang="zh-CN" dirty="0">
                <a:latin typeface="Comic Sans MS" pitchFamily="66" charset="0"/>
              </a:rPr>
              <a:t>   xxxxxxx:  eb  54   jmp    8048d44</a:t>
            </a:r>
          </a:p>
          <a:p>
            <a:pPr>
              <a:buNone/>
            </a:pPr>
            <a:r>
              <a:rPr lang="en-US" altLang="zh-CN" dirty="0">
                <a:latin typeface="Comic Sans MS" pitchFamily="66" charset="0"/>
              </a:rPr>
              <a:t>   xxxxxxx:  c7 45 f8 10 00 mov $0x10, 0xfffffff8 (%ebp)</a:t>
            </a:r>
          </a:p>
          <a:p>
            <a:r>
              <a:rPr lang="en-US" altLang="zh-CN" dirty="0">
                <a:latin typeface="Comic Sans MS" pitchFamily="66" charset="0"/>
              </a:rPr>
              <a:t>C. In the code that follows, the jump target is encoded in PC-relative form as a 4-byte, two’s complement number. The bytes are listed from least significant to most, reflecting the little-endian byte ordering of  IA32. What is the address of the jump target ?</a:t>
            </a:r>
          </a:p>
          <a:p>
            <a:pPr>
              <a:buNone/>
            </a:pPr>
            <a:r>
              <a:rPr lang="en-US" altLang="zh-CN" dirty="0">
                <a:latin typeface="Comic Sans MS" pitchFamily="66" charset="0"/>
              </a:rPr>
              <a:t>   8048902: e9 cb 00 00 00 jmp  xxxxxxx</a:t>
            </a:r>
          </a:p>
          <a:p>
            <a:pPr>
              <a:buNone/>
            </a:pPr>
            <a:r>
              <a:rPr lang="en-US" altLang="zh-CN" dirty="0">
                <a:latin typeface="Comic Sans MS" pitchFamily="66" charset="0"/>
              </a:rPr>
              <a:t>   8048907: 90                     nop</a:t>
            </a:r>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15</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
        <p:nvSpPr>
          <p:cNvPr id="7" name="矩形 6"/>
          <p:cNvSpPr/>
          <p:nvPr/>
        </p:nvSpPr>
        <p:spPr>
          <a:xfrm>
            <a:off x="857224" y="2214554"/>
            <a:ext cx="1428760" cy="3571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rgbClr val="FF0000"/>
                </a:solidFill>
              </a:rPr>
              <a:t>8048CF0</a:t>
            </a:r>
            <a:endParaRPr lang="zh-CN" altLang="en-US" sz="2400" dirty="0">
              <a:solidFill>
                <a:srgbClr val="FF0000"/>
              </a:solidFill>
            </a:endParaRPr>
          </a:p>
        </p:txBody>
      </p:sp>
      <p:sp>
        <p:nvSpPr>
          <p:cNvPr id="9" name="云形标注 8"/>
          <p:cNvSpPr/>
          <p:nvPr/>
        </p:nvSpPr>
        <p:spPr>
          <a:xfrm>
            <a:off x="2714612" y="2857496"/>
            <a:ext cx="3429024" cy="2143140"/>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rgbClr val="0070C0"/>
                </a:solidFill>
                <a:latin typeface="Comic Sans MS" pitchFamily="66" charset="0"/>
              </a:rPr>
              <a:t>8048907</a:t>
            </a:r>
          </a:p>
          <a:p>
            <a:r>
              <a:rPr lang="en-US" altLang="zh-CN" sz="2400" dirty="0">
                <a:solidFill>
                  <a:srgbClr val="0070C0"/>
                </a:solidFill>
                <a:latin typeface="Comic Sans MS" pitchFamily="66" charset="0"/>
              </a:rPr>
              <a:t>        +cb</a:t>
            </a:r>
          </a:p>
          <a:p>
            <a:r>
              <a:rPr lang="en-US" altLang="zh-CN" sz="2400" dirty="0">
                <a:solidFill>
                  <a:srgbClr val="0070C0"/>
                </a:solidFill>
                <a:latin typeface="Comic Sans MS" pitchFamily="66" charset="0"/>
              </a:rPr>
              <a:t>80489d2</a:t>
            </a:r>
          </a:p>
          <a:p>
            <a:endParaRPr lang="en-US" altLang="zh-CN" sz="2400" dirty="0">
              <a:solidFill>
                <a:srgbClr val="0070C0"/>
              </a:solidFill>
              <a:latin typeface="Comic Sans MS" pitchFamily="66" charset="0"/>
            </a:endParaRPr>
          </a:p>
        </p:txBody>
      </p:sp>
      <p:cxnSp>
        <p:nvCxnSpPr>
          <p:cNvPr id="10" name="直接连接符 9"/>
          <p:cNvCxnSpPr/>
          <p:nvPr/>
        </p:nvCxnSpPr>
        <p:spPr>
          <a:xfrm>
            <a:off x="3071802" y="3857628"/>
            <a:ext cx="1643074" cy="1588"/>
          </a:xfrm>
          <a:prstGeom prst="line">
            <a:avLst/>
          </a:prstGeom>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5857884" y="5357826"/>
            <a:ext cx="1643074"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FF0000"/>
                </a:solidFill>
              </a:rPr>
              <a:t>80489D2</a:t>
            </a:r>
            <a:endParaRPr lang="zh-CN" altLang="en-US" sz="280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par>
                                <p:cTn id="13" presetID="3" presetClass="entr" presetSubtype="1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ox(in)">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70C0"/>
                </a:solidFill>
                <a:latin typeface="Comic Sans MS" pitchFamily="66" charset="0"/>
              </a:rPr>
              <a:t>Problem 3.8</a:t>
            </a:r>
            <a:r>
              <a:rPr lang="en-US" altLang="zh-CN" dirty="0">
                <a:latin typeface="Comic Sans MS" pitchFamily="66" charset="0"/>
              </a:rPr>
              <a:t>++</a:t>
            </a:r>
            <a:endParaRPr lang="zh-CN" altLang="en-US" dirty="0">
              <a:latin typeface="Comic Sans MS" pitchFamily="66" charset="0"/>
            </a:endParaRPr>
          </a:p>
        </p:txBody>
      </p:sp>
      <p:sp>
        <p:nvSpPr>
          <p:cNvPr id="3" name="内容占位符 2"/>
          <p:cNvSpPr>
            <a:spLocks noGrp="1"/>
          </p:cNvSpPr>
          <p:nvPr>
            <p:ph idx="1"/>
          </p:nvPr>
        </p:nvSpPr>
        <p:spPr>
          <a:xfrm>
            <a:off x="214282" y="1600200"/>
            <a:ext cx="8686800" cy="4525963"/>
          </a:xfrm>
        </p:spPr>
        <p:txBody>
          <a:bodyPr/>
          <a:lstStyle/>
          <a:p>
            <a:r>
              <a:rPr lang="en-US" altLang="zh-CN" dirty="0">
                <a:latin typeface="Comic Sans MS" pitchFamily="66" charset="0"/>
              </a:rPr>
              <a:t>D. Explain the relation between the annotation on the right and the byte coding on the left. Both lines are part of the encoding of the jmp instruction.</a:t>
            </a:r>
          </a:p>
          <a:p>
            <a:pPr>
              <a:buNone/>
            </a:pPr>
            <a:r>
              <a:rPr lang="en-US" altLang="zh-CN" dirty="0">
                <a:latin typeface="Comic Sans MS" pitchFamily="66" charset="0"/>
              </a:rPr>
              <a:t>   80483f0: </a:t>
            </a:r>
            <a:r>
              <a:rPr lang="en-US" altLang="zh-CN" dirty="0">
                <a:solidFill>
                  <a:srgbClr val="0070C0"/>
                </a:solidFill>
                <a:latin typeface="Comic Sans MS" pitchFamily="66" charset="0"/>
              </a:rPr>
              <a:t>ff 25 </a:t>
            </a:r>
            <a:r>
              <a:rPr lang="en-US" altLang="zh-CN" dirty="0">
                <a:solidFill>
                  <a:srgbClr val="00B050"/>
                </a:solidFill>
                <a:latin typeface="Comic Sans MS" pitchFamily="66" charset="0"/>
              </a:rPr>
              <a:t>e0 a2 04 </a:t>
            </a:r>
            <a:r>
              <a:rPr lang="en-US" altLang="zh-CN" dirty="0">
                <a:latin typeface="Comic Sans MS" pitchFamily="66" charset="0"/>
              </a:rPr>
              <a:t>jmp *0x804a2e0</a:t>
            </a:r>
          </a:p>
          <a:p>
            <a:pPr>
              <a:buNone/>
            </a:pPr>
            <a:r>
              <a:rPr lang="en-US" altLang="zh-CN" dirty="0">
                <a:latin typeface="Comic Sans MS" pitchFamily="66" charset="0"/>
              </a:rPr>
              <a:t>   80483f5: 08</a:t>
            </a:r>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16</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
        <p:nvSpPr>
          <p:cNvPr id="7" name="矩形 6"/>
          <p:cNvSpPr/>
          <p:nvPr/>
        </p:nvSpPr>
        <p:spPr>
          <a:xfrm>
            <a:off x="357158" y="4714884"/>
            <a:ext cx="8286808" cy="15716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Answer: An indirect jump is denoted by instruction code </a:t>
            </a:r>
            <a:r>
              <a:rPr lang="en-US" altLang="zh-CN" sz="2000" dirty="0">
                <a:solidFill>
                  <a:srgbClr val="0070C0"/>
                </a:solidFill>
                <a:latin typeface="Comic Sans MS" pitchFamily="66" charset="0"/>
              </a:rPr>
              <a:t>ff 25</a:t>
            </a:r>
            <a:r>
              <a:rPr lang="en-US" altLang="zh-CN" sz="2000" dirty="0">
                <a:solidFill>
                  <a:srgbClr val="FF0000"/>
                </a:solidFill>
                <a:latin typeface="Comic Sans MS" pitchFamily="66" charset="0"/>
              </a:rPr>
              <a:t>. The address from which the jump target is to be read is encoded explicitly by the following 4 bytes. Since the machine is little endian, these are given in reverse order as e0 a2 04 08</a:t>
            </a:r>
            <a:endParaRPr lang="zh-CN" altLang="en-US" sz="2000" dirty="0">
              <a:solidFill>
                <a:srgbClr val="FF0000"/>
              </a:solidFill>
              <a:latin typeface="Comic Sans MS" pitchFamily="66"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70C0"/>
                </a:solidFill>
                <a:latin typeface="Comic Sans MS" pitchFamily="66" charset="0"/>
              </a:rPr>
              <a:t>Problem 3.9 </a:t>
            </a:r>
            <a:r>
              <a:rPr lang="en-US" altLang="zh-CN" dirty="0">
                <a:latin typeface="Comic Sans MS" pitchFamily="66" charset="0"/>
              </a:rPr>
              <a:t>(P157)</a:t>
            </a:r>
            <a:endParaRPr lang="zh-CN" altLang="en-US" dirty="0">
              <a:latin typeface="Comic Sans MS" pitchFamily="66" charset="0"/>
            </a:endParaRPr>
          </a:p>
        </p:txBody>
      </p:sp>
      <p:sp>
        <p:nvSpPr>
          <p:cNvPr id="3" name="内容占位符 2"/>
          <p:cNvSpPr>
            <a:spLocks noGrp="1"/>
          </p:cNvSpPr>
          <p:nvPr>
            <p:ph idx="1"/>
          </p:nvPr>
        </p:nvSpPr>
        <p:spPr/>
        <p:txBody>
          <a:bodyPr>
            <a:normAutofit lnSpcReduction="10000"/>
          </a:bodyPr>
          <a:lstStyle/>
          <a:p>
            <a:r>
              <a:rPr lang="en-US" altLang="zh-CN" dirty="0">
                <a:latin typeface="Comic Sans MS" pitchFamily="66" charset="0"/>
              </a:rPr>
              <a:t>When given the C code</a:t>
            </a:r>
          </a:p>
          <a:p>
            <a:pPr>
              <a:buNone/>
            </a:pPr>
            <a:r>
              <a:rPr lang="en-US" altLang="zh-CN" dirty="0">
                <a:latin typeface="Comic Sans MS" pitchFamily="66" charset="0"/>
              </a:rPr>
              <a:t>   void cond(int a, int *p)</a:t>
            </a:r>
          </a:p>
          <a:p>
            <a:pPr>
              <a:buNone/>
            </a:pPr>
            <a:r>
              <a:rPr lang="en-US" altLang="zh-CN" dirty="0">
                <a:latin typeface="Comic Sans MS" pitchFamily="66" charset="0"/>
              </a:rPr>
              <a:t>   {</a:t>
            </a:r>
          </a:p>
          <a:p>
            <a:pPr>
              <a:buNone/>
            </a:pPr>
            <a:r>
              <a:rPr lang="en-US" altLang="zh-CN" dirty="0">
                <a:latin typeface="Comic Sans MS" pitchFamily="66" charset="0"/>
              </a:rPr>
              <a:t>      if (p &amp;&amp; a &gt; 0)</a:t>
            </a:r>
          </a:p>
          <a:p>
            <a:pPr>
              <a:buNone/>
            </a:pPr>
            <a:r>
              <a:rPr lang="en-US" altLang="zh-CN" dirty="0">
                <a:latin typeface="Comic Sans MS" pitchFamily="66" charset="0"/>
              </a:rPr>
              <a:t>         *p += a;</a:t>
            </a:r>
          </a:p>
          <a:p>
            <a:pPr>
              <a:buNone/>
            </a:pPr>
            <a:r>
              <a:rPr lang="en-US" altLang="zh-CN" dirty="0">
                <a:latin typeface="Comic Sans MS" pitchFamily="66" charset="0"/>
              </a:rPr>
              <a:t>   }</a:t>
            </a:r>
          </a:p>
          <a:p>
            <a:r>
              <a:rPr lang="en-US" altLang="zh-CN" dirty="0">
                <a:latin typeface="Comic Sans MS" pitchFamily="66" charset="0"/>
              </a:rPr>
              <a:t>GCC generates the following assembly code:</a:t>
            </a:r>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17</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282" y="142852"/>
            <a:ext cx="8229600" cy="5768997"/>
          </a:xfrm>
        </p:spPr>
        <p:txBody>
          <a:bodyPr>
            <a:normAutofit fontScale="92500" lnSpcReduction="20000"/>
          </a:bodyPr>
          <a:lstStyle/>
          <a:p>
            <a:pPr>
              <a:buNone/>
            </a:pPr>
            <a:r>
              <a:rPr lang="en-US" altLang="zh-CN" dirty="0">
                <a:solidFill>
                  <a:schemeClr val="bg1">
                    <a:lumMod val="50000"/>
                  </a:schemeClr>
                </a:solidFill>
                <a:latin typeface="Comic Sans MS" pitchFamily="66" charset="0"/>
              </a:rPr>
              <a:t>1 </a:t>
            </a:r>
            <a:r>
              <a:rPr lang="en-US" altLang="zh-CN" dirty="0">
                <a:latin typeface="Comic Sans MS" pitchFamily="66" charset="0"/>
              </a:rPr>
              <a:t>movl 8(%ebp), %edx</a:t>
            </a:r>
          </a:p>
          <a:p>
            <a:pPr>
              <a:buNone/>
            </a:pPr>
            <a:r>
              <a:rPr lang="en-US" altLang="zh-CN" dirty="0">
                <a:solidFill>
                  <a:schemeClr val="bg1">
                    <a:lumMod val="50000"/>
                  </a:schemeClr>
                </a:solidFill>
                <a:latin typeface="Comic Sans MS" pitchFamily="66" charset="0"/>
              </a:rPr>
              <a:t>2</a:t>
            </a:r>
            <a:r>
              <a:rPr lang="en-US" altLang="zh-CN" dirty="0">
                <a:latin typeface="Comic Sans MS" pitchFamily="66" charset="0"/>
              </a:rPr>
              <a:t> movl 12(%ebp), %eax</a:t>
            </a:r>
          </a:p>
          <a:p>
            <a:pPr>
              <a:buNone/>
            </a:pPr>
            <a:r>
              <a:rPr lang="en-US" altLang="zh-CN" dirty="0">
                <a:solidFill>
                  <a:schemeClr val="bg1">
                    <a:lumMod val="50000"/>
                  </a:schemeClr>
                </a:solidFill>
                <a:latin typeface="Comic Sans MS" pitchFamily="66" charset="0"/>
              </a:rPr>
              <a:t>3</a:t>
            </a:r>
            <a:r>
              <a:rPr lang="en-US" altLang="zh-CN" dirty="0">
                <a:latin typeface="Comic Sans MS" pitchFamily="66" charset="0"/>
              </a:rPr>
              <a:t> testl %eax, %eax</a:t>
            </a:r>
          </a:p>
          <a:p>
            <a:pPr>
              <a:buNone/>
            </a:pPr>
            <a:r>
              <a:rPr lang="en-US" altLang="zh-CN" dirty="0">
                <a:solidFill>
                  <a:schemeClr val="bg1">
                    <a:lumMod val="50000"/>
                  </a:schemeClr>
                </a:solidFill>
                <a:latin typeface="Comic Sans MS" pitchFamily="66" charset="0"/>
              </a:rPr>
              <a:t>4</a:t>
            </a:r>
            <a:r>
              <a:rPr lang="en-US" altLang="zh-CN" dirty="0">
                <a:latin typeface="Comic Sans MS" pitchFamily="66" charset="0"/>
              </a:rPr>
              <a:t> je .L3</a:t>
            </a:r>
          </a:p>
          <a:p>
            <a:pPr>
              <a:buNone/>
            </a:pPr>
            <a:r>
              <a:rPr lang="en-US" altLang="zh-CN" dirty="0">
                <a:solidFill>
                  <a:schemeClr val="bg1">
                    <a:lumMod val="50000"/>
                  </a:schemeClr>
                </a:solidFill>
                <a:latin typeface="Comic Sans MS" pitchFamily="66" charset="0"/>
              </a:rPr>
              <a:t>5</a:t>
            </a:r>
            <a:r>
              <a:rPr lang="en-US" altLang="zh-CN" dirty="0">
                <a:latin typeface="Comic Sans MS" pitchFamily="66" charset="0"/>
              </a:rPr>
              <a:t> testl %edx, %edx</a:t>
            </a:r>
          </a:p>
          <a:p>
            <a:pPr>
              <a:buNone/>
            </a:pPr>
            <a:r>
              <a:rPr lang="en-US" altLang="zh-CN" dirty="0">
                <a:solidFill>
                  <a:schemeClr val="bg1">
                    <a:lumMod val="50000"/>
                  </a:schemeClr>
                </a:solidFill>
                <a:latin typeface="Comic Sans MS" pitchFamily="66" charset="0"/>
              </a:rPr>
              <a:t>6</a:t>
            </a:r>
            <a:r>
              <a:rPr lang="en-US" altLang="zh-CN" dirty="0">
                <a:latin typeface="Comic Sans MS" pitchFamily="66" charset="0"/>
              </a:rPr>
              <a:t> jle .L3</a:t>
            </a:r>
          </a:p>
          <a:p>
            <a:pPr>
              <a:buNone/>
            </a:pPr>
            <a:r>
              <a:rPr lang="en-US" altLang="zh-CN" dirty="0">
                <a:solidFill>
                  <a:schemeClr val="bg1">
                    <a:lumMod val="50000"/>
                  </a:schemeClr>
                </a:solidFill>
                <a:latin typeface="Comic Sans MS" pitchFamily="66" charset="0"/>
              </a:rPr>
              <a:t>7</a:t>
            </a:r>
            <a:r>
              <a:rPr lang="en-US" altLang="zh-CN" dirty="0">
                <a:latin typeface="Comic Sans MS" pitchFamily="66" charset="0"/>
              </a:rPr>
              <a:t> addl %edx, (%eax)</a:t>
            </a:r>
          </a:p>
          <a:p>
            <a:pPr>
              <a:buNone/>
            </a:pPr>
            <a:r>
              <a:rPr lang="en-US" altLang="zh-CN" dirty="0">
                <a:solidFill>
                  <a:schemeClr val="bg1">
                    <a:lumMod val="50000"/>
                  </a:schemeClr>
                </a:solidFill>
                <a:latin typeface="Comic Sans MS" pitchFamily="66" charset="0"/>
              </a:rPr>
              <a:t>8</a:t>
            </a:r>
            <a:r>
              <a:rPr lang="en-US" altLang="zh-CN" dirty="0">
                <a:latin typeface="Comic Sans MS" pitchFamily="66" charset="0"/>
              </a:rPr>
              <a:t> .L3:</a:t>
            </a:r>
          </a:p>
          <a:p>
            <a:r>
              <a:rPr lang="en-US" altLang="zh-CN" dirty="0">
                <a:latin typeface="Comic Sans MS" pitchFamily="66" charset="0"/>
              </a:rPr>
              <a:t>A. Write a goto vision in C that …</a:t>
            </a:r>
          </a:p>
          <a:p>
            <a:r>
              <a:rPr lang="en-US" altLang="zh-CN" dirty="0">
                <a:latin typeface="Comic Sans MS" pitchFamily="66" charset="0"/>
              </a:rPr>
              <a:t>B. Explain why the assembly code contains two conditional branches, even though the C code has only one if statement.</a:t>
            </a:r>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18</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
        <p:nvSpPr>
          <p:cNvPr id="8" name="云形标注 7"/>
          <p:cNvSpPr/>
          <p:nvPr/>
        </p:nvSpPr>
        <p:spPr>
          <a:xfrm>
            <a:off x="4286248" y="214290"/>
            <a:ext cx="4786346" cy="3214710"/>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void cond (int a, int *p){</a:t>
            </a:r>
          </a:p>
          <a:p>
            <a:r>
              <a:rPr lang="en-US" altLang="zh-CN" sz="2000" dirty="0">
                <a:solidFill>
                  <a:srgbClr val="FF0000"/>
                </a:solidFill>
                <a:latin typeface="Comic Sans MS" pitchFamily="66" charset="0"/>
              </a:rPr>
              <a:t>    if (p == 0)</a:t>
            </a:r>
          </a:p>
          <a:p>
            <a:r>
              <a:rPr lang="en-US" altLang="zh-CN" sz="2000" dirty="0">
                <a:solidFill>
                  <a:srgbClr val="FF0000"/>
                </a:solidFill>
                <a:latin typeface="Comic Sans MS" pitchFamily="66" charset="0"/>
              </a:rPr>
              <a:t>	goto done;</a:t>
            </a:r>
          </a:p>
          <a:p>
            <a:r>
              <a:rPr lang="en-US" altLang="zh-CN" sz="2000" dirty="0">
                <a:solidFill>
                  <a:srgbClr val="FF0000"/>
                </a:solidFill>
                <a:latin typeface="Comic Sans MS" pitchFamily="66" charset="0"/>
              </a:rPr>
              <a:t>    if (a &lt;= 0)</a:t>
            </a:r>
          </a:p>
          <a:p>
            <a:r>
              <a:rPr lang="en-US" altLang="zh-CN" sz="2000" dirty="0">
                <a:solidFill>
                  <a:srgbClr val="FF0000"/>
                </a:solidFill>
                <a:latin typeface="Comic Sans MS" pitchFamily="66" charset="0"/>
              </a:rPr>
              <a:t>	goto done;</a:t>
            </a:r>
          </a:p>
          <a:p>
            <a:r>
              <a:rPr lang="en-US" altLang="zh-CN" sz="2000" dirty="0">
                <a:solidFill>
                  <a:srgbClr val="FF0000"/>
                </a:solidFill>
                <a:latin typeface="Comic Sans MS" pitchFamily="66" charset="0"/>
              </a:rPr>
              <a:t>    *p += a;</a:t>
            </a:r>
          </a:p>
          <a:p>
            <a:r>
              <a:rPr lang="en-US" altLang="zh-CN" sz="2000" dirty="0">
                <a:solidFill>
                  <a:srgbClr val="FF0000"/>
                </a:solidFill>
                <a:latin typeface="Comic Sans MS" pitchFamily="66" charset="0"/>
              </a:rPr>
              <a:t>    done: </a:t>
            </a:r>
          </a:p>
          <a:p>
            <a:r>
              <a:rPr lang="en-US" altLang="zh-CN" sz="2000" dirty="0">
                <a:solidFill>
                  <a:srgbClr val="FF0000"/>
                </a:solidFill>
                <a:latin typeface="Comic Sans MS" pitchFamily="66" charset="0"/>
              </a:rPr>
              <a:t>}</a:t>
            </a:r>
            <a:endParaRPr lang="zh-CN" altLang="en-US" sz="2000" dirty="0">
              <a:solidFill>
                <a:srgbClr val="FF0000"/>
              </a:solidFill>
              <a:latin typeface="Comic Sans MS" pitchFamily="66" charset="0"/>
            </a:endParaRPr>
          </a:p>
        </p:txBody>
      </p:sp>
      <p:sp>
        <p:nvSpPr>
          <p:cNvPr id="10" name="矩形 9"/>
          <p:cNvSpPr/>
          <p:nvPr/>
        </p:nvSpPr>
        <p:spPr>
          <a:xfrm>
            <a:off x="500034" y="5500702"/>
            <a:ext cx="7786742" cy="8572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The first conditional branch is part of the implementation of the || expression. If the test for p being nonnull fails, the code will skip the test of a &gt; 0</a:t>
            </a:r>
            <a:endParaRPr lang="zh-CN" altLang="en-US" sz="2000" dirty="0">
              <a:solidFill>
                <a:srgbClr val="FF0000"/>
              </a:solidFill>
              <a:latin typeface="Comic Sans MS" pitchFamily="66"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grpId="1" nodeType="clickEffect">
                                  <p:stCondLst>
                                    <p:cond delay="0"/>
                                  </p:stCondLst>
                                  <p:childTnLst>
                                    <p:anim calcmode="lin" valueType="num">
                                      <p:cBhvr additive="base">
                                        <p:cTn id="11" dur="500"/>
                                        <p:tgtEl>
                                          <p:spTgt spid="8"/>
                                        </p:tgtEl>
                                        <p:attrNameLst>
                                          <p:attrName>ppt_x</p:attrName>
                                        </p:attrNameLst>
                                      </p:cBhvr>
                                      <p:tavLst>
                                        <p:tav tm="0">
                                          <p:val>
                                            <p:strVal val="ppt_x"/>
                                          </p:val>
                                        </p:tav>
                                        <p:tav tm="100000">
                                          <p:val>
                                            <p:strVal val="ppt_x"/>
                                          </p:val>
                                        </p:tav>
                                      </p:tavLst>
                                    </p:anim>
                                    <p:anim calcmode="lin" valueType="num">
                                      <p:cBhvr additive="base">
                                        <p:cTn id="12" dur="500"/>
                                        <p:tgtEl>
                                          <p:spTgt spid="8"/>
                                        </p:tgtEl>
                                        <p:attrNameLst>
                                          <p:attrName>ppt_y</p:attrName>
                                        </p:attrNameLst>
                                      </p:cBhvr>
                                      <p:tavLst>
                                        <p:tav tm="0">
                                          <p:val>
                                            <p:strVal val="ppt_y"/>
                                          </p:val>
                                        </p:tav>
                                        <p:tav tm="100000">
                                          <p:val>
                                            <p:strVal val="1+ppt_h/2"/>
                                          </p:val>
                                        </p:tav>
                                      </p:tavLst>
                                    </p:anim>
                                    <p:set>
                                      <p:cBhvr>
                                        <p:cTn id="13" dur="1" fill="hold">
                                          <p:stCondLst>
                                            <p:cond delay="499"/>
                                          </p:stCondLst>
                                        </p:cTn>
                                        <p:tgtEl>
                                          <p:spTgt spid="8"/>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ox(in)">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70C0"/>
                </a:solidFill>
                <a:latin typeface="Comic Sans MS" pitchFamily="66" charset="0"/>
              </a:rPr>
              <a:t>Problem 3.10 </a:t>
            </a:r>
            <a:r>
              <a:rPr lang="en-US" altLang="zh-CN" dirty="0">
                <a:latin typeface="Comic Sans MS" pitchFamily="66" charset="0"/>
              </a:rPr>
              <a:t>(P160)</a:t>
            </a:r>
            <a:endParaRPr lang="zh-CN" altLang="en-US" dirty="0">
              <a:latin typeface="Comic Sans MS" pitchFamily="66" charset="0"/>
            </a:endParaRPr>
          </a:p>
        </p:txBody>
      </p:sp>
      <p:sp>
        <p:nvSpPr>
          <p:cNvPr id="3" name="内容占位符 2"/>
          <p:cNvSpPr>
            <a:spLocks noGrp="1"/>
          </p:cNvSpPr>
          <p:nvPr>
            <p:ph idx="1"/>
          </p:nvPr>
        </p:nvSpPr>
        <p:spPr/>
        <p:txBody>
          <a:bodyPr>
            <a:normAutofit fontScale="77500" lnSpcReduction="20000"/>
          </a:bodyPr>
          <a:lstStyle/>
          <a:p>
            <a:r>
              <a:rPr lang="en-US" altLang="zh-CN" dirty="0">
                <a:latin typeface="Comic Sans MS" pitchFamily="66" charset="0"/>
              </a:rPr>
              <a:t>For the C code</a:t>
            </a:r>
          </a:p>
          <a:p>
            <a:pPr>
              <a:buNone/>
            </a:pPr>
            <a:r>
              <a:rPr lang="en-US" altLang="zh-CN" dirty="0">
                <a:latin typeface="Comic Sans MS" pitchFamily="66" charset="0"/>
              </a:rPr>
              <a:t>   int dw_loop(int x, int y, int n)</a:t>
            </a:r>
          </a:p>
          <a:p>
            <a:pPr>
              <a:buNone/>
            </a:pPr>
            <a:r>
              <a:rPr lang="en-US" altLang="zh-CN" dirty="0">
                <a:latin typeface="Comic Sans MS" pitchFamily="66" charset="0"/>
              </a:rPr>
              <a:t>   {</a:t>
            </a:r>
          </a:p>
          <a:p>
            <a:pPr>
              <a:buNone/>
            </a:pPr>
            <a:r>
              <a:rPr lang="en-US" altLang="zh-CN" dirty="0">
                <a:latin typeface="Comic Sans MS" pitchFamily="66" charset="0"/>
              </a:rPr>
              <a:t>       do {</a:t>
            </a:r>
          </a:p>
          <a:p>
            <a:pPr>
              <a:buNone/>
            </a:pPr>
            <a:r>
              <a:rPr lang="en-US" altLang="zh-CN" dirty="0">
                <a:latin typeface="Comic Sans MS" pitchFamily="66" charset="0"/>
              </a:rPr>
              <a:t>           x += n;</a:t>
            </a:r>
          </a:p>
          <a:p>
            <a:pPr>
              <a:buNone/>
            </a:pPr>
            <a:r>
              <a:rPr lang="en-US" altLang="zh-CN" dirty="0">
                <a:latin typeface="Comic Sans MS" pitchFamily="66" charset="0"/>
              </a:rPr>
              <a:t>           y *= n;</a:t>
            </a:r>
          </a:p>
          <a:p>
            <a:pPr>
              <a:buNone/>
            </a:pPr>
            <a:r>
              <a:rPr lang="en-US" altLang="zh-CN" dirty="0">
                <a:latin typeface="Comic Sans MS" pitchFamily="66" charset="0"/>
              </a:rPr>
              <a:t>           n--;</a:t>
            </a:r>
          </a:p>
          <a:p>
            <a:pPr>
              <a:buNone/>
            </a:pPr>
            <a:r>
              <a:rPr lang="en-US" altLang="zh-CN" dirty="0">
                <a:latin typeface="Comic Sans MS" pitchFamily="66" charset="0"/>
              </a:rPr>
              <a:t>       } while ((n &gt; 0) &amp; (y &lt; n));</a:t>
            </a:r>
          </a:p>
          <a:p>
            <a:pPr>
              <a:buNone/>
            </a:pPr>
            <a:r>
              <a:rPr lang="en-US" altLang="zh-CN" dirty="0">
                <a:latin typeface="Comic Sans MS" pitchFamily="66" charset="0"/>
              </a:rPr>
              <a:t>       return x;</a:t>
            </a:r>
          </a:p>
          <a:p>
            <a:pPr>
              <a:buNone/>
            </a:pPr>
            <a:r>
              <a:rPr lang="en-US" altLang="zh-CN" dirty="0">
                <a:latin typeface="Comic Sans MS" pitchFamily="66" charset="0"/>
              </a:rPr>
              <a:t>   }</a:t>
            </a:r>
          </a:p>
          <a:p>
            <a:r>
              <a:rPr lang="en-US" altLang="zh-CN" dirty="0">
                <a:latin typeface="Comic Sans MS" pitchFamily="66" charset="0"/>
              </a:rPr>
              <a:t>GCC generates the following assembly code:</a:t>
            </a:r>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19</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57166"/>
            <a:ext cx="8229600" cy="5768997"/>
          </a:xfrm>
        </p:spPr>
        <p:txBody>
          <a:bodyPr>
            <a:normAutofit fontScale="77500" lnSpcReduction="20000"/>
          </a:bodyPr>
          <a:lstStyle/>
          <a:p>
            <a:pPr>
              <a:buNone/>
            </a:pPr>
            <a:r>
              <a:rPr lang="en-US" altLang="zh-CN" dirty="0">
                <a:solidFill>
                  <a:schemeClr val="bg1">
                    <a:lumMod val="50000"/>
                  </a:schemeClr>
                </a:solidFill>
                <a:latin typeface="Comic Sans MS" pitchFamily="66" charset="0"/>
              </a:rPr>
              <a:t>1</a:t>
            </a:r>
            <a:r>
              <a:rPr lang="en-US" altLang="zh-CN" dirty="0">
                <a:latin typeface="Comic Sans MS" pitchFamily="66" charset="0"/>
              </a:rPr>
              <a:t>      movl  8(%ebp), %esi</a:t>
            </a:r>
          </a:p>
          <a:p>
            <a:pPr>
              <a:buNone/>
            </a:pPr>
            <a:r>
              <a:rPr lang="en-US" altLang="zh-CN" dirty="0">
                <a:solidFill>
                  <a:schemeClr val="bg1">
                    <a:lumMod val="50000"/>
                  </a:schemeClr>
                </a:solidFill>
                <a:latin typeface="Comic Sans MS" pitchFamily="66" charset="0"/>
              </a:rPr>
              <a:t>2 </a:t>
            </a:r>
            <a:r>
              <a:rPr lang="en-US" altLang="zh-CN" dirty="0">
                <a:latin typeface="Comic Sans MS" pitchFamily="66" charset="0"/>
              </a:rPr>
              <a:t>    movl  12(%ebp), %ebx</a:t>
            </a:r>
          </a:p>
          <a:p>
            <a:pPr>
              <a:buNone/>
            </a:pPr>
            <a:r>
              <a:rPr lang="en-US" altLang="zh-CN" dirty="0">
                <a:solidFill>
                  <a:schemeClr val="bg1">
                    <a:lumMod val="50000"/>
                  </a:schemeClr>
                </a:solidFill>
                <a:latin typeface="Comic Sans MS" pitchFamily="66" charset="0"/>
              </a:rPr>
              <a:t>3</a:t>
            </a:r>
            <a:r>
              <a:rPr lang="en-US" altLang="zh-CN" dirty="0">
                <a:latin typeface="Comic Sans MS" pitchFamily="66" charset="0"/>
              </a:rPr>
              <a:t>     movl 16 (%ebp), %ecx</a:t>
            </a:r>
          </a:p>
          <a:p>
            <a:pPr>
              <a:buNone/>
            </a:pPr>
            <a:r>
              <a:rPr lang="en-US" altLang="zh-CN" dirty="0">
                <a:solidFill>
                  <a:schemeClr val="bg1">
                    <a:lumMod val="50000"/>
                  </a:schemeClr>
                </a:solidFill>
                <a:latin typeface="Comic Sans MS" pitchFamily="66" charset="0"/>
              </a:rPr>
              <a:t>4</a:t>
            </a:r>
            <a:r>
              <a:rPr lang="en-US" altLang="zh-CN" dirty="0">
                <a:latin typeface="Comic Sans MS" pitchFamily="66" charset="0"/>
              </a:rPr>
              <a:t>     .p2align 4, ,7</a:t>
            </a:r>
          </a:p>
          <a:p>
            <a:pPr>
              <a:buNone/>
            </a:pPr>
            <a:r>
              <a:rPr lang="en-US" altLang="zh-CN" dirty="0">
                <a:solidFill>
                  <a:schemeClr val="bg1">
                    <a:lumMod val="50000"/>
                  </a:schemeClr>
                </a:solidFill>
                <a:latin typeface="Comic Sans MS" pitchFamily="66" charset="0"/>
              </a:rPr>
              <a:t>5</a:t>
            </a:r>
            <a:r>
              <a:rPr lang="en-US" altLang="zh-CN" dirty="0">
                <a:latin typeface="Comic Sans MS" pitchFamily="66" charset="0"/>
              </a:rPr>
              <a:t>  .L6                                   loop:</a:t>
            </a:r>
          </a:p>
          <a:p>
            <a:pPr>
              <a:buNone/>
            </a:pPr>
            <a:r>
              <a:rPr lang="en-US" altLang="zh-CN" dirty="0">
                <a:solidFill>
                  <a:schemeClr val="bg1">
                    <a:lumMod val="50000"/>
                  </a:schemeClr>
                </a:solidFill>
                <a:latin typeface="Comic Sans MS" pitchFamily="66" charset="0"/>
              </a:rPr>
              <a:t>6</a:t>
            </a:r>
            <a:r>
              <a:rPr lang="en-US" altLang="zh-CN" dirty="0">
                <a:latin typeface="Comic Sans MS" pitchFamily="66" charset="0"/>
              </a:rPr>
              <a:t>     </a:t>
            </a:r>
            <a:r>
              <a:rPr lang="en-US" altLang="zh-CN" dirty="0">
                <a:solidFill>
                  <a:schemeClr val="tx2">
                    <a:lumMod val="60000"/>
                    <a:lumOff val="40000"/>
                  </a:schemeClr>
                </a:solidFill>
                <a:latin typeface="Comic Sans MS" pitchFamily="66" charset="0"/>
              </a:rPr>
              <a:t>imull %ecx, %ebx</a:t>
            </a:r>
          </a:p>
          <a:p>
            <a:pPr>
              <a:buNone/>
            </a:pPr>
            <a:r>
              <a:rPr lang="en-US" altLang="zh-CN" dirty="0">
                <a:solidFill>
                  <a:schemeClr val="bg1">
                    <a:lumMod val="50000"/>
                  </a:schemeClr>
                </a:solidFill>
                <a:latin typeface="Comic Sans MS" pitchFamily="66" charset="0"/>
              </a:rPr>
              <a:t>7</a:t>
            </a:r>
            <a:r>
              <a:rPr lang="en-US" altLang="zh-CN" dirty="0">
                <a:latin typeface="Comic Sans MS" pitchFamily="66" charset="0"/>
              </a:rPr>
              <a:t>     </a:t>
            </a:r>
            <a:r>
              <a:rPr lang="en-US" altLang="zh-CN" dirty="0">
                <a:solidFill>
                  <a:schemeClr val="tx2">
                    <a:lumMod val="60000"/>
                    <a:lumOff val="40000"/>
                  </a:schemeClr>
                </a:solidFill>
                <a:latin typeface="Comic Sans MS" pitchFamily="66" charset="0"/>
              </a:rPr>
              <a:t>addl  %ecx, %esi</a:t>
            </a:r>
          </a:p>
          <a:p>
            <a:pPr>
              <a:buNone/>
            </a:pPr>
            <a:r>
              <a:rPr lang="en-US" altLang="zh-CN" dirty="0">
                <a:solidFill>
                  <a:schemeClr val="bg1">
                    <a:lumMod val="50000"/>
                  </a:schemeClr>
                </a:solidFill>
                <a:latin typeface="Comic Sans MS" pitchFamily="66" charset="0"/>
              </a:rPr>
              <a:t>8</a:t>
            </a:r>
            <a:r>
              <a:rPr lang="en-US" altLang="zh-CN" dirty="0">
                <a:latin typeface="Comic Sans MS" pitchFamily="66" charset="0"/>
              </a:rPr>
              <a:t>     </a:t>
            </a:r>
            <a:r>
              <a:rPr lang="en-US" altLang="zh-CN" dirty="0">
                <a:solidFill>
                  <a:schemeClr val="tx2">
                    <a:lumMod val="60000"/>
                    <a:lumOff val="40000"/>
                  </a:schemeClr>
                </a:solidFill>
                <a:latin typeface="Comic Sans MS" pitchFamily="66" charset="0"/>
              </a:rPr>
              <a:t>decl  %ecx</a:t>
            </a:r>
          </a:p>
          <a:p>
            <a:pPr>
              <a:buNone/>
            </a:pPr>
            <a:r>
              <a:rPr lang="en-US" altLang="zh-CN" dirty="0">
                <a:solidFill>
                  <a:schemeClr val="bg1">
                    <a:lumMod val="50000"/>
                  </a:schemeClr>
                </a:solidFill>
                <a:latin typeface="Comic Sans MS" pitchFamily="66" charset="0"/>
              </a:rPr>
              <a:t>9</a:t>
            </a:r>
            <a:r>
              <a:rPr lang="en-US" altLang="zh-CN" dirty="0">
                <a:latin typeface="Comic Sans MS" pitchFamily="66" charset="0"/>
              </a:rPr>
              <a:t>     </a:t>
            </a:r>
            <a:r>
              <a:rPr lang="en-US" altLang="zh-CN" dirty="0">
                <a:solidFill>
                  <a:srgbClr val="92D050"/>
                </a:solidFill>
                <a:latin typeface="Comic Sans MS" pitchFamily="66" charset="0"/>
              </a:rPr>
              <a:t>testl %ecx, %ecx</a:t>
            </a:r>
          </a:p>
          <a:p>
            <a:pPr>
              <a:buNone/>
            </a:pPr>
            <a:r>
              <a:rPr lang="en-US" altLang="zh-CN" dirty="0">
                <a:solidFill>
                  <a:schemeClr val="bg1">
                    <a:lumMod val="50000"/>
                  </a:schemeClr>
                </a:solidFill>
                <a:latin typeface="Comic Sans MS" pitchFamily="66" charset="0"/>
              </a:rPr>
              <a:t>10</a:t>
            </a:r>
            <a:r>
              <a:rPr lang="en-US" altLang="zh-CN" dirty="0">
                <a:latin typeface="Comic Sans MS" pitchFamily="66" charset="0"/>
              </a:rPr>
              <a:t>    </a:t>
            </a:r>
            <a:r>
              <a:rPr lang="en-US" altLang="zh-CN" dirty="0" err="1">
                <a:solidFill>
                  <a:srgbClr val="92D050"/>
                </a:solidFill>
                <a:latin typeface="Comic Sans MS" pitchFamily="66" charset="0"/>
              </a:rPr>
              <a:t>setg</a:t>
            </a:r>
            <a:r>
              <a:rPr lang="en-US" altLang="zh-CN" dirty="0">
                <a:solidFill>
                  <a:srgbClr val="92D050"/>
                </a:solidFill>
                <a:latin typeface="Comic Sans MS" pitchFamily="66" charset="0"/>
              </a:rPr>
              <a:t>  %al</a:t>
            </a:r>
          </a:p>
          <a:p>
            <a:pPr>
              <a:buNone/>
            </a:pPr>
            <a:r>
              <a:rPr lang="en-US" altLang="zh-CN" dirty="0">
                <a:solidFill>
                  <a:schemeClr val="bg1">
                    <a:lumMod val="50000"/>
                  </a:schemeClr>
                </a:solidFill>
                <a:latin typeface="Comic Sans MS" pitchFamily="66" charset="0"/>
              </a:rPr>
              <a:t>11</a:t>
            </a:r>
            <a:r>
              <a:rPr lang="en-US" altLang="zh-CN" dirty="0">
                <a:latin typeface="Comic Sans MS" pitchFamily="66" charset="0"/>
              </a:rPr>
              <a:t>    </a:t>
            </a:r>
            <a:r>
              <a:rPr lang="en-US" altLang="zh-CN" dirty="0">
                <a:solidFill>
                  <a:srgbClr val="92D050"/>
                </a:solidFill>
                <a:latin typeface="Comic Sans MS" pitchFamily="66" charset="0"/>
              </a:rPr>
              <a:t>cmpl  %ecx, %ebx</a:t>
            </a:r>
          </a:p>
          <a:p>
            <a:pPr>
              <a:buNone/>
            </a:pPr>
            <a:r>
              <a:rPr lang="en-US" altLang="zh-CN" dirty="0">
                <a:solidFill>
                  <a:schemeClr val="bg1">
                    <a:lumMod val="50000"/>
                  </a:schemeClr>
                </a:solidFill>
                <a:latin typeface="Comic Sans MS" pitchFamily="66" charset="0"/>
              </a:rPr>
              <a:t>12</a:t>
            </a:r>
            <a:r>
              <a:rPr lang="en-US" altLang="zh-CN" dirty="0">
                <a:latin typeface="Comic Sans MS" pitchFamily="66" charset="0"/>
              </a:rPr>
              <a:t>    </a:t>
            </a:r>
            <a:r>
              <a:rPr lang="en-US" altLang="zh-CN" dirty="0">
                <a:solidFill>
                  <a:srgbClr val="92D050"/>
                </a:solidFill>
                <a:latin typeface="Comic Sans MS" pitchFamily="66" charset="0"/>
              </a:rPr>
              <a:t>setl   %dl</a:t>
            </a:r>
          </a:p>
          <a:p>
            <a:pPr>
              <a:buNone/>
            </a:pPr>
            <a:r>
              <a:rPr lang="en-US" altLang="zh-CN" dirty="0">
                <a:solidFill>
                  <a:schemeClr val="bg1">
                    <a:lumMod val="50000"/>
                  </a:schemeClr>
                </a:solidFill>
                <a:latin typeface="Comic Sans MS" pitchFamily="66" charset="0"/>
              </a:rPr>
              <a:t>13</a:t>
            </a:r>
            <a:r>
              <a:rPr lang="en-US" altLang="zh-CN" dirty="0">
                <a:latin typeface="Comic Sans MS" pitchFamily="66" charset="0"/>
              </a:rPr>
              <a:t>    </a:t>
            </a:r>
            <a:r>
              <a:rPr lang="en-US" altLang="zh-CN" dirty="0" err="1">
                <a:solidFill>
                  <a:srgbClr val="92D050"/>
                </a:solidFill>
                <a:latin typeface="Comic Sans MS" pitchFamily="66" charset="0"/>
              </a:rPr>
              <a:t>andl</a:t>
            </a:r>
            <a:r>
              <a:rPr lang="en-US" altLang="zh-CN" dirty="0">
                <a:solidFill>
                  <a:srgbClr val="92D050"/>
                </a:solidFill>
                <a:latin typeface="Comic Sans MS" pitchFamily="66" charset="0"/>
              </a:rPr>
              <a:t>   %edx, %eax</a:t>
            </a:r>
          </a:p>
          <a:p>
            <a:pPr>
              <a:buNone/>
            </a:pPr>
            <a:r>
              <a:rPr lang="en-US" altLang="zh-CN" dirty="0">
                <a:solidFill>
                  <a:schemeClr val="bg1">
                    <a:lumMod val="50000"/>
                  </a:schemeClr>
                </a:solidFill>
                <a:latin typeface="Comic Sans MS" pitchFamily="66" charset="0"/>
              </a:rPr>
              <a:t>14</a:t>
            </a:r>
            <a:r>
              <a:rPr lang="en-US" altLang="zh-CN" dirty="0">
                <a:latin typeface="Comic Sans MS" pitchFamily="66" charset="0"/>
              </a:rPr>
              <a:t>    </a:t>
            </a:r>
            <a:r>
              <a:rPr lang="en-US" altLang="zh-CN" dirty="0" err="1">
                <a:solidFill>
                  <a:srgbClr val="92D050"/>
                </a:solidFill>
                <a:latin typeface="Comic Sans MS" pitchFamily="66" charset="0"/>
              </a:rPr>
              <a:t>testb</a:t>
            </a:r>
            <a:r>
              <a:rPr lang="en-US" altLang="zh-CN" dirty="0">
                <a:solidFill>
                  <a:srgbClr val="92D050"/>
                </a:solidFill>
                <a:latin typeface="Comic Sans MS" pitchFamily="66" charset="0"/>
              </a:rPr>
              <a:t> $1, %al</a:t>
            </a:r>
          </a:p>
          <a:p>
            <a:pPr>
              <a:buNone/>
            </a:pPr>
            <a:r>
              <a:rPr lang="en-US" altLang="zh-CN" dirty="0">
                <a:solidFill>
                  <a:schemeClr val="bg1">
                    <a:lumMod val="50000"/>
                  </a:schemeClr>
                </a:solidFill>
                <a:latin typeface="Comic Sans MS" pitchFamily="66" charset="0"/>
              </a:rPr>
              <a:t>15</a:t>
            </a:r>
            <a:r>
              <a:rPr lang="en-US" altLang="zh-CN" dirty="0">
                <a:latin typeface="Comic Sans MS" pitchFamily="66" charset="0"/>
              </a:rPr>
              <a:t>    </a:t>
            </a:r>
            <a:r>
              <a:rPr lang="en-US" altLang="zh-CN" dirty="0" err="1">
                <a:latin typeface="Comic Sans MS" pitchFamily="66" charset="0"/>
              </a:rPr>
              <a:t>jne</a:t>
            </a:r>
            <a:r>
              <a:rPr lang="en-US" altLang="zh-CN" dirty="0">
                <a:latin typeface="Comic Sans MS" pitchFamily="66" charset="0"/>
              </a:rPr>
              <a:t> .L6</a:t>
            </a:r>
          </a:p>
          <a:p>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20</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
        <p:nvSpPr>
          <p:cNvPr id="9" name="矩形 8"/>
          <p:cNvSpPr/>
          <p:nvPr/>
        </p:nvSpPr>
        <p:spPr>
          <a:xfrm>
            <a:off x="5000628" y="285728"/>
            <a:ext cx="2571768" cy="3571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put x in %esi</a:t>
            </a:r>
            <a:endParaRPr lang="zh-CN" altLang="en-US" sz="2000" dirty="0">
              <a:solidFill>
                <a:srgbClr val="FF0000"/>
              </a:solidFill>
              <a:latin typeface="Comic Sans MS" pitchFamily="66" charset="0"/>
            </a:endParaRPr>
          </a:p>
        </p:txBody>
      </p:sp>
      <p:sp>
        <p:nvSpPr>
          <p:cNvPr id="10" name="矩形 9"/>
          <p:cNvSpPr/>
          <p:nvPr/>
        </p:nvSpPr>
        <p:spPr>
          <a:xfrm>
            <a:off x="5000628" y="642918"/>
            <a:ext cx="2571768" cy="3571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put y in %ebx</a:t>
            </a:r>
            <a:endParaRPr lang="zh-CN" altLang="en-US" sz="2000" dirty="0">
              <a:solidFill>
                <a:srgbClr val="FF0000"/>
              </a:solidFill>
              <a:latin typeface="Comic Sans MS" pitchFamily="66" charset="0"/>
            </a:endParaRPr>
          </a:p>
        </p:txBody>
      </p:sp>
      <p:sp>
        <p:nvSpPr>
          <p:cNvPr id="11" name="矩形 10"/>
          <p:cNvSpPr/>
          <p:nvPr/>
        </p:nvSpPr>
        <p:spPr>
          <a:xfrm>
            <a:off x="5000628" y="1071546"/>
            <a:ext cx="2571768" cy="3571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put n in %ecx</a:t>
            </a:r>
            <a:endParaRPr lang="zh-CN" altLang="en-US" sz="2000" dirty="0">
              <a:solidFill>
                <a:srgbClr val="FF0000"/>
              </a:solidFill>
              <a:latin typeface="Comic Sans MS" pitchFamily="66" charset="0"/>
            </a:endParaRPr>
          </a:p>
        </p:txBody>
      </p:sp>
      <p:sp>
        <p:nvSpPr>
          <p:cNvPr id="12" name="矩形 11"/>
          <p:cNvSpPr/>
          <p:nvPr/>
        </p:nvSpPr>
        <p:spPr>
          <a:xfrm>
            <a:off x="5000628" y="2214554"/>
            <a:ext cx="2571768" cy="3571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y  * = n</a:t>
            </a:r>
            <a:endParaRPr lang="zh-CN" altLang="en-US" sz="2000" dirty="0">
              <a:solidFill>
                <a:srgbClr val="FF0000"/>
              </a:solidFill>
              <a:latin typeface="Comic Sans MS" pitchFamily="66" charset="0"/>
            </a:endParaRPr>
          </a:p>
        </p:txBody>
      </p:sp>
      <p:sp>
        <p:nvSpPr>
          <p:cNvPr id="13" name="矩形 12"/>
          <p:cNvSpPr/>
          <p:nvPr/>
        </p:nvSpPr>
        <p:spPr>
          <a:xfrm>
            <a:off x="5000628" y="2571744"/>
            <a:ext cx="2571768" cy="3571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x  + = n</a:t>
            </a:r>
            <a:endParaRPr lang="zh-CN" altLang="en-US" sz="2000" dirty="0">
              <a:solidFill>
                <a:srgbClr val="FF0000"/>
              </a:solidFill>
              <a:latin typeface="Comic Sans MS" pitchFamily="66" charset="0"/>
            </a:endParaRPr>
          </a:p>
        </p:txBody>
      </p:sp>
      <p:sp>
        <p:nvSpPr>
          <p:cNvPr id="14" name="矩形 13"/>
          <p:cNvSpPr/>
          <p:nvPr/>
        </p:nvSpPr>
        <p:spPr>
          <a:xfrm>
            <a:off x="5000628" y="2928934"/>
            <a:ext cx="2571768" cy="3571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n--</a:t>
            </a:r>
            <a:endParaRPr lang="zh-CN" altLang="en-US" sz="2000" dirty="0">
              <a:solidFill>
                <a:srgbClr val="FF0000"/>
              </a:solidFill>
              <a:latin typeface="Comic Sans MS" pitchFamily="66" charset="0"/>
            </a:endParaRPr>
          </a:p>
        </p:txBody>
      </p:sp>
      <p:sp>
        <p:nvSpPr>
          <p:cNvPr id="15" name="矩形 14"/>
          <p:cNvSpPr/>
          <p:nvPr/>
        </p:nvSpPr>
        <p:spPr>
          <a:xfrm>
            <a:off x="5000628" y="3286124"/>
            <a:ext cx="2571768" cy="3571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test n</a:t>
            </a:r>
            <a:endParaRPr lang="zh-CN" altLang="en-US" sz="2000" dirty="0">
              <a:solidFill>
                <a:srgbClr val="FF0000"/>
              </a:solidFill>
              <a:latin typeface="Comic Sans MS" pitchFamily="66" charset="0"/>
            </a:endParaRPr>
          </a:p>
        </p:txBody>
      </p:sp>
      <p:sp>
        <p:nvSpPr>
          <p:cNvPr id="16" name="矩形 15"/>
          <p:cNvSpPr/>
          <p:nvPr/>
        </p:nvSpPr>
        <p:spPr>
          <a:xfrm>
            <a:off x="5000628" y="3643314"/>
            <a:ext cx="2571768" cy="3571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n &gt; 0</a:t>
            </a:r>
            <a:endParaRPr lang="zh-CN" altLang="en-US" sz="2000" dirty="0">
              <a:solidFill>
                <a:srgbClr val="FF0000"/>
              </a:solidFill>
              <a:latin typeface="Comic Sans MS" pitchFamily="66" charset="0"/>
            </a:endParaRPr>
          </a:p>
        </p:txBody>
      </p:sp>
      <p:sp>
        <p:nvSpPr>
          <p:cNvPr id="17" name="矩形 16"/>
          <p:cNvSpPr/>
          <p:nvPr/>
        </p:nvSpPr>
        <p:spPr>
          <a:xfrm>
            <a:off x="5000628" y="4143380"/>
            <a:ext cx="2571768" cy="3571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compare y:n</a:t>
            </a:r>
            <a:endParaRPr lang="zh-CN" altLang="en-US" sz="2000" dirty="0">
              <a:solidFill>
                <a:srgbClr val="FF0000"/>
              </a:solidFill>
              <a:latin typeface="Comic Sans MS" pitchFamily="66" charset="0"/>
            </a:endParaRPr>
          </a:p>
        </p:txBody>
      </p:sp>
      <p:sp>
        <p:nvSpPr>
          <p:cNvPr id="18" name="矩形 17"/>
          <p:cNvSpPr/>
          <p:nvPr/>
        </p:nvSpPr>
        <p:spPr>
          <a:xfrm>
            <a:off x="5000628" y="4500570"/>
            <a:ext cx="2571768" cy="3571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y &lt; n</a:t>
            </a:r>
            <a:endParaRPr lang="zh-CN" altLang="en-US" sz="2000" dirty="0">
              <a:solidFill>
                <a:srgbClr val="FF0000"/>
              </a:solidFill>
              <a:latin typeface="Comic Sans MS" pitchFamily="66" charset="0"/>
            </a:endParaRPr>
          </a:p>
        </p:txBody>
      </p:sp>
      <p:sp>
        <p:nvSpPr>
          <p:cNvPr id="19" name="矩形 18"/>
          <p:cNvSpPr/>
          <p:nvPr/>
        </p:nvSpPr>
        <p:spPr>
          <a:xfrm>
            <a:off x="5000628" y="4857760"/>
            <a:ext cx="2571768" cy="3571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(n &gt; 0) &amp; (y &lt; n)z</a:t>
            </a:r>
            <a:endParaRPr lang="zh-CN" altLang="en-US" sz="2000" dirty="0">
              <a:solidFill>
                <a:srgbClr val="FF0000"/>
              </a:solidFill>
              <a:latin typeface="Comic Sans MS" pitchFamily="66" charset="0"/>
            </a:endParaRPr>
          </a:p>
        </p:txBody>
      </p:sp>
      <p:sp>
        <p:nvSpPr>
          <p:cNvPr id="20" name="矩形 19"/>
          <p:cNvSpPr/>
          <p:nvPr/>
        </p:nvSpPr>
        <p:spPr>
          <a:xfrm>
            <a:off x="5000628" y="5286388"/>
            <a:ext cx="3714776"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test least significant bit</a:t>
            </a:r>
            <a:endParaRPr lang="zh-CN" altLang="en-US" sz="2000" dirty="0">
              <a:solidFill>
                <a:srgbClr val="FF0000"/>
              </a:solidFill>
              <a:latin typeface="Comic Sans MS" pitchFamily="66" charset="0"/>
            </a:endParaRPr>
          </a:p>
        </p:txBody>
      </p:sp>
      <p:sp>
        <p:nvSpPr>
          <p:cNvPr id="22" name="矩形 21"/>
          <p:cNvSpPr/>
          <p:nvPr/>
        </p:nvSpPr>
        <p:spPr>
          <a:xfrm>
            <a:off x="5000628" y="5715016"/>
            <a:ext cx="3714776" cy="4286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 if !=0, goto loop</a:t>
            </a:r>
            <a:endParaRPr lang="zh-CN" altLang="en-US" sz="2000" dirty="0">
              <a:solidFill>
                <a:srgbClr val="FF0000"/>
              </a:solidFill>
              <a:latin typeface="Comic Sans MS" pitchFamily="66" charset="0"/>
            </a:endParaRPr>
          </a:p>
        </p:txBody>
      </p:sp>
      <p:graphicFrame>
        <p:nvGraphicFramePr>
          <p:cNvPr id="8" name="表格 7"/>
          <p:cNvGraphicFramePr>
            <a:graphicFrameLocks noGrp="1"/>
          </p:cNvGraphicFramePr>
          <p:nvPr/>
        </p:nvGraphicFramePr>
        <p:xfrm>
          <a:off x="4071903" y="2428868"/>
          <a:ext cx="5072097" cy="1798320"/>
        </p:xfrm>
        <a:graphic>
          <a:graphicData uri="http://schemas.openxmlformats.org/drawingml/2006/table">
            <a:tbl>
              <a:tblPr firstRow="1" bandRow="1">
                <a:tableStyleId>{BC89EF96-8CEA-46FF-86C4-4CE0E7609802}</a:tableStyleId>
              </a:tblPr>
              <a:tblGrid>
                <a:gridCol w="1690699">
                  <a:extLst>
                    <a:ext uri="{9D8B030D-6E8A-4147-A177-3AD203B41FA5}">
                      <a16:colId xmlns:a16="http://schemas.microsoft.com/office/drawing/2014/main" val="20000"/>
                    </a:ext>
                  </a:extLst>
                </a:gridCol>
                <a:gridCol w="1690699">
                  <a:extLst>
                    <a:ext uri="{9D8B030D-6E8A-4147-A177-3AD203B41FA5}">
                      <a16:colId xmlns:a16="http://schemas.microsoft.com/office/drawing/2014/main" val="20001"/>
                    </a:ext>
                  </a:extLst>
                </a:gridCol>
                <a:gridCol w="1690699">
                  <a:extLst>
                    <a:ext uri="{9D8B030D-6E8A-4147-A177-3AD203B41FA5}">
                      <a16:colId xmlns:a16="http://schemas.microsoft.com/office/drawing/2014/main" val="20002"/>
                    </a:ext>
                  </a:extLst>
                </a:gridCol>
              </a:tblGrid>
              <a:tr h="370840">
                <a:tc gridSpan="3">
                  <a:txBody>
                    <a:bodyPr/>
                    <a:lstStyle/>
                    <a:p>
                      <a:pPr algn="ctr"/>
                      <a:r>
                        <a:rPr lang="en-US" altLang="zh-CN" sz="2000" dirty="0">
                          <a:latin typeface="Comic Sans MS" pitchFamily="66" charset="0"/>
                        </a:rPr>
                        <a:t>Register usage</a:t>
                      </a:r>
                      <a:endParaRPr lang="zh-CN" altLang="en-US" sz="2000" dirty="0">
                        <a:latin typeface="Comic Sans MS" pitchFamily="66" charset="0"/>
                      </a:endParaRPr>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0000"/>
                  </a:ext>
                </a:extLst>
              </a:tr>
              <a:tr h="370840">
                <a:tc>
                  <a:txBody>
                    <a:bodyPr/>
                    <a:lstStyle/>
                    <a:p>
                      <a:r>
                        <a:rPr lang="en-US" altLang="zh-CN" sz="2000" baseline="0" dirty="0">
                          <a:latin typeface="Comic Sans MS" pitchFamily="66" charset="0"/>
                        </a:rPr>
                        <a:t> Register</a:t>
                      </a:r>
                      <a:endParaRPr lang="zh-CN" altLang="en-US" sz="2000" dirty="0">
                        <a:latin typeface="Comic Sans MS" pitchFamily="66" charset="0"/>
                      </a:endParaRPr>
                    </a:p>
                  </a:txBody>
                  <a:tcPr/>
                </a:tc>
                <a:tc>
                  <a:txBody>
                    <a:bodyPr/>
                    <a:lstStyle/>
                    <a:p>
                      <a:r>
                        <a:rPr lang="en-US" altLang="zh-CN" sz="2000" dirty="0">
                          <a:latin typeface="Comic Sans MS" pitchFamily="66" charset="0"/>
                        </a:rPr>
                        <a:t> Variable </a:t>
                      </a:r>
                      <a:endParaRPr lang="zh-CN" altLang="en-US" sz="2000" dirty="0">
                        <a:latin typeface="Comic Sans MS" pitchFamily="66" charset="0"/>
                      </a:endParaRPr>
                    </a:p>
                  </a:txBody>
                  <a:tcPr/>
                </a:tc>
                <a:tc>
                  <a:txBody>
                    <a:bodyPr/>
                    <a:lstStyle/>
                    <a:p>
                      <a:r>
                        <a:rPr lang="en-US" altLang="zh-CN" sz="2000" dirty="0">
                          <a:latin typeface="Comic Sans MS" pitchFamily="66" charset="0"/>
                        </a:rPr>
                        <a:t> Initially</a:t>
                      </a:r>
                      <a:endParaRPr lang="zh-CN" altLang="en-US" sz="2000" dirty="0">
                        <a:latin typeface="Comic Sans MS" pitchFamily="66" charset="0"/>
                      </a:endParaRPr>
                    </a:p>
                  </a:txBody>
                  <a:tcPr/>
                </a:tc>
                <a:extLst>
                  <a:ext uri="{0D108BD9-81ED-4DB2-BD59-A6C34878D82A}">
                    <a16:rowId xmlns:a16="http://schemas.microsoft.com/office/drawing/2014/main" val="10001"/>
                  </a:ext>
                </a:extLst>
              </a:tr>
              <a:tr h="370840">
                <a:tc>
                  <a:txBody>
                    <a:bodyPr/>
                    <a:lstStyle/>
                    <a:p>
                      <a:r>
                        <a:rPr lang="en-US" altLang="zh-CN" sz="2000" dirty="0">
                          <a:latin typeface="Comic Sans MS" pitchFamily="66" charset="0"/>
                        </a:rPr>
                        <a:t> %esi</a:t>
                      </a:r>
                    </a:p>
                    <a:p>
                      <a:r>
                        <a:rPr lang="en-US" altLang="zh-CN" sz="2000" dirty="0">
                          <a:latin typeface="Comic Sans MS" pitchFamily="66" charset="0"/>
                        </a:rPr>
                        <a:t> %ebx</a:t>
                      </a:r>
                    </a:p>
                    <a:p>
                      <a:r>
                        <a:rPr lang="en-US" altLang="zh-CN" sz="2000" dirty="0">
                          <a:latin typeface="Comic Sans MS" pitchFamily="66" charset="0"/>
                        </a:rPr>
                        <a:t> %ecx</a:t>
                      </a:r>
                      <a:endParaRPr lang="zh-CN" altLang="en-US" sz="2000" dirty="0">
                        <a:latin typeface="Comic Sans MS" pitchFamily="66" charset="0"/>
                      </a:endParaRPr>
                    </a:p>
                  </a:txBody>
                  <a:tcPr/>
                </a:tc>
                <a:tc>
                  <a:txBody>
                    <a:bodyPr/>
                    <a:lstStyle/>
                    <a:p>
                      <a:r>
                        <a:rPr lang="en-US" altLang="zh-CN" sz="2000" dirty="0">
                          <a:solidFill>
                            <a:srgbClr val="0070C0"/>
                          </a:solidFill>
                          <a:latin typeface="Comic Sans MS" pitchFamily="66" charset="0"/>
                        </a:rPr>
                        <a:t>  x</a:t>
                      </a:r>
                    </a:p>
                    <a:p>
                      <a:r>
                        <a:rPr lang="en-US" altLang="zh-CN" sz="2000" dirty="0">
                          <a:solidFill>
                            <a:srgbClr val="0070C0"/>
                          </a:solidFill>
                          <a:latin typeface="Comic Sans MS" pitchFamily="66" charset="0"/>
                        </a:rPr>
                        <a:t>  y</a:t>
                      </a:r>
                    </a:p>
                    <a:p>
                      <a:r>
                        <a:rPr lang="en-US" altLang="zh-CN" sz="2000" dirty="0">
                          <a:solidFill>
                            <a:srgbClr val="0070C0"/>
                          </a:solidFill>
                          <a:latin typeface="Comic Sans MS" pitchFamily="66" charset="0"/>
                        </a:rPr>
                        <a:t>  n</a:t>
                      </a:r>
                      <a:endParaRPr lang="zh-CN" altLang="en-US" sz="2000" dirty="0">
                        <a:solidFill>
                          <a:srgbClr val="0070C0"/>
                        </a:solidFill>
                        <a:latin typeface="Comic Sans MS" pitchFamily="66" charset="0"/>
                      </a:endParaRPr>
                    </a:p>
                  </a:txBody>
                  <a:tcPr/>
                </a:tc>
                <a:tc>
                  <a:txBody>
                    <a:bodyPr/>
                    <a:lstStyle/>
                    <a:p>
                      <a:r>
                        <a:rPr lang="en-US" altLang="zh-CN" sz="2000" dirty="0">
                          <a:solidFill>
                            <a:srgbClr val="0070C0"/>
                          </a:solidFill>
                          <a:latin typeface="Comic Sans MS" pitchFamily="66" charset="0"/>
                        </a:rPr>
                        <a:t>  x</a:t>
                      </a:r>
                    </a:p>
                    <a:p>
                      <a:r>
                        <a:rPr lang="en-US" altLang="zh-CN" sz="2000" dirty="0">
                          <a:solidFill>
                            <a:srgbClr val="0070C0"/>
                          </a:solidFill>
                          <a:latin typeface="Comic Sans MS" pitchFamily="66" charset="0"/>
                        </a:rPr>
                        <a:t>  y</a:t>
                      </a:r>
                    </a:p>
                    <a:p>
                      <a:r>
                        <a:rPr lang="en-US" altLang="zh-CN" sz="2000" dirty="0">
                          <a:solidFill>
                            <a:srgbClr val="0070C0"/>
                          </a:solidFill>
                          <a:latin typeface="Comic Sans MS" pitchFamily="66" charset="0"/>
                        </a:rPr>
                        <a:t>  n</a:t>
                      </a:r>
                      <a:endParaRPr lang="zh-CN" altLang="en-US" sz="2000" dirty="0">
                        <a:solidFill>
                          <a:srgbClr val="0070C0"/>
                        </a:solidFill>
                        <a:latin typeface="Comic Sans MS" pitchFamily="66" charset="0"/>
                      </a:endParaRPr>
                    </a:p>
                  </a:txBody>
                  <a:tcPr/>
                </a:tc>
                <a:extLst>
                  <a:ext uri="{0D108BD9-81ED-4DB2-BD59-A6C34878D82A}">
                    <a16:rowId xmlns:a16="http://schemas.microsoft.com/office/drawing/2014/main" val="10002"/>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linds(horizontal)">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blinds(horizontal)">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blinds(horizontal)">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blinds(horizontal)">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blinds(horizontal)">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blinds(horizontal)">
                                      <p:cBhvr>
                                        <p:cTn id="57" dur="5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blinds(horizontal)">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blinds(horizontal)">
                                      <p:cBhvr>
                                        <p:cTn id="67" dur="500"/>
                                        <p:tgtEl>
                                          <p:spTgt spid="22"/>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blinds(horizontal)">
                                      <p:cBhvr>
                                        <p:cTn id="72" dur="500"/>
                                        <p:tgtEl>
                                          <p:spTgt spid="8"/>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xit" presetSubtype="10" fill="hold" nodeType="clickEffect">
                                  <p:stCondLst>
                                    <p:cond delay="0"/>
                                  </p:stCondLst>
                                  <p:childTnLst>
                                    <p:animEffect transition="out" filter="blinds(horizontal)">
                                      <p:cBhvr>
                                        <p:cTn id="76" dur="500"/>
                                        <p:tgtEl>
                                          <p:spTgt spid="8"/>
                                        </p:tgtEl>
                                      </p:cBhvr>
                                    </p:animEffect>
                                    <p:set>
                                      <p:cBhvr>
                                        <p:cTn id="7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70C0"/>
                </a:solidFill>
                <a:latin typeface="Comic Sans MS" pitchFamily="66" charset="0"/>
              </a:rPr>
              <a:t>Problem 3.11 </a:t>
            </a:r>
            <a:r>
              <a:rPr lang="en-US" altLang="zh-CN" dirty="0">
                <a:latin typeface="Comic Sans MS" pitchFamily="66" charset="0"/>
              </a:rPr>
              <a:t>(P163)</a:t>
            </a:r>
            <a:endParaRPr lang="zh-CN" altLang="en-US" dirty="0">
              <a:latin typeface="Comic Sans MS" pitchFamily="66" charset="0"/>
            </a:endParaRPr>
          </a:p>
        </p:txBody>
      </p:sp>
      <p:sp>
        <p:nvSpPr>
          <p:cNvPr id="3" name="内容占位符 2"/>
          <p:cNvSpPr>
            <a:spLocks noGrp="1"/>
          </p:cNvSpPr>
          <p:nvPr>
            <p:ph idx="1"/>
          </p:nvPr>
        </p:nvSpPr>
        <p:spPr/>
        <p:txBody>
          <a:bodyPr>
            <a:normAutofit fontScale="70000" lnSpcReduction="20000"/>
          </a:bodyPr>
          <a:lstStyle/>
          <a:p>
            <a:r>
              <a:rPr lang="en-US" altLang="zh-CN" dirty="0">
                <a:latin typeface="Comic Sans MS" pitchFamily="66" charset="0"/>
              </a:rPr>
              <a:t>For the following C code:</a:t>
            </a:r>
          </a:p>
          <a:p>
            <a:pPr>
              <a:buNone/>
            </a:pPr>
            <a:r>
              <a:rPr lang="en-US" altLang="zh-CN" dirty="0">
                <a:latin typeface="Comic Sans MS" pitchFamily="66" charset="0"/>
              </a:rPr>
              <a:t>    int </a:t>
            </a:r>
            <a:r>
              <a:rPr lang="en-US" altLang="zh-CN" dirty="0" err="1">
                <a:latin typeface="Comic Sans MS" pitchFamily="66" charset="0"/>
              </a:rPr>
              <a:t>loop_while</a:t>
            </a:r>
            <a:r>
              <a:rPr lang="en-US" altLang="zh-CN" dirty="0">
                <a:latin typeface="Comic Sans MS" pitchFamily="66" charset="0"/>
              </a:rPr>
              <a:t> (int a, int b)</a:t>
            </a:r>
          </a:p>
          <a:p>
            <a:pPr>
              <a:buNone/>
            </a:pPr>
            <a:r>
              <a:rPr lang="en-US" altLang="zh-CN" dirty="0">
                <a:latin typeface="Comic Sans MS" pitchFamily="66" charset="0"/>
              </a:rPr>
              <a:t>    {</a:t>
            </a:r>
          </a:p>
          <a:p>
            <a:pPr>
              <a:buNone/>
            </a:pPr>
            <a:r>
              <a:rPr lang="en-US" altLang="zh-CN" dirty="0">
                <a:latin typeface="Comic Sans MS" pitchFamily="66" charset="0"/>
              </a:rPr>
              <a:t>       int i = 0;</a:t>
            </a:r>
          </a:p>
          <a:p>
            <a:pPr>
              <a:buNone/>
            </a:pPr>
            <a:r>
              <a:rPr lang="en-US" altLang="zh-CN" dirty="0">
                <a:latin typeface="Comic Sans MS" pitchFamily="66" charset="0"/>
              </a:rPr>
              <a:t>       int result = a;</a:t>
            </a:r>
          </a:p>
          <a:p>
            <a:pPr>
              <a:buNone/>
            </a:pPr>
            <a:r>
              <a:rPr lang="en-US" altLang="zh-CN" dirty="0">
                <a:latin typeface="Comic Sans MS" pitchFamily="66" charset="0"/>
              </a:rPr>
              <a:t>       while (i &lt; 256){</a:t>
            </a:r>
          </a:p>
          <a:p>
            <a:pPr>
              <a:buNone/>
            </a:pPr>
            <a:r>
              <a:rPr lang="en-US" altLang="zh-CN" dirty="0">
                <a:latin typeface="Comic Sans MS" pitchFamily="66" charset="0"/>
              </a:rPr>
              <a:t>           result += a;</a:t>
            </a:r>
          </a:p>
          <a:p>
            <a:pPr>
              <a:buNone/>
            </a:pPr>
            <a:r>
              <a:rPr lang="en-US" altLang="zh-CN" dirty="0">
                <a:latin typeface="Comic Sans MS" pitchFamily="66" charset="0"/>
              </a:rPr>
              <a:t>           a -= b;</a:t>
            </a:r>
          </a:p>
          <a:p>
            <a:pPr>
              <a:buNone/>
            </a:pPr>
            <a:r>
              <a:rPr lang="en-US" altLang="zh-CN" dirty="0">
                <a:latin typeface="Comic Sans MS" pitchFamily="66" charset="0"/>
              </a:rPr>
              <a:t>           i += b;</a:t>
            </a:r>
          </a:p>
          <a:p>
            <a:pPr>
              <a:buNone/>
            </a:pPr>
            <a:r>
              <a:rPr lang="en-US" altLang="zh-CN" dirty="0">
                <a:latin typeface="Comic Sans MS" pitchFamily="66" charset="0"/>
              </a:rPr>
              <a:t>       }</a:t>
            </a:r>
          </a:p>
          <a:p>
            <a:pPr>
              <a:buNone/>
            </a:pPr>
            <a:r>
              <a:rPr lang="en-US" altLang="zh-CN" dirty="0">
                <a:latin typeface="Comic Sans MS" pitchFamily="66" charset="0"/>
              </a:rPr>
              <a:t>       return result;</a:t>
            </a:r>
          </a:p>
          <a:p>
            <a:pPr>
              <a:buNone/>
            </a:pPr>
            <a:r>
              <a:rPr lang="en-US" altLang="zh-CN" dirty="0">
                <a:latin typeface="Comic Sans MS" pitchFamily="66" charset="0"/>
              </a:rPr>
              <a:t>   }</a:t>
            </a:r>
          </a:p>
          <a:p>
            <a:r>
              <a:rPr lang="en-US" altLang="zh-CN" dirty="0">
                <a:latin typeface="Comic Sans MS" pitchFamily="66" charset="0"/>
              </a:rPr>
              <a:t>GCC generates the following assembly code:</a:t>
            </a:r>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21</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44" y="357166"/>
            <a:ext cx="8229600" cy="5768997"/>
          </a:xfrm>
        </p:spPr>
        <p:txBody>
          <a:bodyPr>
            <a:normAutofit fontScale="92500" lnSpcReduction="10000"/>
          </a:bodyPr>
          <a:lstStyle/>
          <a:p>
            <a:pPr>
              <a:buNone/>
            </a:pPr>
            <a:r>
              <a:rPr lang="en-US" altLang="zh-CN" dirty="0">
                <a:latin typeface="Comic Sans MS" pitchFamily="66" charset="0"/>
              </a:rPr>
              <a:t>   movl 8(%ebp), %eax</a:t>
            </a:r>
          </a:p>
          <a:p>
            <a:pPr>
              <a:buNone/>
            </a:pPr>
            <a:r>
              <a:rPr lang="en-US" altLang="zh-CN" dirty="0">
                <a:latin typeface="Comic Sans MS" pitchFamily="66" charset="0"/>
              </a:rPr>
              <a:t>   movl 12(%ebp), %ebx</a:t>
            </a:r>
          </a:p>
          <a:p>
            <a:pPr>
              <a:buNone/>
            </a:pPr>
            <a:r>
              <a:rPr lang="en-US" altLang="zh-CN" dirty="0">
                <a:latin typeface="Comic Sans MS" pitchFamily="66" charset="0"/>
              </a:rPr>
              <a:t>   xorl  %ecx, %ecx</a:t>
            </a:r>
          </a:p>
          <a:p>
            <a:pPr>
              <a:buNone/>
            </a:pPr>
            <a:r>
              <a:rPr lang="en-US" altLang="zh-CN" dirty="0">
                <a:latin typeface="Comic Sans MS" pitchFamily="66" charset="0"/>
              </a:rPr>
              <a:t>   movl %eax, %edx</a:t>
            </a:r>
          </a:p>
          <a:p>
            <a:pPr>
              <a:buNone/>
            </a:pPr>
            <a:r>
              <a:rPr lang="en-US" altLang="zh-CN" dirty="0">
                <a:latin typeface="Comic Sans MS" pitchFamily="66" charset="0"/>
              </a:rPr>
              <a:t>    .p2align 4, , 7</a:t>
            </a:r>
          </a:p>
          <a:p>
            <a:pPr>
              <a:buNone/>
            </a:pPr>
            <a:r>
              <a:rPr lang="en-US" altLang="zh-CN" dirty="0">
                <a:latin typeface="Comic Sans MS" pitchFamily="66" charset="0"/>
              </a:rPr>
              <a:t> .L5:                  loop:</a:t>
            </a:r>
          </a:p>
          <a:p>
            <a:pPr>
              <a:buNone/>
            </a:pPr>
            <a:r>
              <a:rPr lang="en-US" altLang="zh-CN" dirty="0">
                <a:latin typeface="Comic Sans MS" pitchFamily="66" charset="0"/>
              </a:rPr>
              <a:t>    addl %eax, %edx</a:t>
            </a:r>
          </a:p>
          <a:p>
            <a:pPr>
              <a:buNone/>
            </a:pPr>
            <a:r>
              <a:rPr lang="en-US" altLang="zh-CN" dirty="0">
                <a:latin typeface="Comic Sans MS" pitchFamily="66" charset="0"/>
              </a:rPr>
              <a:t>    subl %ebx, %eax</a:t>
            </a:r>
          </a:p>
          <a:p>
            <a:pPr>
              <a:buNone/>
            </a:pPr>
            <a:r>
              <a:rPr lang="en-US" altLang="zh-CN" dirty="0">
                <a:latin typeface="Comic Sans MS" pitchFamily="66" charset="0"/>
              </a:rPr>
              <a:t>    addl %ebx, %ecx</a:t>
            </a:r>
          </a:p>
          <a:p>
            <a:pPr>
              <a:buNone/>
            </a:pPr>
            <a:r>
              <a:rPr lang="en-US" altLang="zh-CN" dirty="0">
                <a:latin typeface="Comic Sans MS" pitchFamily="66" charset="0"/>
              </a:rPr>
              <a:t>    cmpl $255, %ecx</a:t>
            </a:r>
          </a:p>
          <a:p>
            <a:pPr>
              <a:buNone/>
            </a:pPr>
            <a:r>
              <a:rPr lang="en-US" altLang="zh-CN" dirty="0">
                <a:latin typeface="Comic Sans MS" pitchFamily="66" charset="0"/>
              </a:rPr>
              <a:t>    jle .L5</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22</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
        <p:nvSpPr>
          <p:cNvPr id="8" name="矩形 7"/>
          <p:cNvSpPr/>
          <p:nvPr/>
        </p:nvSpPr>
        <p:spPr>
          <a:xfrm>
            <a:off x="5286380" y="285728"/>
            <a:ext cx="2714644"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chemeClr val="bg1">
                    <a:lumMod val="65000"/>
                  </a:schemeClr>
                </a:solidFill>
                <a:latin typeface="Comic Sans MS" pitchFamily="66" charset="0"/>
              </a:rPr>
              <a:t> </a:t>
            </a:r>
            <a:r>
              <a:rPr lang="en-US" altLang="zh-CN" sz="2800" dirty="0">
                <a:solidFill>
                  <a:schemeClr val="bg1">
                    <a:lumMod val="65000"/>
                  </a:schemeClr>
                </a:solidFill>
                <a:latin typeface="Comic Sans MS" pitchFamily="66" charset="0"/>
              </a:rPr>
              <a:t>put a in %eax</a:t>
            </a:r>
            <a:endParaRPr lang="zh-CN" altLang="en-US" sz="2800" dirty="0">
              <a:solidFill>
                <a:schemeClr val="bg1">
                  <a:lumMod val="65000"/>
                </a:schemeClr>
              </a:solidFill>
              <a:latin typeface="Comic Sans MS" pitchFamily="66" charset="0"/>
            </a:endParaRPr>
          </a:p>
        </p:txBody>
      </p:sp>
      <p:sp>
        <p:nvSpPr>
          <p:cNvPr id="9" name="矩形 8"/>
          <p:cNvSpPr/>
          <p:nvPr/>
        </p:nvSpPr>
        <p:spPr>
          <a:xfrm>
            <a:off x="5286380" y="785794"/>
            <a:ext cx="2714644"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chemeClr val="bg1">
                    <a:lumMod val="65000"/>
                  </a:schemeClr>
                </a:solidFill>
                <a:latin typeface="Comic Sans MS" pitchFamily="66" charset="0"/>
              </a:rPr>
              <a:t> </a:t>
            </a:r>
            <a:r>
              <a:rPr lang="en-US" altLang="zh-CN" sz="2800" dirty="0">
                <a:solidFill>
                  <a:schemeClr val="bg1">
                    <a:lumMod val="65000"/>
                  </a:schemeClr>
                </a:solidFill>
                <a:latin typeface="Comic Sans MS" pitchFamily="66" charset="0"/>
              </a:rPr>
              <a:t>put b in %ebx</a:t>
            </a:r>
            <a:endParaRPr lang="zh-CN" altLang="en-US" sz="2800" dirty="0">
              <a:solidFill>
                <a:schemeClr val="bg1">
                  <a:lumMod val="65000"/>
                </a:schemeClr>
              </a:solidFill>
              <a:latin typeface="Comic Sans MS" pitchFamily="66" charset="0"/>
            </a:endParaRPr>
          </a:p>
        </p:txBody>
      </p:sp>
      <p:sp>
        <p:nvSpPr>
          <p:cNvPr id="10" name="矩形 9"/>
          <p:cNvSpPr/>
          <p:nvPr/>
        </p:nvSpPr>
        <p:spPr>
          <a:xfrm>
            <a:off x="5286380" y="1285860"/>
            <a:ext cx="2714644"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chemeClr val="bg1">
                    <a:lumMod val="65000"/>
                  </a:schemeClr>
                </a:solidFill>
                <a:latin typeface="Comic Sans MS" pitchFamily="66" charset="0"/>
              </a:rPr>
              <a:t> </a:t>
            </a:r>
            <a:r>
              <a:rPr lang="en-US" altLang="zh-CN" sz="2800" dirty="0">
                <a:solidFill>
                  <a:schemeClr val="bg1">
                    <a:lumMod val="65000"/>
                  </a:schemeClr>
                </a:solidFill>
                <a:latin typeface="Comic Sans MS" pitchFamily="66" charset="0"/>
              </a:rPr>
              <a:t> i= 0</a:t>
            </a:r>
            <a:endParaRPr lang="zh-CN" altLang="en-US" sz="2800" dirty="0">
              <a:solidFill>
                <a:schemeClr val="bg1">
                  <a:lumMod val="65000"/>
                </a:schemeClr>
              </a:solidFill>
              <a:latin typeface="Comic Sans MS" pitchFamily="66" charset="0"/>
            </a:endParaRPr>
          </a:p>
        </p:txBody>
      </p:sp>
      <p:sp>
        <p:nvSpPr>
          <p:cNvPr id="11" name="矩形 10"/>
          <p:cNvSpPr/>
          <p:nvPr/>
        </p:nvSpPr>
        <p:spPr>
          <a:xfrm>
            <a:off x="5286380" y="1714488"/>
            <a:ext cx="2714644"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chemeClr val="bg1">
                    <a:lumMod val="65000"/>
                  </a:schemeClr>
                </a:solidFill>
                <a:latin typeface="Comic Sans MS" pitchFamily="66" charset="0"/>
              </a:rPr>
              <a:t> </a:t>
            </a:r>
            <a:r>
              <a:rPr lang="en-US" altLang="zh-CN" sz="2800" dirty="0">
                <a:solidFill>
                  <a:schemeClr val="bg1">
                    <a:lumMod val="65000"/>
                  </a:schemeClr>
                </a:solidFill>
                <a:latin typeface="Comic Sans MS" pitchFamily="66" charset="0"/>
              </a:rPr>
              <a:t> result = a</a:t>
            </a:r>
            <a:endParaRPr lang="zh-CN" altLang="en-US" sz="2800" dirty="0">
              <a:solidFill>
                <a:schemeClr val="bg1">
                  <a:lumMod val="65000"/>
                </a:schemeClr>
              </a:solidFill>
              <a:latin typeface="Comic Sans MS" pitchFamily="66" charset="0"/>
            </a:endParaRPr>
          </a:p>
        </p:txBody>
      </p:sp>
      <p:sp>
        <p:nvSpPr>
          <p:cNvPr id="12" name="矩形 11"/>
          <p:cNvSpPr/>
          <p:nvPr/>
        </p:nvSpPr>
        <p:spPr>
          <a:xfrm>
            <a:off x="5286380" y="3357562"/>
            <a:ext cx="2714644"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chemeClr val="bg1">
                    <a:lumMod val="65000"/>
                  </a:schemeClr>
                </a:solidFill>
                <a:latin typeface="Comic Sans MS" pitchFamily="66" charset="0"/>
              </a:rPr>
              <a:t> </a:t>
            </a:r>
            <a:r>
              <a:rPr lang="en-US" altLang="zh-CN" sz="2800" dirty="0">
                <a:solidFill>
                  <a:schemeClr val="bg1">
                    <a:lumMod val="65000"/>
                  </a:schemeClr>
                </a:solidFill>
                <a:latin typeface="Comic Sans MS" pitchFamily="66" charset="0"/>
              </a:rPr>
              <a:t> result += a</a:t>
            </a:r>
            <a:endParaRPr lang="zh-CN" altLang="en-US" sz="2800" dirty="0">
              <a:solidFill>
                <a:schemeClr val="bg1">
                  <a:lumMod val="65000"/>
                </a:schemeClr>
              </a:solidFill>
              <a:latin typeface="Comic Sans MS" pitchFamily="66" charset="0"/>
            </a:endParaRPr>
          </a:p>
        </p:txBody>
      </p:sp>
      <p:sp>
        <p:nvSpPr>
          <p:cNvPr id="13" name="矩形 12"/>
          <p:cNvSpPr/>
          <p:nvPr/>
        </p:nvSpPr>
        <p:spPr>
          <a:xfrm>
            <a:off x="5286380" y="3857628"/>
            <a:ext cx="2714644"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chemeClr val="bg1">
                    <a:lumMod val="65000"/>
                  </a:schemeClr>
                </a:solidFill>
                <a:latin typeface="Comic Sans MS" pitchFamily="66" charset="0"/>
              </a:rPr>
              <a:t> </a:t>
            </a:r>
            <a:r>
              <a:rPr lang="en-US" altLang="zh-CN" sz="2800" dirty="0">
                <a:solidFill>
                  <a:schemeClr val="bg1">
                    <a:lumMod val="65000"/>
                  </a:schemeClr>
                </a:solidFill>
                <a:latin typeface="Comic Sans MS" pitchFamily="66" charset="0"/>
              </a:rPr>
              <a:t> a -= b</a:t>
            </a:r>
            <a:endParaRPr lang="zh-CN" altLang="en-US" sz="2800" dirty="0">
              <a:solidFill>
                <a:schemeClr val="bg1">
                  <a:lumMod val="65000"/>
                </a:schemeClr>
              </a:solidFill>
              <a:latin typeface="Comic Sans MS" pitchFamily="66" charset="0"/>
            </a:endParaRPr>
          </a:p>
        </p:txBody>
      </p:sp>
      <p:sp>
        <p:nvSpPr>
          <p:cNvPr id="14" name="矩形 13"/>
          <p:cNvSpPr/>
          <p:nvPr/>
        </p:nvSpPr>
        <p:spPr>
          <a:xfrm>
            <a:off x="5286380" y="4286256"/>
            <a:ext cx="2714644"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chemeClr val="bg1">
                    <a:lumMod val="65000"/>
                  </a:schemeClr>
                </a:solidFill>
                <a:latin typeface="Comic Sans MS" pitchFamily="66" charset="0"/>
              </a:rPr>
              <a:t> </a:t>
            </a:r>
            <a:r>
              <a:rPr lang="en-US" altLang="zh-CN" sz="2800" dirty="0">
                <a:solidFill>
                  <a:schemeClr val="bg1">
                    <a:lumMod val="65000"/>
                  </a:schemeClr>
                </a:solidFill>
                <a:latin typeface="Comic Sans MS" pitchFamily="66" charset="0"/>
              </a:rPr>
              <a:t> i += b</a:t>
            </a:r>
            <a:endParaRPr lang="zh-CN" altLang="en-US" sz="2800" dirty="0">
              <a:solidFill>
                <a:schemeClr val="bg1">
                  <a:lumMod val="65000"/>
                </a:schemeClr>
              </a:solidFill>
              <a:latin typeface="Comic Sans MS" pitchFamily="66" charset="0"/>
            </a:endParaRPr>
          </a:p>
        </p:txBody>
      </p:sp>
      <p:sp>
        <p:nvSpPr>
          <p:cNvPr id="15" name="矩形 14"/>
          <p:cNvSpPr/>
          <p:nvPr/>
        </p:nvSpPr>
        <p:spPr>
          <a:xfrm>
            <a:off x="5286380" y="4714884"/>
            <a:ext cx="3000396"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chemeClr val="bg1">
                    <a:lumMod val="65000"/>
                  </a:schemeClr>
                </a:solidFill>
                <a:latin typeface="Comic Sans MS" pitchFamily="66" charset="0"/>
              </a:rPr>
              <a:t> </a:t>
            </a:r>
            <a:r>
              <a:rPr lang="en-US" altLang="zh-CN" sz="2800" dirty="0">
                <a:solidFill>
                  <a:schemeClr val="bg1">
                    <a:lumMod val="65000"/>
                  </a:schemeClr>
                </a:solidFill>
                <a:latin typeface="Comic Sans MS" pitchFamily="66" charset="0"/>
              </a:rPr>
              <a:t> compare i:255</a:t>
            </a:r>
            <a:endParaRPr lang="zh-CN" altLang="en-US" sz="2800" dirty="0">
              <a:solidFill>
                <a:schemeClr val="bg1">
                  <a:lumMod val="65000"/>
                </a:schemeClr>
              </a:solidFill>
              <a:latin typeface="Comic Sans MS" pitchFamily="66" charset="0"/>
            </a:endParaRPr>
          </a:p>
        </p:txBody>
      </p:sp>
      <p:sp>
        <p:nvSpPr>
          <p:cNvPr id="16" name="矩形 15"/>
          <p:cNvSpPr/>
          <p:nvPr/>
        </p:nvSpPr>
        <p:spPr>
          <a:xfrm>
            <a:off x="5286380" y="5286388"/>
            <a:ext cx="3000396"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chemeClr val="bg1">
                    <a:lumMod val="65000"/>
                  </a:schemeClr>
                </a:solidFill>
                <a:latin typeface="Comic Sans MS" pitchFamily="66" charset="0"/>
              </a:rPr>
              <a:t> </a:t>
            </a:r>
            <a:r>
              <a:rPr lang="en-US" altLang="zh-CN" sz="2800" dirty="0">
                <a:solidFill>
                  <a:schemeClr val="bg1">
                    <a:lumMod val="65000"/>
                  </a:schemeClr>
                </a:solidFill>
                <a:latin typeface="Comic Sans MS" pitchFamily="66" charset="0"/>
              </a:rPr>
              <a:t> if &lt;= goto loop</a:t>
            </a:r>
            <a:endParaRPr lang="zh-CN" altLang="en-US" sz="2800" dirty="0">
              <a:solidFill>
                <a:schemeClr val="bg1">
                  <a:lumMod val="65000"/>
                </a:schemeClr>
              </a:solidFill>
              <a:latin typeface="Comic Sans MS" pitchFamily="66" charset="0"/>
            </a:endParaRPr>
          </a:p>
        </p:txBody>
      </p:sp>
      <p:graphicFrame>
        <p:nvGraphicFramePr>
          <p:cNvPr id="17" name="表格 16"/>
          <p:cNvGraphicFramePr>
            <a:graphicFrameLocks noGrp="1"/>
          </p:cNvGraphicFramePr>
          <p:nvPr/>
        </p:nvGraphicFramePr>
        <p:xfrm>
          <a:off x="4071903" y="4214818"/>
          <a:ext cx="5072097" cy="2103120"/>
        </p:xfrm>
        <a:graphic>
          <a:graphicData uri="http://schemas.openxmlformats.org/drawingml/2006/table">
            <a:tbl>
              <a:tblPr firstRow="1" bandRow="1">
                <a:tableStyleId>{BC89EF96-8CEA-46FF-86C4-4CE0E7609802}</a:tableStyleId>
              </a:tblPr>
              <a:tblGrid>
                <a:gridCol w="1690699">
                  <a:extLst>
                    <a:ext uri="{9D8B030D-6E8A-4147-A177-3AD203B41FA5}">
                      <a16:colId xmlns:a16="http://schemas.microsoft.com/office/drawing/2014/main" val="20000"/>
                    </a:ext>
                  </a:extLst>
                </a:gridCol>
                <a:gridCol w="1690699">
                  <a:extLst>
                    <a:ext uri="{9D8B030D-6E8A-4147-A177-3AD203B41FA5}">
                      <a16:colId xmlns:a16="http://schemas.microsoft.com/office/drawing/2014/main" val="20001"/>
                    </a:ext>
                  </a:extLst>
                </a:gridCol>
                <a:gridCol w="1690699">
                  <a:extLst>
                    <a:ext uri="{9D8B030D-6E8A-4147-A177-3AD203B41FA5}">
                      <a16:colId xmlns:a16="http://schemas.microsoft.com/office/drawing/2014/main" val="20002"/>
                    </a:ext>
                  </a:extLst>
                </a:gridCol>
              </a:tblGrid>
              <a:tr h="370840">
                <a:tc gridSpan="3">
                  <a:txBody>
                    <a:bodyPr/>
                    <a:lstStyle/>
                    <a:p>
                      <a:pPr algn="ctr"/>
                      <a:r>
                        <a:rPr lang="en-US" altLang="zh-CN" sz="2000" dirty="0">
                          <a:latin typeface="Comic Sans MS" pitchFamily="66" charset="0"/>
                        </a:rPr>
                        <a:t>Register usage</a:t>
                      </a:r>
                      <a:endParaRPr lang="zh-CN" altLang="en-US" sz="2000" dirty="0">
                        <a:latin typeface="Comic Sans MS" pitchFamily="66" charset="0"/>
                      </a:endParaRPr>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0000"/>
                  </a:ext>
                </a:extLst>
              </a:tr>
              <a:tr h="370840">
                <a:tc>
                  <a:txBody>
                    <a:bodyPr/>
                    <a:lstStyle/>
                    <a:p>
                      <a:r>
                        <a:rPr lang="en-US" altLang="zh-CN" sz="2000" baseline="0" dirty="0">
                          <a:latin typeface="Comic Sans MS" pitchFamily="66" charset="0"/>
                        </a:rPr>
                        <a:t> Register</a:t>
                      </a:r>
                      <a:endParaRPr lang="zh-CN" altLang="en-US" sz="2000" dirty="0">
                        <a:latin typeface="Comic Sans MS" pitchFamily="66" charset="0"/>
                      </a:endParaRPr>
                    </a:p>
                  </a:txBody>
                  <a:tcPr/>
                </a:tc>
                <a:tc>
                  <a:txBody>
                    <a:bodyPr/>
                    <a:lstStyle/>
                    <a:p>
                      <a:r>
                        <a:rPr lang="en-US" altLang="zh-CN" sz="2000" dirty="0">
                          <a:latin typeface="Comic Sans MS" pitchFamily="66" charset="0"/>
                        </a:rPr>
                        <a:t> Variable </a:t>
                      </a:r>
                      <a:endParaRPr lang="zh-CN" altLang="en-US" sz="2000" dirty="0">
                        <a:latin typeface="Comic Sans MS" pitchFamily="66" charset="0"/>
                      </a:endParaRPr>
                    </a:p>
                  </a:txBody>
                  <a:tcPr/>
                </a:tc>
                <a:tc>
                  <a:txBody>
                    <a:bodyPr/>
                    <a:lstStyle/>
                    <a:p>
                      <a:r>
                        <a:rPr lang="en-US" altLang="zh-CN" sz="2000" dirty="0">
                          <a:latin typeface="Comic Sans MS" pitchFamily="66" charset="0"/>
                        </a:rPr>
                        <a:t> Initially</a:t>
                      </a:r>
                      <a:endParaRPr lang="zh-CN" altLang="en-US" sz="2000" dirty="0">
                        <a:latin typeface="Comic Sans MS" pitchFamily="66" charset="0"/>
                      </a:endParaRPr>
                    </a:p>
                  </a:txBody>
                  <a:tcPr/>
                </a:tc>
                <a:extLst>
                  <a:ext uri="{0D108BD9-81ED-4DB2-BD59-A6C34878D82A}">
                    <a16:rowId xmlns:a16="http://schemas.microsoft.com/office/drawing/2014/main" val="10001"/>
                  </a:ext>
                </a:extLst>
              </a:tr>
              <a:tr h="370840">
                <a:tc>
                  <a:txBody>
                    <a:bodyPr/>
                    <a:lstStyle/>
                    <a:p>
                      <a:r>
                        <a:rPr lang="en-US" altLang="zh-CN" sz="2000" dirty="0">
                          <a:latin typeface="Comic Sans MS" pitchFamily="66" charset="0"/>
                        </a:rPr>
                        <a:t> %eax</a:t>
                      </a:r>
                    </a:p>
                    <a:p>
                      <a:r>
                        <a:rPr lang="en-US" altLang="zh-CN" sz="2000" dirty="0">
                          <a:latin typeface="Comic Sans MS" pitchFamily="66" charset="0"/>
                        </a:rPr>
                        <a:t> %ebx</a:t>
                      </a:r>
                    </a:p>
                    <a:p>
                      <a:r>
                        <a:rPr lang="en-US" altLang="zh-CN" sz="2000" dirty="0">
                          <a:latin typeface="Comic Sans MS" pitchFamily="66" charset="0"/>
                        </a:rPr>
                        <a:t> %ecx</a:t>
                      </a:r>
                    </a:p>
                    <a:p>
                      <a:r>
                        <a:rPr lang="en-US" altLang="zh-CN" sz="2000" dirty="0">
                          <a:latin typeface="Comic Sans MS" pitchFamily="66" charset="0"/>
                        </a:rPr>
                        <a:t> %edx</a:t>
                      </a:r>
                      <a:endParaRPr lang="zh-CN" altLang="en-US" sz="2000" dirty="0">
                        <a:latin typeface="Comic Sans MS" pitchFamily="66" charset="0"/>
                      </a:endParaRPr>
                    </a:p>
                  </a:txBody>
                  <a:tcPr/>
                </a:tc>
                <a:tc>
                  <a:txBody>
                    <a:bodyPr/>
                    <a:lstStyle/>
                    <a:p>
                      <a:r>
                        <a:rPr lang="en-US" altLang="zh-CN" sz="2000" dirty="0">
                          <a:solidFill>
                            <a:srgbClr val="FF0000"/>
                          </a:solidFill>
                          <a:latin typeface="Comic Sans MS" pitchFamily="66" charset="0"/>
                        </a:rPr>
                        <a:t>  a</a:t>
                      </a:r>
                    </a:p>
                    <a:p>
                      <a:r>
                        <a:rPr lang="en-US" altLang="zh-CN" sz="2000" baseline="0" dirty="0">
                          <a:solidFill>
                            <a:srgbClr val="FF0000"/>
                          </a:solidFill>
                          <a:latin typeface="Comic Sans MS" pitchFamily="66" charset="0"/>
                        </a:rPr>
                        <a:t>  b</a:t>
                      </a:r>
                    </a:p>
                    <a:p>
                      <a:r>
                        <a:rPr lang="en-US" altLang="zh-CN" sz="2000" baseline="0" dirty="0">
                          <a:solidFill>
                            <a:srgbClr val="FF0000"/>
                          </a:solidFill>
                          <a:latin typeface="Comic Sans MS" pitchFamily="66" charset="0"/>
                        </a:rPr>
                        <a:t>  i</a:t>
                      </a:r>
                    </a:p>
                    <a:p>
                      <a:r>
                        <a:rPr lang="en-US" altLang="zh-CN" sz="2000" dirty="0">
                          <a:solidFill>
                            <a:srgbClr val="FF0000"/>
                          </a:solidFill>
                          <a:latin typeface="Comic Sans MS" pitchFamily="66" charset="0"/>
                        </a:rPr>
                        <a:t>  result</a:t>
                      </a:r>
                    </a:p>
                  </a:txBody>
                  <a:tcPr/>
                </a:tc>
                <a:tc>
                  <a:txBody>
                    <a:bodyPr/>
                    <a:lstStyle/>
                    <a:p>
                      <a:r>
                        <a:rPr lang="en-US" altLang="zh-CN" sz="2000" dirty="0">
                          <a:solidFill>
                            <a:srgbClr val="FF0000"/>
                          </a:solidFill>
                          <a:latin typeface="Comic Sans MS" pitchFamily="66" charset="0"/>
                        </a:rPr>
                        <a:t>  a</a:t>
                      </a:r>
                    </a:p>
                    <a:p>
                      <a:r>
                        <a:rPr lang="en-US" altLang="zh-CN" sz="2000" dirty="0">
                          <a:solidFill>
                            <a:srgbClr val="FF0000"/>
                          </a:solidFill>
                          <a:latin typeface="Comic Sans MS" pitchFamily="66" charset="0"/>
                        </a:rPr>
                        <a:t>  b</a:t>
                      </a:r>
                    </a:p>
                    <a:p>
                      <a:r>
                        <a:rPr lang="en-US" altLang="zh-CN" sz="2000" dirty="0">
                          <a:solidFill>
                            <a:srgbClr val="FF0000"/>
                          </a:solidFill>
                          <a:latin typeface="Comic Sans MS" pitchFamily="66" charset="0"/>
                        </a:rPr>
                        <a:t>  0</a:t>
                      </a:r>
                    </a:p>
                    <a:p>
                      <a:r>
                        <a:rPr lang="en-US" altLang="zh-CN" sz="2000" dirty="0">
                          <a:solidFill>
                            <a:srgbClr val="FF0000"/>
                          </a:solidFill>
                          <a:latin typeface="Comic Sans MS" pitchFamily="66" charset="0"/>
                        </a:rPr>
                        <a:t>  a</a:t>
                      </a:r>
                      <a:endParaRPr lang="zh-CN" altLang="en-US" sz="2000" dirty="0">
                        <a:solidFill>
                          <a:srgbClr val="FF0000"/>
                        </a:solidFill>
                        <a:latin typeface="Comic Sans MS" pitchFamily="66" charset="0"/>
                      </a:endParaRPr>
                    </a:p>
                  </a:txBody>
                  <a:tcPr/>
                </a:tc>
                <a:extLst>
                  <a:ext uri="{0D108BD9-81ED-4DB2-BD59-A6C34878D82A}">
                    <a16:rowId xmlns:a16="http://schemas.microsoft.com/office/drawing/2014/main" val="10002"/>
                  </a:ext>
                </a:extLst>
              </a:tr>
            </a:tbl>
          </a:graphicData>
        </a:graphic>
      </p:graphicFrame>
      <p:sp>
        <p:nvSpPr>
          <p:cNvPr id="19" name="云形标注 18"/>
          <p:cNvSpPr/>
          <p:nvPr/>
        </p:nvSpPr>
        <p:spPr>
          <a:xfrm>
            <a:off x="4143372" y="71438"/>
            <a:ext cx="5786510" cy="4000504"/>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solidFill>
                  <a:srgbClr val="FF0000"/>
                </a:solidFill>
                <a:latin typeface="Comic Sans MS" pitchFamily="66" charset="0"/>
              </a:rPr>
              <a:t> int </a:t>
            </a:r>
            <a:r>
              <a:rPr lang="en-US" altLang="zh-CN" dirty="0" err="1">
                <a:solidFill>
                  <a:srgbClr val="FF0000"/>
                </a:solidFill>
                <a:latin typeface="Comic Sans MS" pitchFamily="66" charset="0"/>
              </a:rPr>
              <a:t>loop_while_goto</a:t>
            </a:r>
            <a:r>
              <a:rPr lang="en-US" altLang="zh-CN" dirty="0">
                <a:solidFill>
                  <a:srgbClr val="FF0000"/>
                </a:solidFill>
                <a:latin typeface="Comic Sans MS" pitchFamily="66" charset="0"/>
              </a:rPr>
              <a:t>(int a, int b){</a:t>
            </a:r>
          </a:p>
          <a:p>
            <a:r>
              <a:rPr lang="en-US" altLang="zh-CN" dirty="0">
                <a:solidFill>
                  <a:srgbClr val="FF0000"/>
                </a:solidFill>
                <a:latin typeface="Comic Sans MS" pitchFamily="66" charset="0"/>
              </a:rPr>
              <a:t>        int i=0;</a:t>
            </a:r>
          </a:p>
          <a:p>
            <a:r>
              <a:rPr lang="en-US" altLang="zh-CN" dirty="0">
                <a:solidFill>
                  <a:srgbClr val="FF0000"/>
                </a:solidFill>
                <a:latin typeface="Comic Sans MS" pitchFamily="66" charset="0"/>
              </a:rPr>
              <a:t>        int result =a;</a:t>
            </a:r>
          </a:p>
          <a:p>
            <a:r>
              <a:rPr lang="en-US" altLang="zh-CN" dirty="0">
                <a:solidFill>
                  <a:srgbClr val="FF0000"/>
                </a:solidFill>
                <a:latin typeface="Comic Sans MS" pitchFamily="66" charset="0"/>
              </a:rPr>
              <a:t>    loop:</a:t>
            </a:r>
          </a:p>
          <a:p>
            <a:r>
              <a:rPr lang="en-US" altLang="zh-CN" dirty="0">
                <a:solidFill>
                  <a:srgbClr val="FF0000"/>
                </a:solidFill>
                <a:latin typeface="Comic Sans MS" pitchFamily="66" charset="0"/>
              </a:rPr>
              <a:t>        result += a;</a:t>
            </a:r>
          </a:p>
          <a:p>
            <a:r>
              <a:rPr lang="en-US" altLang="zh-CN" dirty="0">
                <a:solidFill>
                  <a:srgbClr val="FF0000"/>
                </a:solidFill>
                <a:latin typeface="Comic Sans MS" pitchFamily="66" charset="0"/>
              </a:rPr>
              <a:t>        a -= b;</a:t>
            </a:r>
          </a:p>
          <a:p>
            <a:r>
              <a:rPr lang="en-US" altLang="zh-CN" dirty="0">
                <a:solidFill>
                  <a:srgbClr val="FF0000"/>
                </a:solidFill>
                <a:latin typeface="Comic Sans MS" pitchFamily="66" charset="0"/>
              </a:rPr>
              <a:t>        i + =b;</a:t>
            </a:r>
          </a:p>
          <a:p>
            <a:r>
              <a:rPr lang="en-US" altLang="zh-CN" dirty="0">
                <a:solidFill>
                  <a:srgbClr val="FF0000"/>
                </a:solidFill>
                <a:latin typeface="Comic Sans MS" pitchFamily="66" charset="0"/>
              </a:rPr>
              <a:t>        if (i &lt;= 255)</a:t>
            </a:r>
          </a:p>
          <a:p>
            <a:r>
              <a:rPr lang="en-US" altLang="zh-CN" dirty="0">
                <a:solidFill>
                  <a:srgbClr val="FF0000"/>
                </a:solidFill>
                <a:latin typeface="Comic Sans MS" pitchFamily="66" charset="0"/>
              </a:rPr>
              <a:t>            goto loop:</a:t>
            </a:r>
          </a:p>
          <a:p>
            <a:r>
              <a:rPr lang="en-US" altLang="zh-CN" dirty="0">
                <a:solidFill>
                  <a:srgbClr val="FF0000"/>
                </a:solidFill>
                <a:latin typeface="Comic Sans MS" pitchFamily="66" charset="0"/>
              </a:rPr>
              <a:t>        return result</a:t>
            </a:r>
          </a:p>
          <a:p>
            <a:r>
              <a:rPr lang="en-US" altLang="zh-CN" dirty="0">
                <a:solidFill>
                  <a:srgbClr val="FF0000"/>
                </a:solidFill>
                <a:latin typeface="Comic Sans MS" pitchFamily="66" charset="0"/>
              </a:rPr>
              <a:t>}</a:t>
            </a:r>
            <a:endParaRPr lang="zh-CN" altLang="en-US" dirty="0">
              <a:solidFill>
                <a:srgbClr val="FF0000"/>
              </a:solidFill>
              <a:latin typeface="Comic Sans MS" pitchFamily="66"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linds(horizontal)">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linds(horizontal)">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linds(horizontal)">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blinds(horizontal)">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blinds(horizontal)">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blinds(horizontal)">
                                      <p:cBhvr>
                                        <p:cTn id="52"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xit" presetSubtype="10" fill="hold" nodeType="clickEffect">
                                  <p:stCondLst>
                                    <p:cond delay="0"/>
                                  </p:stCondLst>
                                  <p:childTnLst>
                                    <p:animEffect transition="out" filter="blinds(horizontal)">
                                      <p:cBhvr>
                                        <p:cTn id="56" dur="500"/>
                                        <p:tgtEl>
                                          <p:spTgt spid="17"/>
                                        </p:tgtEl>
                                      </p:cBhvr>
                                    </p:animEffect>
                                    <p:set>
                                      <p:cBhvr>
                                        <p:cTn id="57" dur="1" fill="hold">
                                          <p:stCondLst>
                                            <p:cond delay="499"/>
                                          </p:stCondLst>
                                        </p:cTn>
                                        <p:tgtEl>
                                          <p:spTgt spid="17"/>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box(in)">
                                      <p:cBhvr>
                                        <p:cTn id="6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70C0"/>
                </a:solidFill>
                <a:latin typeface="Comic Sans MS" pitchFamily="66" charset="0"/>
              </a:rPr>
              <a:t>Problem 3.12 </a:t>
            </a:r>
            <a:r>
              <a:rPr lang="en-US" altLang="zh-CN" dirty="0">
                <a:latin typeface="Comic Sans MS" pitchFamily="66" charset="0"/>
              </a:rPr>
              <a:t>(P165)</a:t>
            </a:r>
            <a:endParaRPr lang="zh-CN" altLang="en-US" dirty="0">
              <a:latin typeface="Comic Sans MS" pitchFamily="66" charset="0"/>
            </a:endParaRPr>
          </a:p>
        </p:txBody>
      </p:sp>
      <p:sp>
        <p:nvSpPr>
          <p:cNvPr id="3" name="内容占位符 2"/>
          <p:cNvSpPr>
            <a:spLocks noGrp="1"/>
          </p:cNvSpPr>
          <p:nvPr>
            <p:ph idx="1"/>
          </p:nvPr>
        </p:nvSpPr>
        <p:spPr>
          <a:xfrm>
            <a:off x="457200" y="1357298"/>
            <a:ext cx="8229600" cy="4768865"/>
          </a:xfrm>
        </p:spPr>
        <p:txBody>
          <a:bodyPr>
            <a:normAutofit fontScale="70000" lnSpcReduction="20000"/>
          </a:bodyPr>
          <a:lstStyle/>
          <a:p>
            <a:r>
              <a:rPr lang="en-US" altLang="zh-CN" dirty="0">
                <a:latin typeface="Comic Sans MS" pitchFamily="66" charset="0"/>
              </a:rPr>
              <a:t>Consider the following assembly code:</a:t>
            </a:r>
          </a:p>
          <a:p>
            <a:pPr>
              <a:buNone/>
            </a:pPr>
            <a:r>
              <a:rPr lang="en-US" altLang="zh-CN" dirty="0">
                <a:latin typeface="Comic Sans MS" pitchFamily="66" charset="0"/>
              </a:rPr>
              <a:t>      movl 8(%ebp), %ebx</a:t>
            </a:r>
          </a:p>
          <a:p>
            <a:pPr>
              <a:buNone/>
            </a:pPr>
            <a:r>
              <a:rPr lang="en-US" altLang="zh-CN" dirty="0">
                <a:latin typeface="Comic Sans MS" pitchFamily="66" charset="0"/>
              </a:rPr>
              <a:t>      movl 16(%ebp), %edx</a:t>
            </a:r>
          </a:p>
          <a:p>
            <a:pPr>
              <a:buNone/>
            </a:pPr>
            <a:r>
              <a:rPr lang="en-US" altLang="zh-CN" dirty="0">
                <a:latin typeface="Comic Sans MS" pitchFamily="66" charset="0"/>
              </a:rPr>
              <a:t>      xorl  %eax, %eax</a:t>
            </a:r>
          </a:p>
          <a:p>
            <a:pPr>
              <a:buNone/>
            </a:pPr>
            <a:r>
              <a:rPr lang="en-US" altLang="zh-CN" dirty="0">
                <a:latin typeface="Comic Sans MS" pitchFamily="66" charset="0"/>
              </a:rPr>
              <a:t>      decl  %edx</a:t>
            </a:r>
          </a:p>
          <a:p>
            <a:pPr>
              <a:buNone/>
            </a:pPr>
            <a:r>
              <a:rPr lang="en-US" altLang="zh-CN" dirty="0">
                <a:latin typeface="Comic Sans MS" pitchFamily="66" charset="0"/>
              </a:rPr>
              <a:t>      js .L4</a:t>
            </a:r>
          </a:p>
          <a:p>
            <a:pPr>
              <a:buNone/>
            </a:pPr>
            <a:r>
              <a:rPr lang="en-US" altLang="zh-CN" dirty="0">
                <a:latin typeface="Comic Sans MS" pitchFamily="66" charset="0"/>
              </a:rPr>
              <a:t>      movl %ebx, %ecx</a:t>
            </a:r>
          </a:p>
          <a:p>
            <a:pPr>
              <a:buNone/>
            </a:pPr>
            <a:r>
              <a:rPr lang="en-US" altLang="zh-CN" dirty="0">
                <a:latin typeface="Comic Sans MS" pitchFamily="66" charset="0"/>
              </a:rPr>
              <a:t>      imull 12(%ebp), %ecx</a:t>
            </a:r>
          </a:p>
          <a:p>
            <a:pPr>
              <a:buNone/>
            </a:pPr>
            <a:r>
              <a:rPr lang="en-US" altLang="zh-CN" dirty="0">
                <a:latin typeface="Comic Sans MS" pitchFamily="66" charset="0"/>
              </a:rPr>
              <a:t>      .p2align 4, ,4</a:t>
            </a:r>
          </a:p>
          <a:p>
            <a:pPr>
              <a:buNone/>
            </a:pPr>
            <a:r>
              <a:rPr lang="en-US" altLang="zh-CN" dirty="0">
                <a:latin typeface="Comic Sans MS" pitchFamily="66" charset="0"/>
              </a:rPr>
              <a:t>    .L6:</a:t>
            </a:r>
          </a:p>
          <a:p>
            <a:pPr>
              <a:buNone/>
            </a:pPr>
            <a:r>
              <a:rPr lang="en-US" altLang="zh-CN" dirty="0">
                <a:latin typeface="Comic Sans MS" pitchFamily="66" charset="0"/>
              </a:rPr>
              <a:t>      addl %ecx, %eax</a:t>
            </a:r>
          </a:p>
          <a:p>
            <a:pPr>
              <a:buNone/>
            </a:pPr>
            <a:r>
              <a:rPr lang="en-US" altLang="zh-CN" dirty="0">
                <a:latin typeface="Comic Sans MS" pitchFamily="66" charset="0"/>
              </a:rPr>
              <a:t>      subl %ebx, %edx</a:t>
            </a:r>
          </a:p>
          <a:p>
            <a:pPr>
              <a:buNone/>
            </a:pPr>
            <a:r>
              <a:rPr lang="en-US" altLang="zh-CN" dirty="0">
                <a:latin typeface="Comic Sans MS" pitchFamily="66" charset="0"/>
              </a:rPr>
              <a:t>      jns   .L6</a:t>
            </a:r>
          </a:p>
          <a:p>
            <a:pPr>
              <a:buNone/>
            </a:pPr>
            <a:r>
              <a:rPr lang="en-US" altLang="zh-CN" dirty="0">
                <a:latin typeface="Comic Sans MS" pitchFamily="66" charset="0"/>
              </a:rPr>
              <a:t>    .L4:</a:t>
            </a:r>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23</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5929322" y="3929066"/>
            <a:ext cx="3071834"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rgbClr val="FF0000"/>
                </a:solidFill>
                <a:latin typeface="Comic Sans MS" pitchFamily="66" charset="0"/>
              </a:rPr>
              <a:t> i to be nonnegative</a:t>
            </a:r>
            <a:endParaRPr lang="zh-CN" altLang="en-US" sz="2400" dirty="0">
              <a:solidFill>
                <a:srgbClr val="FF0000"/>
              </a:solidFill>
              <a:latin typeface="Comic Sans MS" pitchFamily="66" charset="0"/>
            </a:endParaRPr>
          </a:p>
        </p:txBody>
      </p:sp>
      <p:sp>
        <p:nvSpPr>
          <p:cNvPr id="10" name="矩形 9"/>
          <p:cNvSpPr/>
          <p:nvPr/>
        </p:nvSpPr>
        <p:spPr>
          <a:xfrm>
            <a:off x="2857488" y="1714488"/>
            <a:ext cx="785818" cy="2857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0000"/>
                </a:solidFill>
                <a:latin typeface="Comic Sans MS" pitchFamily="66" charset="0"/>
              </a:rPr>
              <a:t>y * x</a:t>
            </a:r>
            <a:endParaRPr lang="zh-CN" altLang="en-US" sz="2000" dirty="0">
              <a:solidFill>
                <a:srgbClr val="FF0000"/>
              </a:solidFill>
              <a:latin typeface="Comic Sans MS" pitchFamily="66" charset="0"/>
            </a:endParaRPr>
          </a:p>
        </p:txBody>
      </p:sp>
      <p:sp>
        <p:nvSpPr>
          <p:cNvPr id="9" name="矩形 8"/>
          <p:cNvSpPr/>
          <p:nvPr/>
        </p:nvSpPr>
        <p:spPr>
          <a:xfrm>
            <a:off x="4214810" y="1285860"/>
            <a:ext cx="785818" cy="2857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0000"/>
                </a:solidFill>
                <a:latin typeface="Comic Sans MS" pitchFamily="66" charset="0"/>
              </a:rPr>
              <a:t>i - x</a:t>
            </a:r>
            <a:endParaRPr lang="zh-CN" altLang="en-US" sz="2000" dirty="0">
              <a:solidFill>
                <a:srgbClr val="FF0000"/>
              </a:solidFill>
              <a:latin typeface="Comic Sans MS" pitchFamily="66" charset="0"/>
            </a:endParaRPr>
          </a:p>
        </p:txBody>
      </p:sp>
      <p:sp>
        <p:nvSpPr>
          <p:cNvPr id="8" name="矩形 7"/>
          <p:cNvSpPr/>
          <p:nvPr/>
        </p:nvSpPr>
        <p:spPr>
          <a:xfrm>
            <a:off x="3071802" y="1285860"/>
            <a:ext cx="785818" cy="2857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0000"/>
                </a:solidFill>
                <a:latin typeface="Comic Sans MS" pitchFamily="66" charset="0"/>
              </a:rPr>
              <a:t>&gt;= 0</a:t>
            </a:r>
            <a:endParaRPr lang="zh-CN" altLang="en-US" sz="2000" dirty="0">
              <a:solidFill>
                <a:srgbClr val="FF0000"/>
              </a:solidFill>
              <a:latin typeface="Comic Sans MS" pitchFamily="66" charset="0"/>
            </a:endParaRPr>
          </a:p>
        </p:txBody>
      </p:sp>
      <p:sp>
        <p:nvSpPr>
          <p:cNvPr id="7" name="矩形 6"/>
          <p:cNvSpPr/>
          <p:nvPr/>
        </p:nvSpPr>
        <p:spPr>
          <a:xfrm>
            <a:off x="2214546" y="1285860"/>
            <a:ext cx="785818" cy="2857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0000"/>
                </a:solidFill>
                <a:latin typeface="Comic Sans MS" pitchFamily="66" charset="0"/>
              </a:rPr>
              <a:t>n-1</a:t>
            </a:r>
            <a:endParaRPr lang="zh-CN" altLang="en-US" sz="2000" dirty="0">
              <a:solidFill>
                <a:srgbClr val="FF0000"/>
              </a:solidFill>
              <a:latin typeface="Comic Sans MS" pitchFamily="66" charset="0"/>
            </a:endParaRPr>
          </a:p>
        </p:txBody>
      </p:sp>
      <p:sp>
        <p:nvSpPr>
          <p:cNvPr id="3" name="内容占位符 2"/>
          <p:cNvSpPr>
            <a:spLocks noGrp="1"/>
          </p:cNvSpPr>
          <p:nvPr>
            <p:ph idx="1"/>
          </p:nvPr>
        </p:nvSpPr>
        <p:spPr>
          <a:xfrm>
            <a:off x="457200" y="142852"/>
            <a:ext cx="8229600" cy="6429420"/>
          </a:xfrm>
        </p:spPr>
        <p:txBody>
          <a:bodyPr>
            <a:normAutofit fontScale="77500" lnSpcReduction="20000"/>
          </a:bodyPr>
          <a:lstStyle/>
          <a:p>
            <a:pPr>
              <a:buNone/>
            </a:pPr>
            <a:r>
              <a:rPr lang="en-US" altLang="zh-CN" dirty="0">
                <a:latin typeface="Comic Sans MS" pitchFamily="66" charset="0"/>
              </a:rPr>
              <a:t>   int loop(int x, int y, int n){</a:t>
            </a:r>
          </a:p>
          <a:p>
            <a:pPr>
              <a:buNone/>
            </a:pPr>
            <a:r>
              <a:rPr lang="en-US" altLang="zh-CN" dirty="0">
                <a:latin typeface="Comic Sans MS" pitchFamily="66" charset="0"/>
              </a:rPr>
              <a:t>      int result = 0;</a:t>
            </a:r>
          </a:p>
          <a:p>
            <a:pPr>
              <a:buNone/>
            </a:pPr>
            <a:r>
              <a:rPr lang="en-US" altLang="zh-CN" dirty="0">
                <a:latin typeface="Comic Sans MS" pitchFamily="66" charset="0"/>
              </a:rPr>
              <a:t>      int i;</a:t>
            </a:r>
          </a:p>
          <a:p>
            <a:pPr>
              <a:buNone/>
            </a:pPr>
            <a:r>
              <a:rPr lang="en-US" altLang="zh-CN" dirty="0">
                <a:latin typeface="Comic Sans MS" pitchFamily="66" charset="0"/>
              </a:rPr>
              <a:t>      for (i = ___; i___; i = ___){</a:t>
            </a:r>
          </a:p>
          <a:p>
            <a:pPr>
              <a:buNone/>
            </a:pPr>
            <a:r>
              <a:rPr lang="en-US" altLang="zh-CN" dirty="0">
                <a:latin typeface="Comic Sans MS" pitchFamily="66" charset="0"/>
              </a:rPr>
              <a:t>		 result += ___;</a:t>
            </a:r>
          </a:p>
          <a:p>
            <a:pPr>
              <a:buNone/>
            </a:pPr>
            <a:r>
              <a:rPr lang="en-US" altLang="zh-CN" dirty="0">
                <a:latin typeface="Comic Sans MS" pitchFamily="66" charset="0"/>
              </a:rPr>
              <a:t>      }</a:t>
            </a:r>
          </a:p>
          <a:p>
            <a:pPr>
              <a:buNone/>
            </a:pPr>
            <a:r>
              <a:rPr lang="en-US" altLang="zh-CN" dirty="0">
                <a:latin typeface="Comic Sans MS" pitchFamily="66" charset="0"/>
              </a:rPr>
              <a:t>      return result;</a:t>
            </a:r>
          </a:p>
          <a:p>
            <a:pPr>
              <a:buNone/>
            </a:pPr>
            <a:r>
              <a:rPr lang="en-US" altLang="zh-CN" dirty="0">
                <a:latin typeface="Comic Sans MS" pitchFamily="66" charset="0"/>
              </a:rPr>
              <a:t>   }</a:t>
            </a:r>
          </a:p>
          <a:p>
            <a:pPr marL="514350" indent="-514350">
              <a:buAutoNum type="alphaUcPeriod"/>
            </a:pPr>
            <a:r>
              <a:rPr lang="en-US" altLang="zh-CN" dirty="0">
                <a:latin typeface="Comic Sans MS" pitchFamily="66" charset="0"/>
              </a:rPr>
              <a:t>Which registers hold program values result and i ?</a:t>
            </a:r>
          </a:p>
          <a:p>
            <a:pPr marL="514350" indent="-514350">
              <a:buAutoNum type="alphaUcPeriod"/>
            </a:pPr>
            <a:r>
              <a:rPr lang="en-US" altLang="zh-CN" dirty="0">
                <a:latin typeface="Comic Sans MS" pitchFamily="66" charset="0"/>
              </a:rPr>
              <a:t>What is the initial value of i ?</a:t>
            </a:r>
          </a:p>
          <a:p>
            <a:pPr marL="514350" indent="-514350">
              <a:buAutoNum type="alphaUcPeriod"/>
            </a:pPr>
            <a:r>
              <a:rPr lang="en-US" altLang="zh-CN" dirty="0">
                <a:latin typeface="Comic Sans MS" pitchFamily="66" charset="0"/>
              </a:rPr>
              <a:t>What is the test condition on i ?</a:t>
            </a:r>
          </a:p>
          <a:p>
            <a:pPr marL="514350" indent="-514350">
              <a:buAutoNum type="alphaUcPeriod"/>
            </a:pPr>
            <a:r>
              <a:rPr lang="en-US" altLang="zh-CN" dirty="0">
                <a:latin typeface="Comic Sans MS" pitchFamily="66" charset="0"/>
              </a:rPr>
              <a:t>How does i get updated?</a:t>
            </a:r>
          </a:p>
          <a:p>
            <a:pPr marL="514350" indent="-514350">
              <a:buAutoNum type="alphaUcPeriod"/>
            </a:pPr>
            <a:r>
              <a:rPr lang="en-US" altLang="zh-CN" dirty="0">
                <a:latin typeface="Comic Sans MS" pitchFamily="66" charset="0"/>
              </a:rPr>
              <a:t>The C expression describing how to increment result in the loop body does not change value from one iteration of the loop to the next. The compiler detected this and moved its computation to before the loop. What is the expression?  </a:t>
            </a:r>
            <a:endParaRPr lang="zh-CN" altLang="en-US" dirty="0">
              <a:solidFill>
                <a:srgbClr val="FF0000"/>
              </a:solidFill>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24</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
        <p:nvSpPr>
          <p:cNvPr id="11" name="矩形 10"/>
          <p:cNvSpPr/>
          <p:nvPr/>
        </p:nvSpPr>
        <p:spPr>
          <a:xfrm>
            <a:off x="6429388" y="2643182"/>
            <a:ext cx="2714612"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rgbClr val="FF0000"/>
                </a:solidFill>
                <a:latin typeface="Comic Sans MS" pitchFamily="66" charset="0"/>
              </a:rPr>
              <a:t> %eax       %edx</a:t>
            </a:r>
            <a:endParaRPr lang="zh-CN" altLang="en-US" sz="2400" dirty="0">
              <a:solidFill>
                <a:srgbClr val="FF0000"/>
              </a:solidFill>
              <a:latin typeface="Comic Sans MS" pitchFamily="66" charset="0"/>
            </a:endParaRPr>
          </a:p>
        </p:txBody>
      </p:sp>
      <p:sp>
        <p:nvSpPr>
          <p:cNvPr id="12" name="矩形 11"/>
          <p:cNvSpPr/>
          <p:nvPr/>
        </p:nvSpPr>
        <p:spPr>
          <a:xfrm>
            <a:off x="6286544" y="3500438"/>
            <a:ext cx="2714612"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rgbClr val="FF0000"/>
                </a:solidFill>
                <a:latin typeface="Comic Sans MS" pitchFamily="66" charset="0"/>
              </a:rPr>
              <a:t> n-1</a:t>
            </a:r>
            <a:endParaRPr lang="zh-CN" altLang="en-US" sz="2400" dirty="0">
              <a:solidFill>
                <a:srgbClr val="FF0000"/>
              </a:solidFill>
              <a:latin typeface="Comic Sans MS" pitchFamily="66" charset="0"/>
            </a:endParaRPr>
          </a:p>
        </p:txBody>
      </p:sp>
      <p:sp>
        <p:nvSpPr>
          <p:cNvPr id="13" name="矩形 12"/>
          <p:cNvSpPr/>
          <p:nvPr/>
        </p:nvSpPr>
        <p:spPr>
          <a:xfrm>
            <a:off x="5000628" y="4286256"/>
            <a:ext cx="3786214" cy="5000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rgbClr val="FF0000"/>
                </a:solidFill>
                <a:latin typeface="Comic Sans MS" pitchFamily="66" charset="0"/>
              </a:rPr>
              <a:t> instruction 4: </a:t>
            </a:r>
            <a:r>
              <a:rPr lang="en-US" altLang="zh-CN" sz="2400" dirty="0">
                <a:solidFill>
                  <a:srgbClr val="0070C0"/>
                </a:solidFill>
                <a:latin typeface="Comic Sans MS" pitchFamily="66" charset="0"/>
              </a:rPr>
              <a:t>decl %edx</a:t>
            </a:r>
            <a:endParaRPr lang="zh-CN" altLang="en-US" sz="2400" dirty="0">
              <a:solidFill>
                <a:srgbClr val="0070C0"/>
              </a:solidFill>
              <a:latin typeface="Comic Sans MS" pitchFamily="66" charset="0"/>
            </a:endParaRPr>
          </a:p>
        </p:txBody>
      </p:sp>
      <p:sp>
        <p:nvSpPr>
          <p:cNvPr id="14" name="矩形 13"/>
          <p:cNvSpPr/>
          <p:nvPr/>
        </p:nvSpPr>
        <p:spPr>
          <a:xfrm>
            <a:off x="3571868" y="5929330"/>
            <a:ext cx="4429124" cy="7143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rgbClr val="FF0000"/>
                </a:solidFill>
                <a:latin typeface="Comic Sans MS" pitchFamily="66" charset="0"/>
              </a:rPr>
              <a:t>1,6,7 cause x*y to be stored in register %ecx</a:t>
            </a:r>
            <a:endParaRPr lang="zh-CN" altLang="en-US" sz="2400" dirty="0">
              <a:solidFill>
                <a:srgbClr val="FF0000"/>
              </a:solidFill>
              <a:latin typeface="Comic Sans MS" pitchFamily="66"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ox(in)">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ox(in)">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box(in)">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ox(in)">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box(in)">
                                      <p:cBhvr>
                                        <p:cTn id="4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0" grpId="0" animBg="1"/>
      <p:bldP spid="9" grpId="0" animBg="1"/>
      <p:bldP spid="8" grpId="0" animBg="1"/>
      <p:bldP spid="7" grpId="0" animBg="1"/>
      <p:bldP spid="11" grpId="0" animBg="1"/>
      <p:bldP spid="12" grpId="0" animBg="1"/>
      <p:bldP spid="13" grpId="0" animBg="1"/>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70C0"/>
                </a:solidFill>
                <a:latin typeface="Comic Sans MS" pitchFamily="66" charset="0"/>
              </a:rPr>
              <a:t>Problem 3.13 </a:t>
            </a:r>
            <a:r>
              <a:rPr lang="en-US" altLang="zh-CN" dirty="0">
                <a:latin typeface="Comic Sans MS" pitchFamily="66" charset="0"/>
              </a:rPr>
              <a:t>(P169)</a:t>
            </a:r>
            <a:endParaRPr lang="zh-CN" altLang="en-US" dirty="0">
              <a:latin typeface="Comic Sans MS" pitchFamily="66" charset="0"/>
            </a:endParaRPr>
          </a:p>
        </p:txBody>
      </p:sp>
      <p:sp>
        <p:nvSpPr>
          <p:cNvPr id="3" name="内容占位符 2"/>
          <p:cNvSpPr>
            <a:spLocks noGrp="1"/>
          </p:cNvSpPr>
          <p:nvPr>
            <p:ph idx="1"/>
          </p:nvPr>
        </p:nvSpPr>
        <p:spPr/>
        <p:txBody>
          <a:bodyPr>
            <a:normAutofit fontScale="92500" lnSpcReduction="20000"/>
          </a:bodyPr>
          <a:lstStyle/>
          <a:p>
            <a:r>
              <a:rPr lang="en-US" altLang="zh-CN" dirty="0">
                <a:latin typeface="Comic Sans MS" pitchFamily="66" charset="0"/>
              </a:rPr>
              <a:t>In the C code, the case labels did not span a contiguous range, and some cases had multiple labels.</a:t>
            </a:r>
          </a:p>
          <a:p>
            <a:pPr>
              <a:buNone/>
            </a:pPr>
            <a:r>
              <a:rPr lang="en-US" altLang="zh-CN" dirty="0">
                <a:latin typeface="Comic Sans MS" pitchFamily="66" charset="0"/>
              </a:rPr>
              <a:t>   int switch2(int x){</a:t>
            </a:r>
          </a:p>
          <a:p>
            <a:pPr>
              <a:buNone/>
            </a:pPr>
            <a:r>
              <a:rPr lang="en-US" altLang="zh-CN" dirty="0">
                <a:latin typeface="Comic Sans MS" pitchFamily="66" charset="0"/>
              </a:rPr>
              <a:t>     int result =0;</a:t>
            </a:r>
          </a:p>
          <a:p>
            <a:pPr>
              <a:buNone/>
            </a:pPr>
            <a:r>
              <a:rPr lang="en-US" altLang="zh-CN" dirty="0">
                <a:latin typeface="Comic Sans MS" pitchFamily="66" charset="0"/>
              </a:rPr>
              <a:t>     switch (x){</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/*Body of switch statement omitted*/</a:t>
            </a:r>
          </a:p>
          <a:p>
            <a:pPr>
              <a:buNone/>
            </a:pPr>
            <a:r>
              <a:rPr lang="en-US" altLang="zh-CN" dirty="0">
                <a:latin typeface="Comic Sans MS" pitchFamily="66" charset="0"/>
              </a:rPr>
              <a:t>    }</a:t>
            </a:r>
          </a:p>
          <a:p>
            <a:pPr>
              <a:buNone/>
            </a:pPr>
            <a:r>
              <a:rPr lang="en-US" altLang="zh-CN" dirty="0">
                <a:latin typeface="Comic Sans MS" pitchFamily="66" charset="0"/>
              </a:rPr>
              <a:t>   return result;</a:t>
            </a:r>
          </a:p>
          <a:p>
            <a:pPr>
              <a:buNone/>
            </a:pPr>
            <a:r>
              <a:rPr lang="en-US" altLang="zh-CN" dirty="0">
                <a:latin typeface="Comic Sans MS" pitchFamily="66" charset="0"/>
              </a:rPr>
              <a:t>   }</a:t>
            </a:r>
          </a:p>
          <a:p>
            <a:pPr>
              <a:buNone/>
            </a:pPr>
            <a:endParaRPr lang="en-US" altLang="zh-CN"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25</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285852" y="5929330"/>
            <a:ext cx="7858148" cy="571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rgbClr val="FF0000"/>
                </a:solidFill>
                <a:latin typeface="Comic Sans MS" pitchFamily="66" charset="0"/>
              </a:rPr>
              <a:t> In jump table line 6 and 7 have the save destination. These correspond to case labels 2 and 3.</a:t>
            </a:r>
            <a:endParaRPr lang="zh-CN" altLang="en-US" sz="2400" dirty="0">
              <a:solidFill>
                <a:srgbClr val="FF0000"/>
              </a:solidFill>
              <a:latin typeface="Comic Sans MS" pitchFamily="66" charset="0"/>
            </a:endParaRPr>
          </a:p>
        </p:txBody>
      </p:sp>
      <p:sp>
        <p:nvSpPr>
          <p:cNvPr id="3" name="内容占位符 2"/>
          <p:cNvSpPr>
            <a:spLocks noGrp="1"/>
          </p:cNvSpPr>
          <p:nvPr>
            <p:ph idx="1"/>
          </p:nvPr>
        </p:nvSpPr>
        <p:spPr>
          <a:xfrm>
            <a:off x="457200" y="357166"/>
            <a:ext cx="8229600" cy="5768997"/>
          </a:xfrm>
        </p:spPr>
        <p:txBody>
          <a:bodyPr>
            <a:normAutofit fontScale="85000" lnSpcReduction="20000"/>
          </a:bodyPr>
          <a:lstStyle/>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Jump table for switch2</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1</a:t>
            </a:r>
            <a:r>
              <a:rPr lang="en-US" altLang="zh-CN" dirty="0">
                <a:latin typeface="Comic Sans MS" pitchFamily="66" charset="0"/>
              </a:rPr>
              <a:t>  .L11:</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2 </a:t>
            </a:r>
            <a:r>
              <a:rPr lang="en-US" altLang="zh-CN" dirty="0">
                <a:latin typeface="Comic Sans MS" pitchFamily="66" charset="0"/>
              </a:rPr>
              <a:t>  .long .L4</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setting up jump table access  3</a:t>
            </a:r>
            <a:r>
              <a:rPr lang="en-US" altLang="zh-CN" dirty="0">
                <a:latin typeface="Comic Sans MS" pitchFamily="66" charset="0"/>
              </a:rPr>
              <a:t>   .long .L10</a:t>
            </a:r>
          </a:p>
          <a:p>
            <a:pPr>
              <a:buNone/>
            </a:pPr>
            <a:r>
              <a:rPr lang="en-US" altLang="zh-CN" dirty="0">
                <a:solidFill>
                  <a:schemeClr val="bg1">
                    <a:lumMod val="50000"/>
                  </a:schemeClr>
                </a:solidFill>
                <a:latin typeface="Comic Sans MS" pitchFamily="66" charset="0"/>
              </a:rPr>
              <a:t>1</a:t>
            </a:r>
            <a:r>
              <a:rPr lang="en-US" altLang="zh-CN" dirty="0">
                <a:latin typeface="Comic Sans MS" pitchFamily="66" charset="0"/>
              </a:rPr>
              <a:t> movl  8(%ebp), %eax              </a:t>
            </a:r>
            <a:r>
              <a:rPr lang="en-US" altLang="zh-CN" dirty="0">
                <a:solidFill>
                  <a:schemeClr val="bg1">
                    <a:lumMod val="50000"/>
                  </a:schemeClr>
                </a:solidFill>
                <a:latin typeface="Comic Sans MS" pitchFamily="66" charset="0"/>
              </a:rPr>
              <a:t>4</a:t>
            </a:r>
            <a:r>
              <a:rPr lang="en-US" altLang="zh-CN" dirty="0">
                <a:latin typeface="Comic Sans MS" pitchFamily="66" charset="0"/>
              </a:rPr>
              <a:t>   .long .L5</a:t>
            </a:r>
          </a:p>
          <a:p>
            <a:pPr>
              <a:buNone/>
            </a:pPr>
            <a:r>
              <a:rPr lang="en-US" altLang="zh-CN" dirty="0">
                <a:solidFill>
                  <a:schemeClr val="bg1">
                    <a:lumMod val="50000"/>
                  </a:schemeClr>
                </a:solidFill>
                <a:latin typeface="Comic Sans MS" pitchFamily="66" charset="0"/>
              </a:rPr>
              <a:t>2</a:t>
            </a:r>
            <a:r>
              <a:rPr lang="en-US" altLang="zh-CN" dirty="0">
                <a:latin typeface="Comic Sans MS" pitchFamily="66" charset="0"/>
              </a:rPr>
              <a:t> addl $2, %eax</a:t>
            </a:r>
            <a:r>
              <a:rPr lang="zh-CN" altLang="en-US" dirty="0">
                <a:latin typeface="Comic Sans MS" pitchFamily="66" charset="0"/>
              </a:rPr>
              <a:t>                       </a:t>
            </a:r>
            <a:r>
              <a:rPr lang="en-US" altLang="zh-CN" dirty="0">
                <a:solidFill>
                  <a:schemeClr val="bg1">
                    <a:lumMod val="50000"/>
                  </a:schemeClr>
                </a:solidFill>
                <a:latin typeface="Comic Sans MS" pitchFamily="66" charset="0"/>
              </a:rPr>
              <a:t>5 </a:t>
            </a:r>
            <a:r>
              <a:rPr lang="en-US" altLang="zh-CN" dirty="0">
                <a:latin typeface="Comic Sans MS" pitchFamily="66" charset="0"/>
              </a:rPr>
              <a:t>   .long .L6</a:t>
            </a:r>
          </a:p>
          <a:p>
            <a:pPr>
              <a:buNone/>
            </a:pPr>
            <a:r>
              <a:rPr lang="en-US" altLang="zh-CN" dirty="0">
                <a:solidFill>
                  <a:schemeClr val="bg1">
                    <a:lumMod val="50000"/>
                  </a:schemeClr>
                </a:solidFill>
                <a:latin typeface="Comic Sans MS" pitchFamily="66" charset="0"/>
              </a:rPr>
              <a:t>3 </a:t>
            </a:r>
            <a:r>
              <a:rPr lang="en-US" altLang="zh-CN" dirty="0">
                <a:latin typeface="Comic Sans MS" pitchFamily="66" charset="0"/>
              </a:rPr>
              <a:t>cmpl $6, %eax                       </a:t>
            </a:r>
            <a:r>
              <a:rPr lang="en-US" altLang="zh-CN" dirty="0">
                <a:solidFill>
                  <a:schemeClr val="bg1">
                    <a:lumMod val="50000"/>
                  </a:schemeClr>
                </a:solidFill>
                <a:latin typeface="Comic Sans MS" pitchFamily="66" charset="0"/>
              </a:rPr>
              <a:t>6 </a:t>
            </a:r>
            <a:r>
              <a:rPr lang="en-US" altLang="zh-CN" dirty="0">
                <a:latin typeface="Comic Sans MS" pitchFamily="66" charset="0"/>
              </a:rPr>
              <a:t>  .long .L8</a:t>
            </a:r>
          </a:p>
          <a:p>
            <a:pPr>
              <a:buNone/>
            </a:pPr>
            <a:r>
              <a:rPr lang="en-US" altLang="zh-CN" dirty="0">
                <a:solidFill>
                  <a:schemeClr val="bg1">
                    <a:lumMod val="50000"/>
                  </a:schemeClr>
                </a:solidFill>
                <a:latin typeface="Comic Sans MS" pitchFamily="66" charset="0"/>
              </a:rPr>
              <a:t>4</a:t>
            </a:r>
            <a:r>
              <a:rPr lang="en-US" altLang="zh-CN" dirty="0">
                <a:latin typeface="Comic Sans MS" pitchFamily="66" charset="0"/>
              </a:rPr>
              <a:t> ja  .L10                                  </a:t>
            </a:r>
            <a:r>
              <a:rPr lang="en-US" altLang="zh-CN" dirty="0">
                <a:solidFill>
                  <a:schemeClr val="bg1">
                    <a:lumMod val="50000"/>
                  </a:schemeClr>
                </a:solidFill>
                <a:latin typeface="Comic Sans MS" pitchFamily="66" charset="0"/>
              </a:rPr>
              <a:t>7  </a:t>
            </a:r>
            <a:r>
              <a:rPr lang="en-US" altLang="zh-CN" dirty="0">
                <a:latin typeface="Comic Sans MS" pitchFamily="66" charset="0"/>
              </a:rPr>
              <a:t> .long .L8</a:t>
            </a:r>
          </a:p>
          <a:p>
            <a:pPr>
              <a:buNone/>
            </a:pPr>
            <a:r>
              <a:rPr lang="en-US" altLang="zh-CN" dirty="0">
                <a:solidFill>
                  <a:schemeClr val="bg1">
                    <a:lumMod val="50000"/>
                  </a:schemeClr>
                </a:solidFill>
                <a:latin typeface="Comic Sans MS" pitchFamily="66" charset="0"/>
              </a:rPr>
              <a:t>5</a:t>
            </a:r>
            <a:r>
              <a:rPr lang="en-US" altLang="zh-CN" dirty="0">
                <a:latin typeface="Comic Sans MS" pitchFamily="66" charset="0"/>
              </a:rPr>
              <a:t> jmp *.L11 (, %eax, 4)              </a:t>
            </a:r>
            <a:r>
              <a:rPr lang="en-US" altLang="zh-CN" dirty="0">
                <a:solidFill>
                  <a:schemeClr val="bg1">
                    <a:lumMod val="50000"/>
                  </a:schemeClr>
                </a:solidFill>
                <a:latin typeface="Comic Sans MS" pitchFamily="66" charset="0"/>
              </a:rPr>
              <a:t>8</a:t>
            </a:r>
            <a:r>
              <a:rPr lang="en-US" altLang="zh-CN" dirty="0">
                <a:latin typeface="Comic Sans MS" pitchFamily="66" charset="0"/>
              </a:rPr>
              <a:t>   .long .L9</a:t>
            </a:r>
          </a:p>
          <a:p>
            <a:pPr>
              <a:buNone/>
            </a:pPr>
            <a:r>
              <a:rPr lang="en-US" altLang="zh-CN" dirty="0">
                <a:latin typeface="Comic Sans MS" pitchFamily="66" charset="0"/>
              </a:rPr>
              <a:t>Use the foregoing information to answer the following questions:</a:t>
            </a:r>
          </a:p>
          <a:p>
            <a:pPr marL="514350" indent="-514350">
              <a:buAutoNum type="alphaUcPeriod"/>
            </a:pPr>
            <a:r>
              <a:rPr lang="en-US" altLang="zh-CN" dirty="0">
                <a:latin typeface="Comic Sans MS" pitchFamily="66" charset="0"/>
              </a:rPr>
              <a:t>What were the values of the case labels in the switch statement body ?</a:t>
            </a:r>
          </a:p>
          <a:p>
            <a:pPr marL="514350" indent="-514350">
              <a:buAutoNum type="alphaUcPeriod"/>
            </a:pPr>
            <a:r>
              <a:rPr lang="en-US" altLang="zh-CN" dirty="0">
                <a:latin typeface="Comic Sans MS" pitchFamily="66" charset="0"/>
              </a:rPr>
              <a:t>What cases had multiple labels in the C code ?</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26</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
        <p:nvSpPr>
          <p:cNvPr id="8" name="云形标注 7"/>
          <p:cNvSpPr/>
          <p:nvPr/>
        </p:nvSpPr>
        <p:spPr>
          <a:xfrm>
            <a:off x="4214810" y="4143380"/>
            <a:ext cx="3786214" cy="571504"/>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FF0000"/>
                </a:solidFill>
                <a:latin typeface="Comic Sans MS" pitchFamily="66" charset="0"/>
              </a:rPr>
              <a:t>-2 0 1 2 3 4</a:t>
            </a:r>
            <a:endParaRPr lang="zh-CN" altLang="en-US" sz="2000" dirty="0">
              <a:solidFill>
                <a:srgbClr val="FF0000"/>
              </a:solidFill>
              <a:latin typeface="Comic Sans MS" pitchFamily="66"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ox(i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70C0"/>
                </a:solidFill>
                <a:latin typeface="Comic Sans MS" pitchFamily="66" charset="0"/>
              </a:rPr>
              <a:t>Problem 3.14 </a:t>
            </a:r>
            <a:r>
              <a:rPr lang="en-US" altLang="zh-CN" dirty="0">
                <a:latin typeface="Comic Sans MS" pitchFamily="66" charset="0"/>
              </a:rPr>
              <a:t>(P172)</a:t>
            </a:r>
            <a:endParaRPr lang="zh-CN" altLang="en-US" dirty="0">
              <a:latin typeface="Comic Sans MS" pitchFamily="66" charset="0"/>
            </a:endParaRPr>
          </a:p>
        </p:txBody>
      </p:sp>
      <p:sp>
        <p:nvSpPr>
          <p:cNvPr id="3" name="内容占位符 2"/>
          <p:cNvSpPr>
            <a:spLocks noGrp="1"/>
          </p:cNvSpPr>
          <p:nvPr>
            <p:ph idx="1"/>
          </p:nvPr>
        </p:nvSpPr>
        <p:spPr/>
        <p:txBody>
          <a:bodyPr>
            <a:normAutofit fontScale="92500" lnSpcReduction="20000"/>
          </a:bodyPr>
          <a:lstStyle/>
          <a:p>
            <a:r>
              <a:rPr lang="en-US" altLang="zh-CN" dirty="0">
                <a:latin typeface="Comic Sans MS" pitchFamily="66" charset="0"/>
              </a:rPr>
              <a:t>The following code fragment occurs often in the compiled vision of library routines:</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1</a:t>
            </a:r>
            <a:r>
              <a:rPr lang="en-US" altLang="zh-CN" dirty="0">
                <a:latin typeface="Comic Sans MS" pitchFamily="66" charset="0"/>
              </a:rPr>
              <a:t>      call next</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2</a:t>
            </a:r>
            <a:r>
              <a:rPr lang="en-US" altLang="zh-CN" dirty="0">
                <a:latin typeface="Comic Sans MS" pitchFamily="66" charset="0"/>
              </a:rPr>
              <a:t>   next:</a:t>
            </a:r>
          </a:p>
          <a:p>
            <a:pPr>
              <a:buNone/>
            </a:pPr>
            <a:r>
              <a:rPr lang="en-US" altLang="zh-CN" dirty="0">
                <a:latin typeface="Comic Sans MS" pitchFamily="66" charset="0"/>
              </a:rPr>
              <a:t>   </a:t>
            </a:r>
            <a:r>
              <a:rPr lang="en-US" altLang="zh-CN" dirty="0">
                <a:solidFill>
                  <a:schemeClr val="bg1">
                    <a:lumMod val="50000"/>
                  </a:schemeClr>
                </a:solidFill>
                <a:latin typeface="Comic Sans MS" pitchFamily="66" charset="0"/>
              </a:rPr>
              <a:t>3</a:t>
            </a:r>
            <a:r>
              <a:rPr lang="en-US" altLang="zh-CN" dirty="0">
                <a:latin typeface="Comic Sans MS" pitchFamily="66" charset="0"/>
              </a:rPr>
              <a:t>      popl %eax</a:t>
            </a:r>
          </a:p>
          <a:p>
            <a:pPr marL="514350" indent="-514350">
              <a:buAutoNum type="alphaUcPeriod"/>
            </a:pPr>
            <a:r>
              <a:rPr lang="en-US" altLang="zh-CN" dirty="0">
                <a:latin typeface="Comic Sans MS" pitchFamily="66" charset="0"/>
              </a:rPr>
              <a:t>To what value does register %eax get set?</a:t>
            </a:r>
          </a:p>
          <a:p>
            <a:pPr marL="514350" indent="-514350">
              <a:buAutoNum type="alphaUcPeriod"/>
            </a:pPr>
            <a:r>
              <a:rPr lang="en-US" altLang="zh-CN" dirty="0">
                <a:latin typeface="Comic Sans MS" pitchFamily="66" charset="0"/>
              </a:rPr>
              <a:t>Explain why there is no matching ret instruction to this call.</a:t>
            </a:r>
          </a:p>
          <a:p>
            <a:pPr marL="514350" indent="-514350">
              <a:buAutoNum type="alphaUcPeriod"/>
            </a:pPr>
            <a:r>
              <a:rPr lang="en-US" altLang="zh-CN" dirty="0">
                <a:latin typeface="Comic Sans MS" pitchFamily="66" charset="0"/>
              </a:rPr>
              <a:t>What useful purpose does this code fragment serve?</a:t>
            </a:r>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27</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
        <p:nvSpPr>
          <p:cNvPr id="7" name="云形标注 6"/>
          <p:cNvSpPr/>
          <p:nvPr/>
        </p:nvSpPr>
        <p:spPr>
          <a:xfrm>
            <a:off x="3786182" y="2143116"/>
            <a:ext cx="4786346" cy="1571636"/>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rgbClr val="FF0000"/>
                </a:solidFill>
                <a:latin typeface="Comic Sans MS" pitchFamily="66" charset="0"/>
              </a:rPr>
              <a:t>%eax is set to the address of the popl instruction.</a:t>
            </a:r>
            <a:endParaRPr lang="zh-CN" altLang="en-US" sz="2400" dirty="0">
              <a:solidFill>
                <a:srgbClr val="FF0000"/>
              </a:solidFill>
              <a:latin typeface="Comic Sans MS" pitchFamily="66" charset="0"/>
            </a:endParaRPr>
          </a:p>
        </p:txBody>
      </p:sp>
      <p:sp>
        <p:nvSpPr>
          <p:cNvPr id="9" name="云形标注 8"/>
          <p:cNvSpPr/>
          <p:nvPr/>
        </p:nvSpPr>
        <p:spPr>
          <a:xfrm>
            <a:off x="500034" y="2214554"/>
            <a:ext cx="8501090" cy="1928826"/>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rgbClr val="FF0000"/>
                </a:solidFill>
                <a:latin typeface="Comic Sans MS" pitchFamily="66" charset="0"/>
              </a:rPr>
              <a:t>Not true subroutine all, since the control flows the same ordering as the instructions and the return address is popped from the stack.</a:t>
            </a:r>
            <a:endParaRPr lang="zh-CN" altLang="en-US" sz="2400" dirty="0">
              <a:solidFill>
                <a:srgbClr val="FF0000"/>
              </a:solidFill>
              <a:latin typeface="Comic Sans MS" pitchFamily="66" charset="0"/>
            </a:endParaRPr>
          </a:p>
        </p:txBody>
      </p:sp>
      <p:sp>
        <p:nvSpPr>
          <p:cNvPr id="10" name="云形标注 9"/>
          <p:cNvSpPr/>
          <p:nvPr/>
        </p:nvSpPr>
        <p:spPr>
          <a:xfrm>
            <a:off x="2071670" y="3143248"/>
            <a:ext cx="6143668" cy="1785950"/>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rgbClr val="FF0000"/>
                </a:solidFill>
                <a:latin typeface="Comic Sans MS" pitchFamily="66" charset="0"/>
              </a:rPr>
              <a:t>This is the only way in IA32 to get the value of the program counter into an integer register.</a:t>
            </a:r>
            <a:endParaRPr lang="zh-CN" altLang="en-US" sz="2400" dirty="0">
              <a:solidFill>
                <a:srgbClr val="FF0000"/>
              </a:solidFill>
              <a:latin typeface="Comic Sans MS" pitchFamily="66"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xit" presetSubtype="16" fill="hold" grpId="1" nodeType="clickEffect">
                                  <p:stCondLst>
                                    <p:cond delay="0"/>
                                  </p:stCondLst>
                                  <p:childTnLst>
                                    <p:animEffect transition="out" filter="box(i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ox(i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xit" presetSubtype="16" fill="hold" grpId="1" nodeType="clickEffect">
                                  <p:stCondLst>
                                    <p:cond delay="0"/>
                                  </p:stCondLst>
                                  <p:childTnLst>
                                    <p:animEffect transition="out" filter="box(in)">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ox(i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xit" presetSubtype="16" fill="hold" grpId="1" nodeType="clickEffect">
                                  <p:stCondLst>
                                    <p:cond delay="0"/>
                                  </p:stCondLst>
                                  <p:childTnLst>
                                    <p:animEffect transition="out" filter="box(in)">
                                      <p:cBhvr>
                                        <p:cTn id="31" dur="500"/>
                                        <p:tgtEl>
                                          <p:spTgt spid="10"/>
                                        </p:tgtEl>
                                      </p:cBhvr>
                                    </p:animEffect>
                                    <p:set>
                                      <p:cBhvr>
                                        <p:cTn id="3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9" grpId="0" animBg="1"/>
      <p:bldP spid="9" grpId="1" animBg="1"/>
      <p:bldP spid="10" grpId="0" animBg="1"/>
      <p:bldP spid="10"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70C0"/>
                </a:solidFill>
                <a:latin typeface="Comic Sans MS" pitchFamily="66" charset="0"/>
              </a:rPr>
              <a:t>Problem 3.15 </a:t>
            </a:r>
            <a:r>
              <a:rPr lang="en-US" altLang="zh-CN" dirty="0">
                <a:latin typeface="Comic Sans MS" pitchFamily="66" charset="0"/>
              </a:rPr>
              <a:t>(P174)</a:t>
            </a:r>
            <a:endParaRPr lang="zh-CN" altLang="en-US" dirty="0">
              <a:latin typeface="Comic Sans MS" pitchFamily="66" charset="0"/>
            </a:endParaRPr>
          </a:p>
        </p:txBody>
      </p:sp>
      <p:sp>
        <p:nvSpPr>
          <p:cNvPr id="3" name="内容占位符 2"/>
          <p:cNvSpPr>
            <a:spLocks noGrp="1"/>
          </p:cNvSpPr>
          <p:nvPr>
            <p:ph idx="1"/>
          </p:nvPr>
        </p:nvSpPr>
        <p:spPr/>
        <p:txBody>
          <a:bodyPr>
            <a:normAutofit fontScale="85000" lnSpcReduction="20000"/>
          </a:bodyPr>
          <a:lstStyle/>
          <a:p>
            <a:pPr marL="514350" indent="-514350">
              <a:buNone/>
            </a:pPr>
            <a:r>
              <a:rPr lang="en-US" altLang="zh-CN" dirty="0">
                <a:solidFill>
                  <a:schemeClr val="bg1">
                    <a:lumMod val="50000"/>
                  </a:schemeClr>
                </a:solidFill>
                <a:latin typeface="Comic Sans MS" pitchFamily="66" charset="0"/>
              </a:rPr>
              <a:t>1 </a:t>
            </a:r>
            <a:r>
              <a:rPr lang="en-US" altLang="zh-CN" dirty="0">
                <a:latin typeface="Comic Sans MS" pitchFamily="66" charset="0"/>
              </a:rPr>
              <a:t>  pushl %edi</a:t>
            </a:r>
          </a:p>
          <a:p>
            <a:pPr marL="514350" indent="-514350">
              <a:buNone/>
            </a:pPr>
            <a:r>
              <a:rPr lang="en-US" altLang="zh-CN" dirty="0">
                <a:solidFill>
                  <a:schemeClr val="bg1">
                    <a:lumMod val="50000"/>
                  </a:schemeClr>
                </a:solidFill>
                <a:latin typeface="Comic Sans MS" pitchFamily="66" charset="0"/>
              </a:rPr>
              <a:t>2 </a:t>
            </a:r>
            <a:r>
              <a:rPr lang="en-US" altLang="zh-CN" dirty="0">
                <a:latin typeface="Comic Sans MS" pitchFamily="66" charset="0"/>
              </a:rPr>
              <a:t>  pushl %esi</a:t>
            </a:r>
          </a:p>
          <a:p>
            <a:pPr marL="514350" indent="-514350">
              <a:buNone/>
            </a:pPr>
            <a:r>
              <a:rPr lang="en-US" altLang="zh-CN" dirty="0">
                <a:solidFill>
                  <a:schemeClr val="bg1">
                    <a:lumMod val="50000"/>
                  </a:schemeClr>
                </a:solidFill>
                <a:latin typeface="Comic Sans MS" pitchFamily="66" charset="0"/>
              </a:rPr>
              <a:t>3</a:t>
            </a:r>
            <a:r>
              <a:rPr lang="en-US" altLang="zh-CN" dirty="0">
                <a:latin typeface="Comic Sans MS" pitchFamily="66" charset="0"/>
              </a:rPr>
              <a:t>   pushl %ebx</a:t>
            </a:r>
          </a:p>
          <a:p>
            <a:pPr marL="514350" indent="-514350">
              <a:buNone/>
            </a:pPr>
            <a:r>
              <a:rPr lang="en-US" altLang="zh-CN" dirty="0">
                <a:solidFill>
                  <a:schemeClr val="bg1">
                    <a:lumMod val="50000"/>
                  </a:schemeClr>
                </a:solidFill>
                <a:latin typeface="Comic Sans MS" pitchFamily="66" charset="0"/>
              </a:rPr>
              <a:t>4</a:t>
            </a:r>
            <a:r>
              <a:rPr lang="en-US" altLang="zh-CN" dirty="0">
                <a:latin typeface="Comic Sans MS" pitchFamily="66" charset="0"/>
              </a:rPr>
              <a:t>   movl 24(%ebp), %eax</a:t>
            </a:r>
          </a:p>
          <a:p>
            <a:pPr marL="514350" indent="-514350">
              <a:buNone/>
            </a:pPr>
            <a:r>
              <a:rPr lang="en-US" altLang="zh-CN" dirty="0">
                <a:solidFill>
                  <a:schemeClr val="bg1">
                    <a:lumMod val="50000"/>
                  </a:schemeClr>
                </a:solidFill>
                <a:latin typeface="Comic Sans MS" pitchFamily="66" charset="0"/>
              </a:rPr>
              <a:t>5</a:t>
            </a:r>
            <a:r>
              <a:rPr lang="en-US" altLang="zh-CN" dirty="0">
                <a:latin typeface="Comic Sans MS" pitchFamily="66" charset="0"/>
              </a:rPr>
              <a:t>   imull 16(%ebp), %eax</a:t>
            </a:r>
          </a:p>
          <a:p>
            <a:pPr marL="514350" indent="-514350">
              <a:buNone/>
            </a:pPr>
            <a:r>
              <a:rPr lang="en-US" altLang="zh-CN" dirty="0">
                <a:solidFill>
                  <a:schemeClr val="bg1">
                    <a:lumMod val="50000"/>
                  </a:schemeClr>
                </a:solidFill>
                <a:latin typeface="Comic Sans MS" pitchFamily="66" charset="0"/>
              </a:rPr>
              <a:t>6</a:t>
            </a:r>
            <a:r>
              <a:rPr lang="en-US" altLang="zh-CN" dirty="0">
                <a:latin typeface="Comic Sans MS" pitchFamily="66" charset="0"/>
              </a:rPr>
              <a:t>   movl 24(%ebp), %ebx</a:t>
            </a:r>
          </a:p>
          <a:p>
            <a:pPr marL="514350" indent="-514350">
              <a:buNone/>
            </a:pPr>
            <a:r>
              <a:rPr lang="en-US" altLang="zh-CN" dirty="0">
                <a:solidFill>
                  <a:schemeClr val="bg1">
                    <a:lumMod val="50000"/>
                  </a:schemeClr>
                </a:solidFill>
                <a:latin typeface="Comic Sans MS" pitchFamily="66" charset="0"/>
              </a:rPr>
              <a:t>7</a:t>
            </a:r>
            <a:r>
              <a:rPr lang="en-US" altLang="zh-CN" dirty="0">
                <a:latin typeface="Comic Sans MS" pitchFamily="66" charset="0"/>
              </a:rPr>
              <a:t>   leal  0(,%eax,4), %ecx</a:t>
            </a:r>
          </a:p>
          <a:p>
            <a:pPr marL="514350" indent="-514350">
              <a:buNone/>
            </a:pPr>
            <a:r>
              <a:rPr lang="en-US" altLang="zh-CN" dirty="0">
                <a:solidFill>
                  <a:schemeClr val="bg1">
                    <a:lumMod val="50000"/>
                  </a:schemeClr>
                </a:solidFill>
                <a:latin typeface="Comic Sans MS" pitchFamily="66" charset="0"/>
              </a:rPr>
              <a:t>8</a:t>
            </a:r>
            <a:r>
              <a:rPr lang="en-US" altLang="zh-CN" dirty="0">
                <a:latin typeface="Comic Sans MS" pitchFamily="66" charset="0"/>
              </a:rPr>
              <a:t>   addl 8(%ebp), %ecx</a:t>
            </a:r>
          </a:p>
          <a:p>
            <a:pPr marL="514350" indent="-514350">
              <a:buNone/>
            </a:pPr>
            <a:r>
              <a:rPr lang="en-US" altLang="zh-CN" dirty="0">
                <a:solidFill>
                  <a:schemeClr val="bg1">
                    <a:lumMod val="50000"/>
                  </a:schemeClr>
                </a:solidFill>
                <a:latin typeface="Comic Sans MS" pitchFamily="66" charset="0"/>
              </a:rPr>
              <a:t>9 </a:t>
            </a:r>
            <a:r>
              <a:rPr lang="en-US" altLang="zh-CN" dirty="0">
                <a:latin typeface="Comic Sans MS" pitchFamily="66" charset="0"/>
              </a:rPr>
              <a:t>  Movl %ebx, %edx</a:t>
            </a:r>
          </a:p>
          <a:p>
            <a:pPr marL="514350" indent="-514350">
              <a:buNone/>
            </a:pPr>
            <a:r>
              <a:rPr lang="en-US" altLang="zh-CN" dirty="0">
                <a:latin typeface="Comic Sans MS" pitchFamily="66" charset="0"/>
              </a:rPr>
              <a:t>  Explain this apparent inconsistency in the saving and restoring of register states ?</a:t>
            </a:r>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28</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
        <p:nvSpPr>
          <p:cNvPr id="7" name="云形标注 6"/>
          <p:cNvSpPr/>
          <p:nvPr/>
        </p:nvSpPr>
        <p:spPr>
          <a:xfrm>
            <a:off x="3214678" y="928670"/>
            <a:ext cx="5929322" cy="4071966"/>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Registers %edi, %esi, and %ebx are callee save. The procedure must save them on the stack before altering their values and restore them before returning. The other three registers are caller save. They can be altered with out affecting the behavior of the caller</a:t>
            </a:r>
            <a:endParaRPr lang="zh-CN" altLang="en-US" sz="2000" dirty="0">
              <a:solidFill>
                <a:srgbClr val="FF0000"/>
              </a:solidFill>
              <a:latin typeface="Comic Sans MS" pitchFamily="66"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xit" presetSubtype="16" fill="hold" grpId="1" nodeType="clickEffect">
                                  <p:stCondLst>
                                    <p:cond delay="0"/>
                                  </p:stCondLst>
                                  <p:childTnLst>
                                    <p:animEffect transition="out" filter="box(i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70C0"/>
                </a:solidFill>
                <a:latin typeface="Comic Sans MS" pitchFamily="66" charset="0"/>
              </a:rPr>
              <a:t>Problem 3.16 </a:t>
            </a:r>
            <a:r>
              <a:rPr lang="en-US" altLang="zh-CN" dirty="0">
                <a:latin typeface="Comic Sans MS" pitchFamily="66" charset="0"/>
              </a:rPr>
              <a:t>(P177)</a:t>
            </a:r>
            <a:endParaRPr lang="zh-CN" altLang="en-US" dirty="0">
              <a:latin typeface="Comic Sans MS" pitchFamily="66" charset="0"/>
            </a:endParaRPr>
          </a:p>
        </p:txBody>
      </p:sp>
      <p:sp>
        <p:nvSpPr>
          <p:cNvPr id="3" name="内容占位符 2"/>
          <p:cNvSpPr>
            <a:spLocks noGrp="1"/>
          </p:cNvSpPr>
          <p:nvPr>
            <p:ph idx="1"/>
          </p:nvPr>
        </p:nvSpPr>
        <p:spPr/>
        <p:txBody>
          <a:bodyPr>
            <a:normAutofit fontScale="92500"/>
          </a:bodyPr>
          <a:lstStyle/>
          <a:p>
            <a:r>
              <a:rPr lang="en-US" altLang="zh-CN" dirty="0">
                <a:latin typeface="Comic Sans MS" pitchFamily="66" charset="0"/>
              </a:rPr>
              <a:t>Given the C function</a:t>
            </a:r>
          </a:p>
          <a:p>
            <a:pPr marL="514350" indent="-514350">
              <a:buNone/>
            </a:pPr>
            <a:r>
              <a:rPr lang="en-US" altLang="zh-CN" dirty="0">
                <a:solidFill>
                  <a:schemeClr val="bg1">
                    <a:lumMod val="50000"/>
                  </a:schemeClr>
                </a:solidFill>
                <a:latin typeface="Comic Sans MS" pitchFamily="66" charset="0"/>
              </a:rPr>
              <a:t>1</a:t>
            </a:r>
            <a:r>
              <a:rPr lang="en-US" altLang="zh-CN" dirty="0">
                <a:latin typeface="Comic Sans MS" pitchFamily="66" charset="0"/>
              </a:rPr>
              <a:t>   int proc(void)</a:t>
            </a:r>
          </a:p>
          <a:p>
            <a:pPr marL="514350" indent="-514350">
              <a:buNone/>
            </a:pPr>
            <a:r>
              <a:rPr lang="en-US" altLang="zh-CN" dirty="0">
                <a:solidFill>
                  <a:schemeClr val="bg1">
                    <a:lumMod val="50000"/>
                  </a:schemeClr>
                </a:solidFill>
                <a:latin typeface="Comic Sans MS" pitchFamily="66" charset="0"/>
              </a:rPr>
              <a:t>2</a:t>
            </a:r>
            <a:r>
              <a:rPr lang="en-US" altLang="zh-CN" dirty="0">
                <a:latin typeface="Comic Sans MS" pitchFamily="66" charset="0"/>
              </a:rPr>
              <a:t>   {</a:t>
            </a:r>
          </a:p>
          <a:p>
            <a:pPr marL="514350" indent="-514350">
              <a:buNone/>
            </a:pPr>
            <a:r>
              <a:rPr lang="en-US" altLang="zh-CN" dirty="0">
                <a:solidFill>
                  <a:schemeClr val="bg1">
                    <a:lumMod val="50000"/>
                  </a:schemeClr>
                </a:solidFill>
                <a:latin typeface="Comic Sans MS" pitchFamily="66" charset="0"/>
              </a:rPr>
              <a:t>3</a:t>
            </a:r>
            <a:r>
              <a:rPr lang="en-US" altLang="zh-CN" dirty="0">
                <a:latin typeface="Comic Sans MS" pitchFamily="66" charset="0"/>
              </a:rPr>
              <a:t>       int x, y;</a:t>
            </a:r>
          </a:p>
          <a:p>
            <a:pPr marL="514350" indent="-514350">
              <a:buNone/>
            </a:pPr>
            <a:r>
              <a:rPr lang="en-US" altLang="zh-CN" dirty="0">
                <a:solidFill>
                  <a:schemeClr val="bg1">
                    <a:lumMod val="50000"/>
                  </a:schemeClr>
                </a:solidFill>
                <a:latin typeface="Comic Sans MS" pitchFamily="66" charset="0"/>
              </a:rPr>
              <a:t>4</a:t>
            </a:r>
            <a:r>
              <a:rPr lang="en-US" altLang="zh-CN" dirty="0">
                <a:latin typeface="Comic Sans MS" pitchFamily="66" charset="0"/>
              </a:rPr>
              <a:t>       scanf(“%x %x”, &amp;y, &amp;x);</a:t>
            </a:r>
          </a:p>
          <a:p>
            <a:pPr marL="514350" indent="-514350">
              <a:buNone/>
            </a:pPr>
            <a:r>
              <a:rPr lang="en-US" altLang="zh-CN" dirty="0">
                <a:solidFill>
                  <a:schemeClr val="bg1">
                    <a:lumMod val="50000"/>
                  </a:schemeClr>
                </a:solidFill>
                <a:latin typeface="Comic Sans MS" pitchFamily="66" charset="0"/>
              </a:rPr>
              <a:t>5</a:t>
            </a:r>
            <a:r>
              <a:rPr lang="en-US" altLang="zh-CN" dirty="0">
                <a:latin typeface="Comic Sans MS" pitchFamily="66" charset="0"/>
              </a:rPr>
              <a:t>       return x - y;</a:t>
            </a:r>
          </a:p>
          <a:p>
            <a:pPr marL="514350" indent="-514350">
              <a:buNone/>
            </a:pPr>
            <a:r>
              <a:rPr lang="en-US" altLang="zh-CN" dirty="0">
                <a:solidFill>
                  <a:schemeClr val="bg1">
                    <a:lumMod val="50000"/>
                  </a:schemeClr>
                </a:solidFill>
                <a:latin typeface="Comic Sans MS" pitchFamily="66" charset="0"/>
              </a:rPr>
              <a:t>6</a:t>
            </a:r>
            <a:r>
              <a:rPr lang="en-US" altLang="zh-CN" dirty="0">
                <a:latin typeface="Comic Sans MS" pitchFamily="66" charset="0"/>
              </a:rPr>
              <a:t>   }</a:t>
            </a:r>
          </a:p>
          <a:p>
            <a:pPr marL="514350" indent="-514350">
              <a:buNone/>
            </a:pPr>
            <a:r>
              <a:rPr lang="en-US" altLang="zh-CN" dirty="0">
                <a:latin typeface="Comic Sans MS" pitchFamily="66" charset="0"/>
              </a:rPr>
              <a:t>GCC generates the following assembly code:</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29</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57166"/>
            <a:ext cx="8229600" cy="6215106"/>
          </a:xfrm>
        </p:spPr>
        <p:txBody>
          <a:bodyPr>
            <a:normAutofit fontScale="62500" lnSpcReduction="20000"/>
          </a:bodyPr>
          <a:lstStyle/>
          <a:p>
            <a:pPr marL="514350" indent="-514350">
              <a:buAutoNum type="arabicPlain"/>
            </a:pPr>
            <a:r>
              <a:rPr lang="en-US" altLang="zh-CN" dirty="0">
                <a:latin typeface="Comic Sans MS" pitchFamily="66" charset="0"/>
              </a:rPr>
              <a:t>proc:</a:t>
            </a:r>
          </a:p>
          <a:p>
            <a:pPr marL="514350" indent="-514350">
              <a:buAutoNum type="arabicPlain"/>
            </a:pPr>
            <a:r>
              <a:rPr lang="en-US" altLang="zh-CN" dirty="0">
                <a:latin typeface="Comic Sans MS" pitchFamily="66" charset="0"/>
              </a:rPr>
              <a:t>   push1 %ebp</a:t>
            </a:r>
          </a:p>
          <a:p>
            <a:pPr marL="514350" indent="-514350">
              <a:buAutoNum type="arabicPlain"/>
            </a:pPr>
            <a:r>
              <a:rPr lang="en-US" altLang="zh-CN" dirty="0">
                <a:latin typeface="Comic Sans MS" pitchFamily="66" charset="0"/>
              </a:rPr>
              <a:t>   movl   %esp, %ebp</a:t>
            </a:r>
          </a:p>
          <a:p>
            <a:pPr marL="514350" indent="-514350">
              <a:buAutoNum type="arabicPlain"/>
            </a:pPr>
            <a:r>
              <a:rPr lang="en-US" altLang="zh-CN" dirty="0">
                <a:latin typeface="Comic Sans MS" pitchFamily="66" charset="0"/>
              </a:rPr>
              <a:t>   subl    $24, %esp</a:t>
            </a:r>
          </a:p>
          <a:p>
            <a:pPr marL="514350" indent="-514350">
              <a:buAutoNum type="arabicPlain"/>
            </a:pPr>
            <a:r>
              <a:rPr lang="en-US" altLang="zh-CN" dirty="0">
                <a:latin typeface="Comic Sans MS" pitchFamily="66" charset="0"/>
              </a:rPr>
              <a:t>   addl    $-4, %esp</a:t>
            </a:r>
          </a:p>
          <a:p>
            <a:pPr marL="514350" indent="-514350">
              <a:buAutoNum type="arabicPlain"/>
            </a:pPr>
            <a:r>
              <a:rPr lang="en-US" altLang="zh-CN" dirty="0">
                <a:latin typeface="Comic Sans MS" pitchFamily="66" charset="0"/>
              </a:rPr>
              <a:t>   leal     -4(%ebp),  %eax</a:t>
            </a:r>
          </a:p>
          <a:p>
            <a:pPr marL="514350" indent="-514350">
              <a:buAutoNum type="arabicPlain"/>
            </a:pPr>
            <a:r>
              <a:rPr lang="en-US" altLang="zh-CN" dirty="0">
                <a:latin typeface="Comic Sans MS" pitchFamily="66" charset="0"/>
              </a:rPr>
              <a:t>   pushl %eax</a:t>
            </a:r>
          </a:p>
          <a:p>
            <a:pPr marL="514350" indent="-514350">
              <a:buAutoNum type="arabicPlain"/>
            </a:pPr>
            <a:r>
              <a:rPr lang="en-US" altLang="zh-CN" dirty="0">
                <a:latin typeface="Comic Sans MS" pitchFamily="66" charset="0"/>
              </a:rPr>
              <a:t>   leal -8(%ebp), %eax</a:t>
            </a:r>
          </a:p>
          <a:p>
            <a:pPr marL="514350" indent="-514350">
              <a:buAutoNum type="arabicPlain"/>
            </a:pPr>
            <a:r>
              <a:rPr lang="en-US" altLang="zh-CN" dirty="0">
                <a:latin typeface="Comic Sans MS" pitchFamily="66" charset="0"/>
              </a:rPr>
              <a:t>   pushl %eax</a:t>
            </a:r>
          </a:p>
          <a:p>
            <a:pPr marL="514350" indent="-514350">
              <a:buAutoNum type="arabicPlain"/>
            </a:pPr>
            <a:r>
              <a:rPr lang="en-US" altLang="zh-CN" dirty="0">
                <a:latin typeface="Comic Sans MS" pitchFamily="66" charset="0"/>
              </a:rPr>
              <a:t>   pushl $.LC0     pointer to string “%x %x”</a:t>
            </a:r>
          </a:p>
          <a:p>
            <a:pPr marL="514350" indent="-514350">
              <a:buAutoNum type="arabicPlain"/>
            </a:pPr>
            <a:r>
              <a:rPr lang="en-US" altLang="zh-CN" dirty="0">
                <a:latin typeface="Comic Sans MS" pitchFamily="66" charset="0"/>
              </a:rPr>
              <a:t>   call scanf</a:t>
            </a:r>
          </a:p>
          <a:p>
            <a:pPr marL="514350" indent="-514350">
              <a:buAutoNum type="arabicPlain"/>
            </a:pPr>
            <a:r>
              <a:rPr lang="en-US" altLang="zh-CN" dirty="0">
                <a:latin typeface="Comic Sans MS" pitchFamily="66" charset="0"/>
              </a:rPr>
              <a:t>   movl -8(%ebp), %eax</a:t>
            </a:r>
          </a:p>
          <a:p>
            <a:pPr marL="514350" indent="-514350">
              <a:buAutoNum type="arabicPlain"/>
            </a:pPr>
            <a:r>
              <a:rPr lang="en-US" altLang="zh-CN" dirty="0">
                <a:latin typeface="Comic Sans MS" pitchFamily="66" charset="0"/>
              </a:rPr>
              <a:t>   movl -4(%ebp), %edx</a:t>
            </a:r>
          </a:p>
          <a:p>
            <a:pPr marL="514350" indent="-514350">
              <a:buAutoNum type="arabicPlain"/>
            </a:pPr>
            <a:r>
              <a:rPr lang="en-US" altLang="zh-CN" dirty="0">
                <a:latin typeface="Comic Sans MS" pitchFamily="66" charset="0"/>
              </a:rPr>
              <a:t>   subl %eax, %edx</a:t>
            </a:r>
          </a:p>
          <a:p>
            <a:pPr marL="514350" indent="-514350">
              <a:buAutoNum type="arabicPlain"/>
            </a:pPr>
            <a:r>
              <a:rPr lang="en-US" altLang="zh-CN" dirty="0">
                <a:latin typeface="Comic Sans MS" pitchFamily="66" charset="0"/>
              </a:rPr>
              <a:t>   movl %edx, %eax</a:t>
            </a:r>
          </a:p>
          <a:p>
            <a:pPr marL="514350" indent="-514350">
              <a:buAutoNum type="arabicPlain"/>
            </a:pPr>
            <a:r>
              <a:rPr lang="en-US" altLang="zh-CN" dirty="0">
                <a:latin typeface="Comic Sans MS" pitchFamily="66" charset="0"/>
              </a:rPr>
              <a:t>   movl %ebp, %esp</a:t>
            </a:r>
          </a:p>
          <a:p>
            <a:pPr marL="514350" indent="-514350">
              <a:buAutoNum type="arabicPlain"/>
            </a:pPr>
            <a:r>
              <a:rPr lang="en-US" altLang="zh-CN" dirty="0">
                <a:latin typeface="Comic Sans MS" pitchFamily="66" charset="0"/>
              </a:rPr>
              <a:t>   popl  %ebp</a:t>
            </a:r>
          </a:p>
          <a:p>
            <a:pPr marL="514350" indent="-514350">
              <a:buAutoNum type="arabicPlain"/>
            </a:pPr>
            <a:r>
              <a:rPr lang="en-US" altLang="zh-CN" dirty="0">
                <a:latin typeface="Comic Sans MS" pitchFamily="66" charset="0"/>
              </a:rPr>
              <a:t>   ret</a:t>
            </a:r>
          </a:p>
          <a:p>
            <a:pPr marL="514350" indent="-514350">
              <a:buNone/>
            </a:pPr>
            <a:r>
              <a:rPr lang="en-US" altLang="zh-CN" dirty="0">
                <a:latin typeface="Comic Sans MS" pitchFamily="66" charset="0"/>
              </a:rPr>
              <a:t>      Assume that procedure </a:t>
            </a:r>
            <a:r>
              <a:rPr lang="en-US" altLang="zh-CN" dirty="0">
                <a:solidFill>
                  <a:srgbClr val="00B050"/>
                </a:solidFill>
                <a:latin typeface="Comic Sans MS" pitchFamily="66" charset="0"/>
              </a:rPr>
              <a:t>proc</a:t>
            </a:r>
            <a:r>
              <a:rPr lang="en-US" altLang="zh-CN" dirty="0">
                <a:latin typeface="Comic Sans MS" pitchFamily="66" charset="0"/>
              </a:rPr>
              <a:t> starts executing with the following register values:</a:t>
            </a:r>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30</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graphicFrame>
        <p:nvGraphicFramePr>
          <p:cNvPr id="7" name="表格 6"/>
          <p:cNvGraphicFramePr>
            <a:graphicFrameLocks noGrp="1"/>
          </p:cNvGraphicFramePr>
          <p:nvPr/>
        </p:nvGraphicFramePr>
        <p:xfrm>
          <a:off x="3714744" y="4429132"/>
          <a:ext cx="4929222" cy="1280160"/>
        </p:xfrm>
        <a:graphic>
          <a:graphicData uri="http://schemas.openxmlformats.org/drawingml/2006/table">
            <a:tbl>
              <a:tblPr firstRow="1" bandRow="1">
                <a:tableStyleId>{BC89EF96-8CEA-46FF-86C4-4CE0E7609802}</a:tableStyleId>
              </a:tblPr>
              <a:tblGrid>
                <a:gridCol w="2464611">
                  <a:extLst>
                    <a:ext uri="{9D8B030D-6E8A-4147-A177-3AD203B41FA5}">
                      <a16:colId xmlns:a16="http://schemas.microsoft.com/office/drawing/2014/main" val="20000"/>
                    </a:ext>
                  </a:extLst>
                </a:gridCol>
                <a:gridCol w="2464611">
                  <a:extLst>
                    <a:ext uri="{9D8B030D-6E8A-4147-A177-3AD203B41FA5}">
                      <a16:colId xmlns:a16="http://schemas.microsoft.com/office/drawing/2014/main" val="20001"/>
                    </a:ext>
                  </a:extLst>
                </a:gridCol>
              </a:tblGrid>
              <a:tr h="370840">
                <a:tc>
                  <a:txBody>
                    <a:bodyPr/>
                    <a:lstStyle/>
                    <a:p>
                      <a:r>
                        <a:rPr lang="en-US" altLang="zh-CN" sz="2400" dirty="0">
                          <a:latin typeface="Comic Sans MS" pitchFamily="66" charset="0"/>
                        </a:rPr>
                        <a:t>   Register</a:t>
                      </a:r>
                      <a:endParaRPr lang="zh-CN" altLang="en-US" sz="2400" dirty="0">
                        <a:latin typeface="Comic Sans MS" pitchFamily="66" charset="0"/>
                      </a:endParaRPr>
                    </a:p>
                  </a:txBody>
                  <a:tcPr/>
                </a:tc>
                <a:tc>
                  <a:txBody>
                    <a:bodyPr/>
                    <a:lstStyle/>
                    <a:p>
                      <a:r>
                        <a:rPr lang="en-US" altLang="zh-CN" sz="2400" dirty="0">
                          <a:latin typeface="Comic Sans MS" pitchFamily="66" charset="0"/>
                        </a:rPr>
                        <a:t> Value</a:t>
                      </a:r>
                      <a:endParaRPr lang="zh-CN" altLang="en-US" sz="2400" dirty="0">
                        <a:latin typeface="Comic Sans MS" pitchFamily="66" charset="0"/>
                      </a:endParaRPr>
                    </a:p>
                  </a:txBody>
                  <a:tcPr/>
                </a:tc>
                <a:extLst>
                  <a:ext uri="{0D108BD9-81ED-4DB2-BD59-A6C34878D82A}">
                    <a16:rowId xmlns:a16="http://schemas.microsoft.com/office/drawing/2014/main" val="10000"/>
                  </a:ext>
                </a:extLst>
              </a:tr>
              <a:tr h="370840">
                <a:tc>
                  <a:txBody>
                    <a:bodyPr/>
                    <a:lstStyle/>
                    <a:p>
                      <a:r>
                        <a:rPr lang="en-US" altLang="zh-CN" sz="2400" dirty="0">
                          <a:latin typeface="Comic Sans MS" pitchFamily="66" charset="0"/>
                        </a:rPr>
                        <a:t>   %esp</a:t>
                      </a:r>
                    </a:p>
                    <a:p>
                      <a:r>
                        <a:rPr lang="en-US" altLang="zh-CN" sz="2400" dirty="0">
                          <a:latin typeface="Comic Sans MS" pitchFamily="66" charset="0"/>
                        </a:rPr>
                        <a:t>   %ebp</a:t>
                      </a:r>
                      <a:endParaRPr lang="zh-CN" altLang="en-US" sz="2400" dirty="0">
                        <a:latin typeface="Comic Sans MS" pitchFamily="66" charset="0"/>
                      </a:endParaRPr>
                    </a:p>
                  </a:txBody>
                  <a:tcPr/>
                </a:tc>
                <a:tc>
                  <a:txBody>
                    <a:bodyPr/>
                    <a:lstStyle/>
                    <a:p>
                      <a:r>
                        <a:rPr lang="en-US" altLang="zh-CN" sz="2400" dirty="0">
                          <a:latin typeface="Comic Sans MS" pitchFamily="66" charset="0"/>
                        </a:rPr>
                        <a:t>  0x800040</a:t>
                      </a:r>
                    </a:p>
                    <a:p>
                      <a:r>
                        <a:rPr lang="en-US" altLang="zh-CN" sz="2400" dirty="0">
                          <a:latin typeface="Comic Sans MS" pitchFamily="66" charset="0"/>
                        </a:rPr>
                        <a:t>  0x800060</a:t>
                      </a:r>
                      <a:endParaRPr lang="zh-CN" altLang="en-US" sz="2400" dirty="0">
                        <a:latin typeface="Comic Sans MS" pitchFamily="66" charset="0"/>
                      </a:endParaRPr>
                    </a:p>
                  </a:txBody>
                  <a:tcPr/>
                </a:tc>
                <a:extLst>
                  <a:ext uri="{0D108BD9-81ED-4DB2-BD59-A6C34878D82A}">
                    <a16:rowId xmlns:a16="http://schemas.microsoft.com/office/drawing/2014/main" val="10001"/>
                  </a:ext>
                </a:extLst>
              </a:tr>
            </a:tbl>
          </a:graphicData>
        </a:graphic>
      </p:graphicFrame>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28604"/>
            <a:ext cx="8229600" cy="5697559"/>
          </a:xfrm>
        </p:spPr>
        <p:txBody>
          <a:bodyPr>
            <a:normAutofit fontScale="85000" lnSpcReduction="10000"/>
          </a:bodyPr>
          <a:lstStyle/>
          <a:p>
            <a:r>
              <a:rPr lang="en-US" altLang="zh-CN" dirty="0">
                <a:latin typeface="Comic Sans MS" pitchFamily="66" charset="0"/>
              </a:rPr>
              <a:t>Suppose </a:t>
            </a:r>
            <a:r>
              <a:rPr lang="en-US" altLang="zh-CN" dirty="0">
                <a:solidFill>
                  <a:srgbClr val="00B050"/>
                </a:solidFill>
                <a:latin typeface="Comic Sans MS" pitchFamily="66" charset="0"/>
              </a:rPr>
              <a:t>proc</a:t>
            </a:r>
            <a:r>
              <a:rPr lang="en-US" altLang="zh-CN" dirty="0">
                <a:latin typeface="Comic Sans MS" pitchFamily="66" charset="0"/>
              </a:rPr>
              <a:t> calls scanf (line 11), and that scanf reads values 0x46 and 0x53 from the standard input. Assume that the string “%x %x” is stored at memory location 0x300070</a:t>
            </a:r>
          </a:p>
          <a:p>
            <a:r>
              <a:rPr lang="en-US" altLang="zh-CN" dirty="0">
                <a:latin typeface="Comic Sans MS" pitchFamily="66" charset="0"/>
              </a:rPr>
              <a:t>A. What value does</a:t>
            </a:r>
            <a:r>
              <a:rPr lang="en-US" altLang="zh-CN" dirty="0">
                <a:solidFill>
                  <a:srgbClr val="00B050"/>
                </a:solidFill>
                <a:latin typeface="Comic Sans MS" pitchFamily="66" charset="0"/>
              </a:rPr>
              <a:t> %ebp </a:t>
            </a:r>
            <a:r>
              <a:rPr lang="en-US" altLang="zh-CN" dirty="0">
                <a:latin typeface="Comic Sans MS" pitchFamily="66" charset="0"/>
              </a:rPr>
              <a:t>get set to on line 3 ?</a:t>
            </a:r>
          </a:p>
          <a:p>
            <a:r>
              <a:rPr lang="en-US" altLang="zh-CN" dirty="0">
                <a:latin typeface="Comic Sans MS" pitchFamily="66" charset="0"/>
              </a:rPr>
              <a:t>B. At what addresses are local variables x and y?</a:t>
            </a:r>
          </a:p>
          <a:p>
            <a:r>
              <a:rPr lang="en-US" altLang="zh-CN" dirty="0">
                <a:latin typeface="Comic Sans MS" pitchFamily="66" charset="0"/>
              </a:rPr>
              <a:t>C. What is the value of </a:t>
            </a:r>
            <a:r>
              <a:rPr lang="en-US" altLang="zh-CN" dirty="0">
                <a:solidFill>
                  <a:srgbClr val="00B050"/>
                </a:solidFill>
                <a:latin typeface="Comic Sans MS" pitchFamily="66" charset="0"/>
              </a:rPr>
              <a:t>%esp </a:t>
            </a:r>
            <a:r>
              <a:rPr lang="en-US" altLang="zh-CN" dirty="0">
                <a:latin typeface="Comic Sans MS" pitchFamily="66" charset="0"/>
              </a:rPr>
              <a:t>after line 10 ?</a:t>
            </a:r>
          </a:p>
          <a:p>
            <a:r>
              <a:rPr lang="en-US" altLang="zh-CN" dirty="0">
                <a:latin typeface="Comic Sans MS" pitchFamily="66" charset="0"/>
              </a:rPr>
              <a:t>D. Draw a diagram of the stack frame for proc right after scanf returns. Include as much information as you can about the addresses and the contents of the stack frame elements.</a:t>
            </a:r>
          </a:p>
          <a:p>
            <a:r>
              <a:rPr lang="en-US" altLang="zh-CN" dirty="0">
                <a:latin typeface="Comic Sans MS" pitchFamily="66" charset="0"/>
              </a:rPr>
              <a:t>E. Indicate the regions of the stack frame that are not used by proc (these wasted areas are allocated to improve the cache performance).</a:t>
            </a:r>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31</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57166"/>
            <a:ext cx="8229600" cy="6215106"/>
          </a:xfrm>
        </p:spPr>
        <p:txBody>
          <a:bodyPr>
            <a:normAutofit fontScale="62500" lnSpcReduction="20000"/>
          </a:bodyPr>
          <a:lstStyle/>
          <a:p>
            <a:pPr marL="514350" indent="-514350">
              <a:buAutoNum type="arabicPlain"/>
            </a:pPr>
            <a:r>
              <a:rPr lang="en-US" altLang="zh-CN" dirty="0">
                <a:latin typeface="Comic Sans MS" pitchFamily="66" charset="0"/>
              </a:rPr>
              <a:t>proc:</a:t>
            </a:r>
          </a:p>
          <a:p>
            <a:pPr marL="514350" indent="-514350">
              <a:buAutoNum type="arabicPlain"/>
            </a:pPr>
            <a:r>
              <a:rPr lang="en-US" altLang="zh-CN" dirty="0">
                <a:latin typeface="Comic Sans MS" pitchFamily="66" charset="0"/>
              </a:rPr>
              <a:t>   </a:t>
            </a:r>
            <a:r>
              <a:rPr lang="en-US" altLang="zh-CN" dirty="0">
                <a:solidFill>
                  <a:srgbClr val="00B050"/>
                </a:solidFill>
                <a:latin typeface="Comic Sans MS" pitchFamily="66" charset="0"/>
              </a:rPr>
              <a:t>push1 %ebp</a:t>
            </a:r>
          </a:p>
          <a:p>
            <a:pPr marL="514350" indent="-514350">
              <a:buAutoNum type="arabicPlain"/>
            </a:pPr>
            <a:r>
              <a:rPr lang="en-US" altLang="zh-CN" dirty="0">
                <a:latin typeface="Comic Sans MS" pitchFamily="66" charset="0"/>
              </a:rPr>
              <a:t>   </a:t>
            </a:r>
            <a:r>
              <a:rPr lang="en-US" altLang="zh-CN" dirty="0">
                <a:solidFill>
                  <a:srgbClr val="00B050"/>
                </a:solidFill>
                <a:latin typeface="Comic Sans MS" pitchFamily="66" charset="0"/>
              </a:rPr>
              <a:t>movl   %esp, %ebp</a:t>
            </a:r>
          </a:p>
          <a:p>
            <a:pPr marL="514350" indent="-514350">
              <a:buAutoNum type="arabicPlain"/>
            </a:pPr>
            <a:r>
              <a:rPr lang="en-US" altLang="zh-CN" dirty="0">
                <a:latin typeface="Comic Sans MS" pitchFamily="66" charset="0"/>
              </a:rPr>
              <a:t>   subl    $24, %esp</a:t>
            </a:r>
          </a:p>
          <a:p>
            <a:pPr marL="514350" indent="-514350">
              <a:buAutoNum type="arabicPlain"/>
            </a:pPr>
            <a:r>
              <a:rPr lang="en-US" altLang="zh-CN" dirty="0">
                <a:latin typeface="Comic Sans MS" pitchFamily="66" charset="0"/>
              </a:rPr>
              <a:t>   addl    $-4, %esp</a:t>
            </a:r>
          </a:p>
          <a:p>
            <a:pPr marL="514350" indent="-514350">
              <a:buAutoNum type="arabicPlain"/>
            </a:pPr>
            <a:r>
              <a:rPr lang="en-US" altLang="zh-CN" dirty="0">
                <a:latin typeface="Comic Sans MS" pitchFamily="66" charset="0"/>
              </a:rPr>
              <a:t>   leal     -4(%ebp),  %eax</a:t>
            </a:r>
          </a:p>
          <a:p>
            <a:pPr marL="514350" indent="-514350">
              <a:buAutoNum type="arabicPlain"/>
            </a:pPr>
            <a:r>
              <a:rPr lang="en-US" altLang="zh-CN" dirty="0">
                <a:latin typeface="Comic Sans MS" pitchFamily="66" charset="0"/>
              </a:rPr>
              <a:t>   pushl %eax</a:t>
            </a:r>
          </a:p>
          <a:p>
            <a:pPr marL="514350" indent="-514350">
              <a:buAutoNum type="arabicPlain"/>
            </a:pPr>
            <a:r>
              <a:rPr lang="en-US" altLang="zh-CN" dirty="0">
                <a:latin typeface="Comic Sans MS" pitchFamily="66" charset="0"/>
              </a:rPr>
              <a:t>   leal -8(%ebp), %eax</a:t>
            </a:r>
          </a:p>
          <a:p>
            <a:pPr marL="514350" indent="-514350">
              <a:buAutoNum type="arabicPlain"/>
            </a:pPr>
            <a:r>
              <a:rPr lang="en-US" altLang="zh-CN" dirty="0">
                <a:latin typeface="Comic Sans MS" pitchFamily="66" charset="0"/>
              </a:rPr>
              <a:t>   pushl %eax</a:t>
            </a:r>
          </a:p>
          <a:p>
            <a:pPr marL="514350" indent="-514350">
              <a:buAutoNum type="arabicPlain"/>
            </a:pPr>
            <a:r>
              <a:rPr lang="en-US" altLang="zh-CN" dirty="0">
                <a:latin typeface="Comic Sans MS" pitchFamily="66" charset="0"/>
              </a:rPr>
              <a:t>   pushl $.LC0     pointer to string “%x %x”</a:t>
            </a:r>
          </a:p>
          <a:p>
            <a:pPr marL="514350" indent="-514350">
              <a:buAutoNum type="arabicPlain"/>
            </a:pPr>
            <a:r>
              <a:rPr lang="en-US" altLang="zh-CN" dirty="0">
                <a:latin typeface="Comic Sans MS" pitchFamily="66" charset="0"/>
              </a:rPr>
              <a:t>   call scanf</a:t>
            </a:r>
          </a:p>
          <a:p>
            <a:pPr marL="514350" indent="-514350">
              <a:buAutoNum type="arabicPlain"/>
            </a:pPr>
            <a:r>
              <a:rPr lang="en-US" altLang="zh-CN" dirty="0">
                <a:latin typeface="Comic Sans MS" pitchFamily="66" charset="0"/>
              </a:rPr>
              <a:t>   movl -8(%ebp), %eax</a:t>
            </a:r>
          </a:p>
          <a:p>
            <a:pPr marL="514350" indent="-514350">
              <a:buAutoNum type="arabicPlain"/>
            </a:pPr>
            <a:r>
              <a:rPr lang="en-US" altLang="zh-CN" dirty="0">
                <a:latin typeface="Comic Sans MS" pitchFamily="66" charset="0"/>
              </a:rPr>
              <a:t>   movl -4(%ebp), %edx</a:t>
            </a:r>
          </a:p>
          <a:p>
            <a:pPr marL="514350" indent="-514350">
              <a:buAutoNum type="arabicPlain"/>
            </a:pPr>
            <a:r>
              <a:rPr lang="en-US" altLang="zh-CN" dirty="0">
                <a:latin typeface="Comic Sans MS" pitchFamily="66" charset="0"/>
              </a:rPr>
              <a:t>   subl %eax, %edx</a:t>
            </a:r>
          </a:p>
          <a:p>
            <a:pPr marL="514350" indent="-514350">
              <a:buAutoNum type="arabicPlain"/>
            </a:pPr>
            <a:r>
              <a:rPr lang="en-US" altLang="zh-CN" dirty="0">
                <a:latin typeface="Comic Sans MS" pitchFamily="66" charset="0"/>
              </a:rPr>
              <a:t>   movl %edx, %eax</a:t>
            </a:r>
          </a:p>
          <a:p>
            <a:pPr marL="514350" indent="-514350">
              <a:buAutoNum type="arabicPlain"/>
            </a:pPr>
            <a:r>
              <a:rPr lang="en-US" altLang="zh-CN" dirty="0">
                <a:latin typeface="Comic Sans MS" pitchFamily="66" charset="0"/>
              </a:rPr>
              <a:t>   movl %ebp, %esp</a:t>
            </a:r>
          </a:p>
          <a:p>
            <a:pPr marL="514350" indent="-514350">
              <a:buAutoNum type="arabicPlain"/>
            </a:pPr>
            <a:r>
              <a:rPr lang="en-US" altLang="zh-CN" dirty="0">
                <a:latin typeface="Comic Sans MS" pitchFamily="66" charset="0"/>
              </a:rPr>
              <a:t>   popl  %ebp</a:t>
            </a:r>
          </a:p>
          <a:p>
            <a:pPr marL="514350" indent="-514350">
              <a:buAutoNum type="arabicPlain"/>
            </a:pPr>
            <a:r>
              <a:rPr lang="en-US" altLang="zh-CN" dirty="0">
                <a:latin typeface="Comic Sans MS" pitchFamily="66" charset="0"/>
              </a:rPr>
              <a:t>   ret</a:t>
            </a:r>
          </a:p>
          <a:p>
            <a:pPr marL="514350" indent="-514350">
              <a:buNone/>
            </a:pPr>
            <a:r>
              <a:rPr lang="en-US" altLang="zh-CN" dirty="0">
                <a:latin typeface="Comic Sans MS" pitchFamily="66" charset="0"/>
              </a:rPr>
              <a:t>      Assume that procedure </a:t>
            </a:r>
            <a:r>
              <a:rPr lang="en-US" altLang="zh-CN" dirty="0">
                <a:solidFill>
                  <a:srgbClr val="00B050"/>
                </a:solidFill>
                <a:latin typeface="Comic Sans MS" pitchFamily="66" charset="0"/>
              </a:rPr>
              <a:t>proc</a:t>
            </a:r>
            <a:r>
              <a:rPr lang="en-US" altLang="zh-CN" dirty="0">
                <a:latin typeface="Comic Sans MS" pitchFamily="66" charset="0"/>
              </a:rPr>
              <a:t> starts executing with the following register values:</a:t>
            </a:r>
            <a:endParaRPr lang="zh-CN" altLang="en-US" dirty="0">
              <a:latin typeface="Comic Sans MS" pitchFamily="66" charset="0"/>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32</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graphicFrame>
        <p:nvGraphicFramePr>
          <p:cNvPr id="7" name="表格 6"/>
          <p:cNvGraphicFramePr>
            <a:graphicFrameLocks noGrp="1"/>
          </p:cNvGraphicFramePr>
          <p:nvPr/>
        </p:nvGraphicFramePr>
        <p:xfrm>
          <a:off x="3714744" y="4429132"/>
          <a:ext cx="4929222" cy="1280160"/>
        </p:xfrm>
        <a:graphic>
          <a:graphicData uri="http://schemas.openxmlformats.org/drawingml/2006/table">
            <a:tbl>
              <a:tblPr firstRow="1" bandRow="1">
                <a:tableStyleId>{BC89EF96-8CEA-46FF-86C4-4CE0E7609802}</a:tableStyleId>
              </a:tblPr>
              <a:tblGrid>
                <a:gridCol w="2464611">
                  <a:extLst>
                    <a:ext uri="{9D8B030D-6E8A-4147-A177-3AD203B41FA5}">
                      <a16:colId xmlns:a16="http://schemas.microsoft.com/office/drawing/2014/main" val="20000"/>
                    </a:ext>
                  </a:extLst>
                </a:gridCol>
                <a:gridCol w="2464611">
                  <a:extLst>
                    <a:ext uri="{9D8B030D-6E8A-4147-A177-3AD203B41FA5}">
                      <a16:colId xmlns:a16="http://schemas.microsoft.com/office/drawing/2014/main" val="20001"/>
                    </a:ext>
                  </a:extLst>
                </a:gridCol>
              </a:tblGrid>
              <a:tr h="370840">
                <a:tc>
                  <a:txBody>
                    <a:bodyPr/>
                    <a:lstStyle/>
                    <a:p>
                      <a:r>
                        <a:rPr lang="en-US" altLang="zh-CN" sz="2400" dirty="0">
                          <a:latin typeface="Comic Sans MS" pitchFamily="66" charset="0"/>
                        </a:rPr>
                        <a:t>   Register</a:t>
                      </a:r>
                      <a:endParaRPr lang="zh-CN" altLang="en-US" sz="2400" dirty="0">
                        <a:latin typeface="Comic Sans MS" pitchFamily="66" charset="0"/>
                      </a:endParaRPr>
                    </a:p>
                  </a:txBody>
                  <a:tcPr/>
                </a:tc>
                <a:tc>
                  <a:txBody>
                    <a:bodyPr/>
                    <a:lstStyle/>
                    <a:p>
                      <a:r>
                        <a:rPr lang="en-US" altLang="zh-CN" sz="2400" dirty="0">
                          <a:latin typeface="Comic Sans MS" pitchFamily="66" charset="0"/>
                        </a:rPr>
                        <a:t> Value</a:t>
                      </a:r>
                      <a:endParaRPr lang="zh-CN" altLang="en-US" sz="2400" dirty="0">
                        <a:latin typeface="Comic Sans MS" pitchFamily="66" charset="0"/>
                      </a:endParaRPr>
                    </a:p>
                  </a:txBody>
                  <a:tcPr/>
                </a:tc>
                <a:extLst>
                  <a:ext uri="{0D108BD9-81ED-4DB2-BD59-A6C34878D82A}">
                    <a16:rowId xmlns:a16="http://schemas.microsoft.com/office/drawing/2014/main" val="10000"/>
                  </a:ext>
                </a:extLst>
              </a:tr>
              <a:tr h="370840">
                <a:tc>
                  <a:txBody>
                    <a:bodyPr/>
                    <a:lstStyle/>
                    <a:p>
                      <a:r>
                        <a:rPr lang="en-US" altLang="zh-CN" sz="2400" dirty="0">
                          <a:latin typeface="Comic Sans MS" pitchFamily="66" charset="0"/>
                        </a:rPr>
                        <a:t>   %esp</a:t>
                      </a:r>
                    </a:p>
                    <a:p>
                      <a:r>
                        <a:rPr lang="en-US" altLang="zh-CN" sz="2400" dirty="0">
                          <a:latin typeface="Comic Sans MS" pitchFamily="66" charset="0"/>
                        </a:rPr>
                        <a:t>   %ebp</a:t>
                      </a:r>
                      <a:endParaRPr lang="zh-CN" altLang="en-US" sz="2400" dirty="0">
                        <a:latin typeface="Comic Sans MS" pitchFamily="66" charset="0"/>
                      </a:endParaRPr>
                    </a:p>
                  </a:txBody>
                  <a:tcPr/>
                </a:tc>
                <a:tc>
                  <a:txBody>
                    <a:bodyPr/>
                    <a:lstStyle/>
                    <a:p>
                      <a:r>
                        <a:rPr lang="en-US" altLang="zh-CN" sz="2400" dirty="0">
                          <a:latin typeface="Comic Sans MS" pitchFamily="66" charset="0"/>
                        </a:rPr>
                        <a:t>  0x800040</a:t>
                      </a:r>
                    </a:p>
                    <a:p>
                      <a:r>
                        <a:rPr lang="en-US" altLang="zh-CN" sz="2400" dirty="0">
                          <a:latin typeface="Comic Sans MS" pitchFamily="66" charset="0"/>
                        </a:rPr>
                        <a:t>  0x800060</a:t>
                      </a:r>
                      <a:endParaRPr lang="zh-CN" altLang="en-US" sz="2400" dirty="0">
                        <a:latin typeface="Comic Sans MS" pitchFamily="66" charset="0"/>
                      </a:endParaRPr>
                    </a:p>
                  </a:txBody>
                  <a:tcPr/>
                </a:tc>
                <a:extLst>
                  <a:ext uri="{0D108BD9-81ED-4DB2-BD59-A6C34878D82A}">
                    <a16:rowId xmlns:a16="http://schemas.microsoft.com/office/drawing/2014/main" val="10001"/>
                  </a:ext>
                </a:extLst>
              </a:tr>
            </a:tbl>
          </a:graphicData>
        </a:graphic>
      </p:graphicFrame>
      <p:sp>
        <p:nvSpPr>
          <p:cNvPr id="8" name="云形标注 7"/>
          <p:cNvSpPr/>
          <p:nvPr/>
        </p:nvSpPr>
        <p:spPr>
          <a:xfrm>
            <a:off x="2571736" y="0"/>
            <a:ext cx="6143668" cy="1000108"/>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chemeClr val="tx1"/>
                </a:solidFill>
                <a:latin typeface="Comic Sans MS" pitchFamily="66" charset="0"/>
              </a:rPr>
              <a:t>A. What value does </a:t>
            </a:r>
            <a:r>
              <a:rPr lang="en-US" altLang="zh-CN" sz="2000" dirty="0">
                <a:solidFill>
                  <a:srgbClr val="00B050"/>
                </a:solidFill>
                <a:latin typeface="Comic Sans MS" pitchFamily="66" charset="0"/>
              </a:rPr>
              <a:t>%ebp </a:t>
            </a:r>
            <a:r>
              <a:rPr lang="en-US" altLang="zh-CN" sz="2000" dirty="0">
                <a:solidFill>
                  <a:schemeClr val="tx1"/>
                </a:solidFill>
                <a:latin typeface="Comic Sans MS" pitchFamily="66" charset="0"/>
              </a:rPr>
              <a:t>get set to on line 3 ?  </a:t>
            </a:r>
            <a:endParaRPr lang="zh-CN" altLang="en-US" sz="2000" dirty="0">
              <a:solidFill>
                <a:srgbClr val="FF0000"/>
              </a:solidFill>
            </a:endParaRPr>
          </a:p>
        </p:txBody>
      </p:sp>
      <p:sp>
        <p:nvSpPr>
          <p:cNvPr id="9" name="矩形 8"/>
          <p:cNvSpPr/>
          <p:nvPr/>
        </p:nvSpPr>
        <p:spPr>
          <a:xfrm>
            <a:off x="5643570" y="500042"/>
            <a:ext cx="1714512" cy="2857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0x800040</a:t>
            </a:r>
            <a:endParaRPr lang="zh-CN" altLang="en-US" sz="2000" dirty="0">
              <a:solidFill>
                <a:srgbClr val="FF0000"/>
              </a:solidFill>
              <a:latin typeface="Comic Sans MS" pitchFamily="66" charset="0"/>
            </a:endParaRPr>
          </a:p>
        </p:txBody>
      </p:sp>
      <p:sp>
        <p:nvSpPr>
          <p:cNvPr id="10" name="云形标注 9"/>
          <p:cNvSpPr/>
          <p:nvPr/>
        </p:nvSpPr>
        <p:spPr>
          <a:xfrm>
            <a:off x="3000332" y="1928802"/>
            <a:ext cx="6143668" cy="1000108"/>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chemeClr val="tx1"/>
                </a:solidFill>
                <a:latin typeface="Comic Sans MS" pitchFamily="66" charset="0"/>
              </a:rPr>
              <a:t>C. What is the value of </a:t>
            </a:r>
            <a:r>
              <a:rPr lang="en-US" altLang="zh-CN" sz="2000" dirty="0">
                <a:solidFill>
                  <a:srgbClr val="00B050"/>
                </a:solidFill>
                <a:latin typeface="Comic Sans MS" pitchFamily="66" charset="0"/>
              </a:rPr>
              <a:t>%esp </a:t>
            </a:r>
            <a:r>
              <a:rPr lang="en-US" altLang="zh-CN" sz="2000" dirty="0">
                <a:solidFill>
                  <a:schemeClr val="tx1"/>
                </a:solidFill>
                <a:latin typeface="Comic Sans MS" pitchFamily="66" charset="0"/>
              </a:rPr>
              <a:t>after line 10 ?  </a:t>
            </a:r>
            <a:endParaRPr lang="zh-CN" altLang="en-US" sz="2000" dirty="0">
              <a:solidFill>
                <a:schemeClr val="tx1"/>
              </a:solidFill>
            </a:endParaRPr>
          </a:p>
        </p:txBody>
      </p:sp>
      <p:sp>
        <p:nvSpPr>
          <p:cNvPr id="13" name="矩形 12"/>
          <p:cNvSpPr/>
          <p:nvPr/>
        </p:nvSpPr>
        <p:spPr>
          <a:xfrm>
            <a:off x="5072066" y="3643314"/>
            <a:ext cx="2786082" cy="7858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X :0x800038 %edx</a:t>
            </a:r>
          </a:p>
          <a:p>
            <a:r>
              <a:rPr lang="en-US" altLang="zh-CN" sz="2000" dirty="0">
                <a:solidFill>
                  <a:srgbClr val="FF0000"/>
                </a:solidFill>
                <a:latin typeface="Comic Sans MS" pitchFamily="66" charset="0"/>
              </a:rPr>
              <a:t>Y : 0x800034 %eax </a:t>
            </a:r>
            <a:endParaRPr lang="zh-CN" altLang="en-US" sz="2000" dirty="0">
              <a:solidFill>
                <a:srgbClr val="FF0000"/>
              </a:solidFill>
              <a:latin typeface="Comic Sans MS" pitchFamily="66" charset="0"/>
            </a:endParaRPr>
          </a:p>
        </p:txBody>
      </p:sp>
      <p:sp>
        <p:nvSpPr>
          <p:cNvPr id="11" name="云形标注 10"/>
          <p:cNvSpPr/>
          <p:nvPr/>
        </p:nvSpPr>
        <p:spPr>
          <a:xfrm>
            <a:off x="2357422" y="2714620"/>
            <a:ext cx="6786578" cy="1000108"/>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chemeClr val="tx1"/>
                </a:solidFill>
                <a:latin typeface="Comic Sans MS" pitchFamily="66" charset="0"/>
              </a:rPr>
              <a:t>B. At what addresses are local variables x and y stored ?</a:t>
            </a:r>
            <a:endParaRPr lang="zh-CN" altLang="en-US" sz="2000" dirty="0">
              <a:solidFill>
                <a:schemeClr val="tx1"/>
              </a:solidFill>
            </a:endParaRPr>
          </a:p>
        </p:txBody>
      </p:sp>
      <p:sp>
        <p:nvSpPr>
          <p:cNvPr id="12" name="矩形 11"/>
          <p:cNvSpPr/>
          <p:nvPr/>
        </p:nvSpPr>
        <p:spPr>
          <a:xfrm>
            <a:off x="5795970" y="2500306"/>
            <a:ext cx="1714512" cy="2857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dirty="0">
                <a:solidFill>
                  <a:srgbClr val="FF0000"/>
                </a:solidFill>
                <a:latin typeface="Comic Sans MS" pitchFamily="66" charset="0"/>
              </a:rPr>
              <a:t>0x800014</a:t>
            </a:r>
            <a:endParaRPr lang="zh-CN" altLang="en-US" sz="2000" dirty="0">
              <a:solidFill>
                <a:srgbClr val="FF0000"/>
              </a:solidFill>
              <a:latin typeface="Comic Sans MS" pitchFamily="66" charset="0"/>
            </a:endParaRPr>
          </a:p>
        </p:txBody>
      </p:sp>
      <p:cxnSp>
        <p:nvCxnSpPr>
          <p:cNvPr id="15" name="曲线连接符 14"/>
          <p:cNvCxnSpPr/>
          <p:nvPr/>
        </p:nvCxnSpPr>
        <p:spPr>
          <a:xfrm rot="16200000" flipV="1">
            <a:off x="2714612" y="1285860"/>
            <a:ext cx="2500330" cy="2357454"/>
          </a:xfrm>
          <a:prstGeom prst="curvedConnector3">
            <a:avLst>
              <a:gd name="adj1" fmla="val 50000"/>
            </a:avLst>
          </a:prstGeom>
          <a:ln>
            <a:solidFill>
              <a:srgbClr val="FF0000"/>
            </a:solidFill>
            <a:headEnd type="arrow"/>
            <a:tailEnd type="arrow"/>
          </a:ln>
        </p:spPr>
        <p:style>
          <a:lnRef idx="2">
            <a:schemeClr val="accent6"/>
          </a:lnRef>
          <a:fillRef idx="0">
            <a:schemeClr val="accent6"/>
          </a:fillRef>
          <a:effectRef idx="1">
            <a:schemeClr val="accent6"/>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xit" presetSubtype="10" fill="hold" grpId="1" nodeType="clickEffect">
                                  <p:stCondLst>
                                    <p:cond delay="0"/>
                                  </p:stCondLst>
                                  <p:childTnLst>
                                    <p:animEffect transition="out" filter="blinds(horizontal)">
                                      <p:cBhvr>
                                        <p:cTn id="17" dur="500"/>
                                        <p:tgtEl>
                                          <p:spTgt spid="8"/>
                                        </p:tgtEl>
                                      </p:cBhvr>
                                    </p:animEffect>
                                    <p:set>
                                      <p:cBhvr>
                                        <p:cTn id="18" dur="1" fill="hold">
                                          <p:stCondLst>
                                            <p:cond delay="499"/>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 presetClass="exit" presetSubtype="4" fill="hold" grpId="1" nodeType="clickEffect">
                                  <p:stCondLst>
                                    <p:cond delay="0"/>
                                  </p:stCondLst>
                                  <p:childTnLst>
                                    <p:anim calcmode="lin" valueType="num">
                                      <p:cBhvr additive="base">
                                        <p:cTn id="22" dur="500"/>
                                        <p:tgtEl>
                                          <p:spTgt spid="9"/>
                                        </p:tgtEl>
                                        <p:attrNameLst>
                                          <p:attrName>ppt_x</p:attrName>
                                        </p:attrNameLst>
                                      </p:cBhvr>
                                      <p:tavLst>
                                        <p:tav tm="0">
                                          <p:val>
                                            <p:strVal val="ppt_x"/>
                                          </p:val>
                                        </p:tav>
                                        <p:tav tm="100000">
                                          <p:val>
                                            <p:strVal val="ppt_x"/>
                                          </p:val>
                                        </p:tav>
                                      </p:tavLst>
                                    </p:anim>
                                    <p:anim calcmode="lin" valueType="num">
                                      <p:cBhvr additive="base">
                                        <p:cTn id="23" dur="500"/>
                                        <p:tgtEl>
                                          <p:spTgt spid="9"/>
                                        </p:tgtEl>
                                        <p:attrNameLst>
                                          <p:attrName>ppt_y</p:attrName>
                                        </p:attrNameLst>
                                      </p:cBhvr>
                                      <p:tavLst>
                                        <p:tav tm="0">
                                          <p:val>
                                            <p:strVal val="ppt_y"/>
                                          </p:val>
                                        </p:tav>
                                        <p:tav tm="100000">
                                          <p:val>
                                            <p:strVal val="1+ppt_h/2"/>
                                          </p:val>
                                        </p:tav>
                                      </p:tavLst>
                                    </p:anim>
                                    <p:set>
                                      <p:cBhvr>
                                        <p:cTn id="24" dur="1" fill="hold">
                                          <p:stCondLst>
                                            <p:cond delay="499"/>
                                          </p:stCondLst>
                                        </p:cTn>
                                        <p:tgtEl>
                                          <p:spTgt spid="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linds(horizontal)">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additive="base">
                                        <p:cTn id="34" dur="500" fill="hold"/>
                                        <p:tgtEl>
                                          <p:spTgt spid="13"/>
                                        </p:tgtEl>
                                        <p:attrNameLst>
                                          <p:attrName>ppt_x</p:attrName>
                                        </p:attrNameLst>
                                      </p:cBhvr>
                                      <p:tavLst>
                                        <p:tav tm="0">
                                          <p:val>
                                            <p:strVal val="#ppt_x"/>
                                          </p:val>
                                        </p:tav>
                                        <p:tav tm="100000">
                                          <p:val>
                                            <p:strVal val="#ppt_x"/>
                                          </p:val>
                                        </p:tav>
                                      </p:tavLst>
                                    </p:anim>
                                    <p:anim calcmode="lin" valueType="num">
                                      <p:cBhvr additive="base">
                                        <p:cTn id="3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3" presetClass="exit" presetSubtype="10" fill="hold" grpId="1" nodeType="clickEffect">
                                  <p:stCondLst>
                                    <p:cond delay="0"/>
                                  </p:stCondLst>
                                  <p:childTnLst>
                                    <p:animEffect transition="out" filter="blinds(horizontal)">
                                      <p:cBhvr>
                                        <p:cTn id="39" dur="500"/>
                                        <p:tgtEl>
                                          <p:spTgt spid="11"/>
                                        </p:tgtEl>
                                      </p:cBhvr>
                                    </p:animEffect>
                                    <p:set>
                                      <p:cBhvr>
                                        <p:cTn id="40" dur="1" fill="hold">
                                          <p:stCondLst>
                                            <p:cond delay="499"/>
                                          </p:stCondLst>
                                        </p:cTn>
                                        <p:tgtEl>
                                          <p:spTgt spid="11"/>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box(in)">
                                      <p:cBhvr>
                                        <p:cTn id="45" dur="5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xit" presetSubtype="16" fill="hold" nodeType="clickEffect">
                                  <p:stCondLst>
                                    <p:cond delay="0"/>
                                  </p:stCondLst>
                                  <p:childTnLst>
                                    <p:animEffect transition="out" filter="box(in)">
                                      <p:cBhvr>
                                        <p:cTn id="49" dur="500"/>
                                        <p:tgtEl>
                                          <p:spTgt spid="15"/>
                                        </p:tgtEl>
                                      </p:cBhvr>
                                    </p:animEffect>
                                    <p:set>
                                      <p:cBhvr>
                                        <p:cTn id="50" dur="1" fill="hold">
                                          <p:stCondLst>
                                            <p:cond delay="499"/>
                                          </p:stCondLst>
                                        </p:cTn>
                                        <p:tgtEl>
                                          <p:spTgt spid="15"/>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xit" presetSubtype="4" fill="hold" grpId="1" nodeType="clickEffect">
                                  <p:stCondLst>
                                    <p:cond delay="0"/>
                                  </p:stCondLst>
                                  <p:childTnLst>
                                    <p:anim calcmode="lin" valueType="num">
                                      <p:cBhvr additive="base">
                                        <p:cTn id="54" dur="500"/>
                                        <p:tgtEl>
                                          <p:spTgt spid="13"/>
                                        </p:tgtEl>
                                        <p:attrNameLst>
                                          <p:attrName>ppt_x</p:attrName>
                                        </p:attrNameLst>
                                      </p:cBhvr>
                                      <p:tavLst>
                                        <p:tav tm="0">
                                          <p:val>
                                            <p:strVal val="ppt_x"/>
                                          </p:val>
                                        </p:tav>
                                        <p:tav tm="100000">
                                          <p:val>
                                            <p:strVal val="ppt_x"/>
                                          </p:val>
                                        </p:tav>
                                      </p:tavLst>
                                    </p:anim>
                                    <p:anim calcmode="lin" valueType="num">
                                      <p:cBhvr additive="base">
                                        <p:cTn id="55" dur="500"/>
                                        <p:tgtEl>
                                          <p:spTgt spid="13"/>
                                        </p:tgtEl>
                                        <p:attrNameLst>
                                          <p:attrName>ppt_y</p:attrName>
                                        </p:attrNameLst>
                                      </p:cBhvr>
                                      <p:tavLst>
                                        <p:tav tm="0">
                                          <p:val>
                                            <p:strVal val="ppt_y"/>
                                          </p:val>
                                        </p:tav>
                                        <p:tav tm="100000">
                                          <p:val>
                                            <p:strVal val="1+ppt_h/2"/>
                                          </p:val>
                                        </p:tav>
                                      </p:tavLst>
                                    </p:anim>
                                    <p:set>
                                      <p:cBhvr>
                                        <p:cTn id="56" dur="1" fill="hold">
                                          <p:stCondLst>
                                            <p:cond delay="499"/>
                                          </p:stCondLst>
                                        </p:cTn>
                                        <p:tgtEl>
                                          <p:spTgt spid="13"/>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blinds(horizontal)">
                                      <p:cBhvr>
                                        <p:cTn id="61" dur="500"/>
                                        <p:tgtEl>
                                          <p:spTgt spid="10"/>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12"/>
                                        </p:tgtEl>
                                        <p:attrNameLst>
                                          <p:attrName>style.visibility</p:attrName>
                                        </p:attrNameLst>
                                      </p:cBhvr>
                                      <p:to>
                                        <p:strVal val="visible"/>
                                      </p:to>
                                    </p:set>
                                    <p:anim calcmode="lin" valueType="num">
                                      <p:cBhvr additive="base">
                                        <p:cTn id="66" dur="500" fill="hold"/>
                                        <p:tgtEl>
                                          <p:spTgt spid="12"/>
                                        </p:tgtEl>
                                        <p:attrNameLst>
                                          <p:attrName>ppt_x</p:attrName>
                                        </p:attrNameLst>
                                      </p:cBhvr>
                                      <p:tavLst>
                                        <p:tav tm="0">
                                          <p:val>
                                            <p:strVal val="#ppt_x"/>
                                          </p:val>
                                        </p:tav>
                                        <p:tav tm="100000">
                                          <p:val>
                                            <p:strVal val="#ppt_x"/>
                                          </p:val>
                                        </p:tav>
                                      </p:tavLst>
                                    </p:anim>
                                    <p:anim calcmode="lin" valueType="num">
                                      <p:cBhvr additive="base">
                                        <p:cTn id="6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3" presetClass="exit" presetSubtype="10" fill="hold" grpId="1" nodeType="clickEffect">
                                  <p:stCondLst>
                                    <p:cond delay="0"/>
                                  </p:stCondLst>
                                  <p:childTnLst>
                                    <p:animEffect transition="out" filter="blinds(horizontal)">
                                      <p:cBhvr>
                                        <p:cTn id="71" dur="500"/>
                                        <p:tgtEl>
                                          <p:spTgt spid="10"/>
                                        </p:tgtEl>
                                      </p:cBhvr>
                                    </p:animEffect>
                                    <p:set>
                                      <p:cBhvr>
                                        <p:cTn id="7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P spid="13" grpId="0" animBg="1"/>
      <p:bldP spid="13" grpId="1" animBg="1"/>
      <p:bldP spid="11" grpId="0" animBg="1"/>
      <p:bldP spid="11" grpId="1" animBg="1"/>
      <p:bldP spid="1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内容占位符 8"/>
          <p:cNvGraphicFramePr>
            <a:graphicFrameLocks noGrp="1"/>
          </p:cNvGraphicFramePr>
          <p:nvPr>
            <p:ph idx="1"/>
          </p:nvPr>
        </p:nvGraphicFramePr>
        <p:xfrm>
          <a:off x="3071802" y="500042"/>
          <a:ext cx="2185974" cy="5029200"/>
        </p:xfrm>
        <a:graphic>
          <a:graphicData uri="http://schemas.openxmlformats.org/drawingml/2006/table">
            <a:tbl>
              <a:tblPr firstRow="1" bandRow="1">
                <a:tableStyleId>{BC89EF96-8CEA-46FF-86C4-4CE0E7609802}</a:tableStyleId>
              </a:tblPr>
              <a:tblGrid>
                <a:gridCol w="2185974">
                  <a:extLst>
                    <a:ext uri="{9D8B030D-6E8A-4147-A177-3AD203B41FA5}">
                      <a16:colId xmlns:a16="http://schemas.microsoft.com/office/drawing/2014/main" val="20000"/>
                    </a:ext>
                  </a:extLst>
                </a:gridCol>
              </a:tblGrid>
              <a:tr h="370840">
                <a:tc>
                  <a:txBody>
                    <a:bodyPr/>
                    <a:lstStyle/>
                    <a:p>
                      <a:pPr algn="r"/>
                      <a:r>
                        <a:rPr lang="en-US" altLang="zh-CN" sz="2400" dirty="0">
                          <a:ln>
                            <a:solidFill>
                              <a:schemeClr val="bg1"/>
                            </a:solidFill>
                          </a:ln>
                          <a:solidFill>
                            <a:schemeClr val="bg1"/>
                          </a:solidFill>
                          <a:latin typeface="Comic Sans MS" pitchFamily="66" charset="0"/>
                        </a:rPr>
                        <a:t> </a:t>
                      </a:r>
                      <a:r>
                        <a:rPr lang="en-US" altLang="zh-CN" sz="2400" dirty="0">
                          <a:ln>
                            <a:solidFill>
                              <a:schemeClr val="bg1"/>
                            </a:solidFill>
                          </a:ln>
                          <a:solidFill>
                            <a:srgbClr val="FF0000"/>
                          </a:solidFill>
                          <a:latin typeface="Comic Sans MS" pitchFamily="66" charset="0"/>
                        </a:rPr>
                        <a:t>0x800060</a:t>
                      </a:r>
                      <a:endParaRPr lang="zh-CN" altLang="en-US" sz="2400" dirty="0">
                        <a:ln>
                          <a:solidFill>
                            <a:schemeClr val="bg1"/>
                          </a:solidFill>
                        </a:ln>
                        <a:solidFill>
                          <a:schemeClr val="bg1"/>
                        </a:solidFill>
                        <a:latin typeface="Comic Sans MS" pitchFamily="66" charset="0"/>
                      </a:endParaRPr>
                    </a:p>
                  </a:txBody>
                  <a:tcPr>
                    <a:solidFill>
                      <a:schemeClr val="bg1"/>
                    </a:solidFill>
                  </a:tcPr>
                </a:tc>
                <a:extLst>
                  <a:ext uri="{0D108BD9-81ED-4DB2-BD59-A6C34878D82A}">
                    <a16:rowId xmlns:a16="http://schemas.microsoft.com/office/drawing/2014/main" val="10000"/>
                  </a:ext>
                </a:extLst>
              </a:tr>
              <a:tr h="370840">
                <a:tc>
                  <a:txBody>
                    <a:bodyPr/>
                    <a:lstStyle/>
                    <a:p>
                      <a:pPr algn="r"/>
                      <a:r>
                        <a:rPr lang="en-US" altLang="zh-CN" sz="2400" dirty="0">
                          <a:ln>
                            <a:solidFill>
                              <a:schemeClr val="bg1"/>
                            </a:solidFill>
                          </a:ln>
                          <a:solidFill>
                            <a:srgbClr val="FF0000"/>
                          </a:solidFill>
                          <a:latin typeface="Comic Sans MS" pitchFamily="66" charset="0"/>
                        </a:rPr>
                        <a:t> 0x53</a:t>
                      </a:r>
                      <a:endParaRPr lang="zh-CN" altLang="en-US" sz="2400" dirty="0">
                        <a:ln>
                          <a:solidFill>
                            <a:schemeClr val="bg1"/>
                          </a:solidFill>
                        </a:ln>
                        <a:solidFill>
                          <a:srgbClr val="FF0000"/>
                        </a:solidFill>
                        <a:latin typeface="Comic Sans MS" pitchFamily="66" charset="0"/>
                      </a:endParaRPr>
                    </a:p>
                  </a:txBody>
                  <a:tcPr>
                    <a:solidFill>
                      <a:schemeClr val="bg1"/>
                    </a:solidFill>
                  </a:tcPr>
                </a:tc>
                <a:extLst>
                  <a:ext uri="{0D108BD9-81ED-4DB2-BD59-A6C34878D82A}">
                    <a16:rowId xmlns:a16="http://schemas.microsoft.com/office/drawing/2014/main" val="10001"/>
                  </a:ext>
                </a:extLst>
              </a:tr>
              <a:tr h="370840">
                <a:tc>
                  <a:txBody>
                    <a:bodyPr/>
                    <a:lstStyle/>
                    <a:p>
                      <a:pPr algn="r"/>
                      <a:r>
                        <a:rPr lang="en-US" altLang="zh-CN" sz="2400" dirty="0">
                          <a:ln>
                            <a:solidFill>
                              <a:schemeClr val="bg1"/>
                            </a:solidFill>
                          </a:ln>
                          <a:solidFill>
                            <a:srgbClr val="FF0000"/>
                          </a:solidFill>
                          <a:latin typeface="Comic Sans MS" pitchFamily="66" charset="0"/>
                        </a:rPr>
                        <a:t> 0x46</a:t>
                      </a:r>
                      <a:endParaRPr lang="zh-CN" altLang="en-US" sz="2400" dirty="0">
                        <a:ln>
                          <a:solidFill>
                            <a:schemeClr val="bg1"/>
                          </a:solidFill>
                        </a:ln>
                        <a:solidFill>
                          <a:srgbClr val="FF0000"/>
                        </a:solidFill>
                        <a:latin typeface="Comic Sans MS" pitchFamily="66" charset="0"/>
                      </a:endParaRPr>
                    </a:p>
                  </a:txBody>
                  <a:tcPr>
                    <a:solidFill>
                      <a:schemeClr val="bg1"/>
                    </a:solidFill>
                  </a:tcPr>
                </a:tc>
                <a:extLst>
                  <a:ext uri="{0D108BD9-81ED-4DB2-BD59-A6C34878D82A}">
                    <a16:rowId xmlns:a16="http://schemas.microsoft.com/office/drawing/2014/main" val="10002"/>
                  </a:ext>
                </a:extLst>
              </a:tr>
              <a:tr h="370840">
                <a:tc>
                  <a:txBody>
                    <a:bodyPr/>
                    <a:lstStyle/>
                    <a:p>
                      <a:endParaRPr lang="zh-CN" altLang="en-US" sz="2400">
                        <a:ln>
                          <a:solidFill>
                            <a:schemeClr val="bg1"/>
                          </a:solidFill>
                        </a:ln>
                        <a:solidFill>
                          <a:srgbClr val="FF0000"/>
                        </a:solidFill>
                        <a:latin typeface="Comic Sans MS" pitchFamily="66" charset="0"/>
                      </a:endParaRPr>
                    </a:p>
                  </a:txBody>
                  <a:tcPr>
                    <a:solidFill>
                      <a:schemeClr val="bg1"/>
                    </a:solidFill>
                  </a:tcPr>
                </a:tc>
                <a:extLst>
                  <a:ext uri="{0D108BD9-81ED-4DB2-BD59-A6C34878D82A}">
                    <a16:rowId xmlns:a16="http://schemas.microsoft.com/office/drawing/2014/main" val="10003"/>
                  </a:ext>
                </a:extLst>
              </a:tr>
              <a:tr h="370840">
                <a:tc>
                  <a:txBody>
                    <a:bodyPr/>
                    <a:lstStyle/>
                    <a:p>
                      <a:endParaRPr lang="zh-CN" altLang="en-US" sz="2400">
                        <a:ln>
                          <a:solidFill>
                            <a:schemeClr val="bg1"/>
                          </a:solidFill>
                        </a:ln>
                        <a:solidFill>
                          <a:srgbClr val="FF0000"/>
                        </a:solidFill>
                        <a:latin typeface="Comic Sans MS" pitchFamily="66" charset="0"/>
                      </a:endParaRPr>
                    </a:p>
                  </a:txBody>
                  <a:tcPr>
                    <a:solidFill>
                      <a:schemeClr val="bg1"/>
                    </a:solidFill>
                  </a:tcPr>
                </a:tc>
                <a:extLst>
                  <a:ext uri="{0D108BD9-81ED-4DB2-BD59-A6C34878D82A}">
                    <a16:rowId xmlns:a16="http://schemas.microsoft.com/office/drawing/2014/main" val="10004"/>
                  </a:ext>
                </a:extLst>
              </a:tr>
              <a:tr h="370840">
                <a:tc>
                  <a:txBody>
                    <a:bodyPr/>
                    <a:lstStyle/>
                    <a:p>
                      <a:endParaRPr lang="zh-CN" altLang="en-US" sz="2400">
                        <a:ln>
                          <a:solidFill>
                            <a:schemeClr val="bg1"/>
                          </a:solidFill>
                        </a:ln>
                        <a:solidFill>
                          <a:srgbClr val="FF0000"/>
                        </a:solidFill>
                        <a:latin typeface="Comic Sans MS" pitchFamily="66" charset="0"/>
                      </a:endParaRPr>
                    </a:p>
                  </a:txBody>
                  <a:tcPr>
                    <a:solidFill>
                      <a:schemeClr val="bg1"/>
                    </a:solidFill>
                  </a:tcPr>
                </a:tc>
                <a:extLst>
                  <a:ext uri="{0D108BD9-81ED-4DB2-BD59-A6C34878D82A}">
                    <a16:rowId xmlns:a16="http://schemas.microsoft.com/office/drawing/2014/main" val="10005"/>
                  </a:ext>
                </a:extLst>
              </a:tr>
              <a:tr h="370840">
                <a:tc>
                  <a:txBody>
                    <a:bodyPr/>
                    <a:lstStyle/>
                    <a:p>
                      <a:endParaRPr lang="zh-CN" altLang="en-US" sz="2400">
                        <a:ln>
                          <a:solidFill>
                            <a:schemeClr val="bg1"/>
                          </a:solidFill>
                        </a:ln>
                        <a:solidFill>
                          <a:srgbClr val="FF0000"/>
                        </a:solidFill>
                        <a:latin typeface="Comic Sans MS" pitchFamily="66" charset="0"/>
                      </a:endParaRPr>
                    </a:p>
                  </a:txBody>
                  <a:tcPr>
                    <a:solidFill>
                      <a:schemeClr val="bg1"/>
                    </a:solidFill>
                  </a:tcPr>
                </a:tc>
                <a:extLst>
                  <a:ext uri="{0D108BD9-81ED-4DB2-BD59-A6C34878D82A}">
                    <a16:rowId xmlns:a16="http://schemas.microsoft.com/office/drawing/2014/main" val="10006"/>
                  </a:ext>
                </a:extLst>
              </a:tr>
              <a:tr h="370840">
                <a:tc>
                  <a:txBody>
                    <a:bodyPr/>
                    <a:lstStyle/>
                    <a:p>
                      <a:endParaRPr lang="zh-CN" altLang="en-US" sz="2400">
                        <a:ln>
                          <a:solidFill>
                            <a:schemeClr val="bg1"/>
                          </a:solidFill>
                        </a:ln>
                        <a:solidFill>
                          <a:srgbClr val="FF0000"/>
                        </a:solidFill>
                        <a:latin typeface="Comic Sans MS" pitchFamily="66" charset="0"/>
                      </a:endParaRPr>
                    </a:p>
                  </a:txBody>
                  <a:tcPr>
                    <a:solidFill>
                      <a:schemeClr val="bg1"/>
                    </a:solidFill>
                  </a:tcPr>
                </a:tc>
                <a:extLst>
                  <a:ext uri="{0D108BD9-81ED-4DB2-BD59-A6C34878D82A}">
                    <a16:rowId xmlns:a16="http://schemas.microsoft.com/office/drawing/2014/main" val="10007"/>
                  </a:ext>
                </a:extLst>
              </a:tr>
              <a:tr h="370840">
                <a:tc>
                  <a:txBody>
                    <a:bodyPr/>
                    <a:lstStyle/>
                    <a:p>
                      <a:pPr algn="r"/>
                      <a:r>
                        <a:rPr lang="en-US" altLang="zh-CN" sz="2400" dirty="0">
                          <a:ln>
                            <a:solidFill>
                              <a:schemeClr val="bg1"/>
                            </a:solidFill>
                          </a:ln>
                          <a:solidFill>
                            <a:srgbClr val="FF0000"/>
                          </a:solidFill>
                          <a:latin typeface="Comic Sans MS" pitchFamily="66" charset="0"/>
                        </a:rPr>
                        <a:t>0x800038</a:t>
                      </a:r>
                      <a:endParaRPr lang="zh-CN" altLang="en-US" sz="2400" dirty="0">
                        <a:ln>
                          <a:solidFill>
                            <a:schemeClr val="bg1"/>
                          </a:solidFill>
                        </a:ln>
                        <a:solidFill>
                          <a:srgbClr val="FF0000"/>
                        </a:solidFill>
                        <a:latin typeface="Comic Sans MS" pitchFamily="66" charset="0"/>
                      </a:endParaRPr>
                    </a:p>
                  </a:txBody>
                  <a:tcPr>
                    <a:solidFill>
                      <a:schemeClr val="bg1"/>
                    </a:solidFill>
                  </a:tcPr>
                </a:tc>
                <a:extLst>
                  <a:ext uri="{0D108BD9-81ED-4DB2-BD59-A6C34878D82A}">
                    <a16:rowId xmlns:a16="http://schemas.microsoft.com/office/drawing/2014/main" val="10008"/>
                  </a:ext>
                </a:extLst>
              </a:tr>
              <a:tr h="370840">
                <a:tc>
                  <a:txBody>
                    <a:bodyPr/>
                    <a:lstStyle/>
                    <a:p>
                      <a:pPr algn="r"/>
                      <a:r>
                        <a:rPr lang="en-US" altLang="zh-CN" sz="2400" dirty="0">
                          <a:ln>
                            <a:solidFill>
                              <a:schemeClr val="bg1"/>
                            </a:solidFill>
                          </a:ln>
                          <a:solidFill>
                            <a:srgbClr val="FF0000"/>
                          </a:solidFill>
                          <a:latin typeface="Comic Sans MS" pitchFamily="66" charset="0"/>
                        </a:rPr>
                        <a:t>0x800034</a:t>
                      </a:r>
                      <a:endParaRPr lang="zh-CN" altLang="en-US" sz="2400" dirty="0">
                        <a:ln>
                          <a:solidFill>
                            <a:schemeClr val="bg1"/>
                          </a:solidFill>
                        </a:ln>
                        <a:solidFill>
                          <a:srgbClr val="FF0000"/>
                        </a:solidFill>
                        <a:latin typeface="Comic Sans MS" pitchFamily="66" charset="0"/>
                      </a:endParaRPr>
                    </a:p>
                  </a:txBody>
                  <a:tcPr>
                    <a:solidFill>
                      <a:schemeClr val="bg1"/>
                    </a:solidFill>
                  </a:tcPr>
                </a:tc>
                <a:extLst>
                  <a:ext uri="{0D108BD9-81ED-4DB2-BD59-A6C34878D82A}">
                    <a16:rowId xmlns:a16="http://schemas.microsoft.com/office/drawing/2014/main" val="10009"/>
                  </a:ext>
                </a:extLst>
              </a:tr>
              <a:tr h="370840">
                <a:tc>
                  <a:txBody>
                    <a:bodyPr/>
                    <a:lstStyle/>
                    <a:p>
                      <a:pPr algn="r"/>
                      <a:r>
                        <a:rPr lang="en-US" altLang="zh-CN" sz="2400" dirty="0">
                          <a:ln>
                            <a:solidFill>
                              <a:schemeClr val="bg1"/>
                            </a:solidFill>
                          </a:ln>
                          <a:solidFill>
                            <a:srgbClr val="FF0000"/>
                          </a:solidFill>
                          <a:latin typeface="Comic Sans MS" pitchFamily="66" charset="0"/>
                        </a:rPr>
                        <a:t>0x300070</a:t>
                      </a:r>
                      <a:endParaRPr lang="zh-CN" altLang="en-US" sz="2400" dirty="0">
                        <a:ln>
                          <a:solidFill>
                            <a:schemeClr val="bg1"/>
                          </a:solidFill>
                        </a:ln>
                        <a:solidFill>
                          <a:srgbClr val="FF0000"/>
                        </a:solidFill>
                        <a:latin typeface="Comic Sans MS" pitchFamily="66" charset="0"/>
                      </a:endParaRPr>
                    </a:p>
                  </a:txBody>
                  <a:tcPr>
                    <a:solidFill>
                      <a:schemeClr val="bg1"/>
                    </a:solidFill>
                  </a:tcPr>
                </a:tc>
                <a:extLst>
                  <a:ext uri="{0D108BD9-81ED-4DB2-BD59-A6C34878D82A}">
                    <a16:rowId xmlns:a16="http://schemas.microsoft.com/office/drawing/2014/main" val="10010"/>
                  </a:ext>
                </a:extLst>
              </a:tr>
            </a:tbl>
          </a:graphicData>
        </a:graphic>
      </p:graphicFrame>
      <p:sp>
        <p:nvSpPr>
          <p:cNvPr id="5" name="灯片编号占位符 4"/>
          <p:cNvSpPr>
            <a:spLocks noGrp="1"/>
          </p:cNvSpPr>
          <p:nvPr>
            <p:ph type="sldNum" sz="quarter" idx="12"/>
          </p:nvPr>
        </p:nvSpPr>
        <p:spPr/>
        <p:txBody>
          <a:bodyPr/>
          <a:lstStyle/>
          <a:p>
            <a:fld id="{0C913308-F349-4B6D-A68A-DD1791B4A57B}" type="slidenum">
              <a:rPr lang="zh-CN" altLang="en-US" smtClean="0"/>
              <a:pPr/>
              <a:t>33</a:t>
            </a:fld>
            <a:endParaRPr lang="zh-CN" altLang="en-US"/>
          </a:p>
        </p:txBody>
      </p:sp>
      <p:sp>
        <p:nvSpPr>
          <p:cNvPr id="6" name="日期占位符 5"/>
          <p:cNvSpPr>
            <a:spLocks noGrp="1"/>
          </p:cNvSpPr>
          <p:nvPr>
            <p:ph type="dt" sz="half" idx="10"/>
          </p:nvPr>
        </p:nvSpPr>
        <p:spPr/>
        <p:txBody>
          <a:bodyPr/>
          <a:lstStyle/>
          <a:p>
            <a:fld id="{F507D199-2FD6-4EB3-9FEE-088460C0F44A}" type="datetime1">
              <a:rPr lang="zh-CN" altLang="en-US" smtClean="0"/>
              <a:pPr/>
              <a:t>2025/12/5</a:t>
            </a:fld>
            <a:endParaRPr lang="zh-CN" altLang="en-US"/>
          </a:p>
        </p:txBody>
      </p:sp>
      <p:graphicFrame>
        <p:nvGraphicFramePr>
          <p:cNvPr id="10" name="内容占位符 8"/>
          <p:cNvGraphicFramePr>
            <a:graphicFrameLocks/>
          </p:cNvGraphicFramePr>
          <p:nvPr/>
        </p:nvGraphicFramePr>
        <p:xfrm>
          <a:off x="928662" y="500042"/>
          <a:ext cx="2185974" cy="5029200"/>
        </p:xfrm>
        <a:graphic>
          <a:graphicData uri="http://schemas.openxmlformats.org/drawingml/2006/table">
            <a:tbl>
              <a:tblPr firstRow="1" bandRow="1">
                <a:tableStyleId>{2D5ABB26-0587-4C30-8999-92F81FD0307C}</a:tableStyleId>
              </a:tblPr>
              <a:tblGrid>
                <a:gridCol w="2185974">
                  <a:extLst>
                    <a:ext uri="{9D8B030D-6E8A-4147-A177-3AD203B41FA5}">
                      <a16:colId xmlns:a16="http://schemas.microsoft.com/office/drawing/2014/main" val="20000"/>
                    </a:ext>
                  </a:extLst>
                </a:gridCol>
              </a:tblGrid>
              <a:tr h="370840">
                <a:tc>
                  <a:txBody>
                    <a:bodyPr/>
                    <a:lstStyle/>
                    <a:p>
                      <a:pPr algn="r"/>
                      <a:r>
                        <a:rPr lang="en-US" altLang="zh-CN" sz="2400" dirty="0">
                          <a:ln>
                            <a:solidFill>
                              <a:schemeClr val="bg1"/>
                            </a:solidFill>
                          </a:ln>
                        </a:rPr>
                        <a:t> 0x80003C</a:t>
                      </a:r>
                      <a:endParaRPr lang="zh-CN" altLang="en-US" sz="2400" dirty="0">
                        <a:ln>
                          <a:solidFill>
                            <a:schemeClr val="bg1"/>
                          </a:solidFill>
                        </a:ln>
                        <a:solidFill>
                          <a:schemeClr val="bg1"/>
                        </a:solidFill>
                        <a:latin typeface="Comic Sans MS" pitchFamily="66" charset="0"/>
                      </a:endParaRPr>
                    </a:p>
                  </a:txBody>
                  <a:tcPr/>
                </a:tc>
                <a:extLst>
                  <a:ext uri="{0D108BD9-81ED-4DB2-BD59-A6C34878D82A}">
                    <a16:rowId xmlns:a16="http://schemas.microsoft.com/office/drawing/2014/main" val="10000"/>
                  </a:ext>
                </a:extLst>
              </a:tr>
              <a:tr h="370840">
                <a:tc>
                  <a:txBody>
                    <a:bodyPr/>
                    <a:lstStyle/>
                    <a:p>
                      <a:pPr algn="r"/>
                      <a:r>
                        <a:rPr lang="en-US" altLang="zh-CN" sz="2400" dirty="0">
                          <a:ln>
                            <a:solidFill>
                              <a:schemeClr val="bg1"/>
                            </a:solidFill>
                          </a:ln>
                        </a:rPr>
                        <a:t> 0x800038</a:t>
                      </a:r>
                      <a:endParaRPr lang="zh-CN" altLang="en-US" sz="2400" dirty="0">
                        <a:ln>
                          <a:solidFill>
                            <a:schemeClr val="bg1"/>
                          </a:solidFill>
                        </a:ln>
                        <a:solidFill>
                          <a:schemeClr val="bg1"/>
                        </a:solidFill>
                        <a:latin typeface="Comic Sans MS" pitchFamily="66" charset="0"/>
                      </a:endParaRPr>
                    </a:p>
                  </a:txBody>
                  <a:tcPr/>
                </a:tc>
                <a:extLst>
                  <a:ext uri="{0D108BD9-81ED-4DB2-BD59-A6C34878D82A}">
                    <a16:rowId xmlns:a16="http://schemas.microsoft.com/office/drawing/2014/main" val="10001"/>
                  </a:ext>
                </a:extLst>
              </a:tr>
              <a:tr h="370840">
                <a:tc>
                  <a:txBody>
                    <a:bodyPr/>
                    <a:lstStyle/>
                    <a:p>
                      <a:pPr algn="r"/>
                      <a:r>
                        <a:rPr lang="en-US" altLang="zh-CN" sz="2400" dirty="0">
                          <a:ln>
                            <a:solidFill>
                              <a:schemeClr val="bg1"/>
                            </a:solidFill>
                          </a:ln>
                        </a:rPr>
                        <a:t> 0x800034</a:t>
                      </a:r>
                      <a:endParaRPr lang="zh-CN" altLang="en-US" sz="2400" dirty="0">
                        <a:ln>
                          <a:solidFill>
                            <a:schemeClr val="bg1"/>
                          </a:solidFill>
                        </a:ln>
                        <a:solidFill>
                          <a:schemeClr val="bg1"/>
                        </a:solidFill>
                        <a:latin typeface="Comic Sans MS" pitchFamily="66" charset="0"/>
                      </a:endParaRPr>
                    </a:p>
                  </a:txBody>
                  <a:tcPr/>
                </a:tc>
                <a:extLst>
                  <a:ext uri="{0D108BD9-81ED-4DB2-BD59-A6C34878D82A}">
                    <a16:rowId xmlns:a16="http://schemas.microsoft.com/office/drawing/2014/main" val="10002"/>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2400" dirty="0">
                          <a:ln>
                            <a:solidFill>
                              <a:schemeClr val="bg1"/>
                            </a:solidFill>
                          </a:ln>
                        </a:rPr>
                        <a:t> 0x800030</a:t>
                      </a:r>
                      <a:endParaRPr lang="zh-CN" altLang="en-US" sz="2400" dirty="0">
                        <a:ln>
                          <a:solidFill>
                            <a:schemeClr val="bg1"/>
                          </a:solidFill>
                        </a:ln>
                        <a:solidFill>
                          <a:schemeClr val="bg1"/>
                        </a:solidFill>
                        <a:latin typeface="Comic Sans MS" pitchFamily="66" charset="0"/>
                      </a:endParaRPr>
                    </a:p>
                  </a:txBody>
                  <a:tcPr/>
                </a:tc>
                <a:extLst>
                  <a:ext uri="{0D108BD9-81ED-4DB2-BD59-A6C34878D82A}">
                    <a16:rowId xmlns:a16="http://schemas.microsoft.com/office/drawing/2014/main" val="10003"/>
                  </a:ext>
                </a:extLst>
              </a:tr>
              <a:tr h="370840">
                <a:tc>
                  <a:txBody>
                    <a:bodyPr/>
                    <a:lstStyle/>
                    <a:p>
                      <a:pPr algn="r"/>
                      <a:r>
                        <a:rPr lang="en-US" altLang="zh-CN" sz="2400" dirty="0">
                          <a:ln>
                            <a:solidFill>
                              <a:schemeClr val="bg1"/>
                            </a:solidFill>
                          </a:ln>
                        </a:rPr>
                        <a:t> 0x80002C</a:t>
                      </a:r>
                      <a:endParaRPr lang="zh-CN" altLang="en-US" sz="2400" dirty="0">
                        <a:ln>
                          <a:solidFill>
                            <a:schemeClr val="bg1"/>
                          </a:solidFill>
                        </a:ln>
                        <a:solidFill>
                          <a:schemeClr val="bg1"/>
                        </a:solidFill>
                        <a:latin typeface="Comic Sans MS" pitchFamily="66" charset="0"/>
                      </a:endParaRPr>
                    </a:p>
                  </a:txBody>
                  <a:tcPr/>
                </a:tc>
                <a:extLst>
                  <a:ext uri="{0D108BD9-81ED-4DB2-BD59-A6C34878D82A}">
                    <a16:rowId xmlns:a16="http://schemas.microsoft.com/office/drawing/2014/main" val="10004"/>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2400" dirty="0">
                          <a:ln>
                            <a:solidFill>
                              <a:schemeClr val="bg1"/>
                            </a:solidFill>
                          </a:ln>
                        </a:rPr>
                        <a:t> 0x800028</a:t>
                      </a:r>
                      <a:endParaRPr lang="zh-CN" altLang="en-US" sz="2400" dirty="0">
                        <a:ln>
                          <a:solidFill>
                            <a:schemeClr val="bg1"/>
                          </a:solidFill>
                        </a:ln>
                        <a:solidFill>
                          <a:schemeClr val="bg1"/>
                        </a:solidFill>
                        <a:latin typeface="Comic Sans MS" pitchFamily="66" charset="0"/>
                      </a:endParaRPr>
                    </a:p>
                  </a:txBody>
                  <a:tcPr/>
                </a:tc>
                <a:extLst>
                  <a:ext uri="{0D108BD9-81ED-4DB2-BD59-A6C34878D82A}">
                    <a16:rowId xmlns:a16="http://schemas.microsoft.com/office/drawing/2014/main" val="10005"/>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2400" dirty="0">
                          <a:ln>
                            <a:solidFill>
                              <a:schemeClr val="bg1"/>
                            </a:solidFill>
                          </a:ln>
                        </a:rPr>
                        <a:t> 0x800024</a:t>
                      </a:r>
                      <a:endParaRPr lang="zh-CN" altLang="en-US" sz="2400" dirty="0">
                        <a:ln>
                          <a:solidFill>
                            <a:schemeClr val="bg1"/>
                          </a:solidFill>
                        </a:ln>
                        <a:solidFill>
                          <a:schemeClr val="bg1"/>
                        </a:solidFill>
                        <a:latin typeface="Comic Sans MS" pitchFamily="66" charset="0"/>
                      </a:endParaRPr>
                    </a:p>
                  </a:txBody>
                  <a:tcPr/>
                </a:tc>
                <a:extLst>
                  <a:ext uri="{0D108BD9-81ED-4DB2-BD59-A6C34878D82A}">
                    <a16:rowId xmlns:a16="http://schemas.microsoft.com/office/drawing/2014/main" val="10006"/>
                  </a:ext>
                </a:extLst>
              </a:tr>
              <a:tr h="370840">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zh-CN" sz="2400" dirty="0">
                          <a:ln>
                            <a:solidFill>
                              <a:schemeClr val="bg1"/>
                            </a:solidFill>
                          </a:ln>
                        </a:rPr>
                        <a:t> 0x800020</a:t>
                      </a:r>
                      <a:endParaRPr lang="zh-CN" altLang="en-US" sz="2400" dirty="0">
                        <a:ln>
                          <a:solidFill>
                            <a:schemeClr val="bg1"/>
                          </a:solidFill>
                        </a:ln>
                        <a:solidFill>
                          <a:schemeClr val="bg1"/>
                        </a:solidFill>
                        <a:latin typeface="Comic Sans MS" pitchFamily="66" charset="0"/>
                      </a:endParaRPr>
                    </a:p>
                  </a:txBody>
                  <a:tcPr/>
                </a:tc>
                <a:extLst>
                  <a:ext uri="{0D108BD9-81ED-4DB2-BD59-A6C34878D82A}">
                    <a16:rowId xmlns:a16="http://schemas.microsoft.com/office/drawing/2014/main" val="10007"/>
                  </a:ext>
                </a:extLst>
              </a:tr>
              <a:tr h="370840">
                <a:tc>
                  <a:txBody>
                    <a:bodyPr/>
                    <a:lstStyle/>
                    <a:p>
                      <a:pPr algn="r"/>
                      <a:r>
                        <a:rPr lang="en-US" altLang="zh-CN" sz="2400" dirty="0">
                          <a:ln>
                            <a:solidFill>
                              <a:schemeClr val="bg1"/>
                            </a:solidFill>
                          </a:ln>
                        </a:rPr>
                        <a:t> 0x80001C</a:t>
                      </a:r>
                      <a:endParaRPr lang="zh-CN" altLang="en-US" sz="2400" dirty="0">
                        <a:ln>
                          <a:solidFill>
                            <a:schemeClr val="bg1"/>
                          </a:solidFill>
                        </a:ln>
                        <a:solidFill>
                          <a:srgbClr val="FF0000"/>
                        </a:solidFill>
                        <a:latin typeface="Comic Sans MS" pitchFamily="66" charset="0"/>
                      </a:endParaRPr>
                    </a:p>
                  </a:txBody>
                  <a:tcPr/>
                </a:tc>
                <a:extLst>
                  <a:ext uri="{0D108BD9-81ED-4DB2-BD59-A6C34878D82A}">
                    <a16:rowId xmlns:a16="http://schemas.microsoft.com/office/drawing/2014/main" val="10008"/>
                  </a:ext>
                </a:extLst>
              </a:tr>
              <a:tr h="370840">
                <a:tc>
                  <a:txBody>
                    <a:bodyPr/>
                    <a:lstStyle/>
                    <a:p>
                      <a:pPr algn="r"/>
                      <a:r>
                        <a:rPr lang="en-US" altLang="zh-CN" sz="2400" dirty="0">
                          <a:ln>
                            <a:solidFill>
                              <a:schemeClr val="bg1"/>
                            </a:solidFill>
                          </a:ln>
                        </a:rPr>
                        <a:t>0x800018</a:t>
                      </a:r>
                      <a:endParaRPr lang="zh-CN" altLang="en-US" sz="2400" dirty="0">
                        <a:ln>
                          <a:solidFill>
                            <a:schemeClr val="bg1"/>
                          </a:solidFill>
                        </a:ln>
                        <a:solidFill>
                          <a:srgbClr val="FF0000"/>
                        </a:solidFill>
                        <a:latin typeface="Comic Sans MS" pitchFamily="66" charset="0"/>
                      </a:endParaRPr>
                    </a:p>
                  </a:txBody>
                  <a:tcPr/>
                </a:tc>
                <a:extLst>
                  <a:ext uri="{0D108BD9-81ED-4DB2-BD59-A6C34878D82A}">
                    <a16:rowId xmlns:a16="http://schemas.microsoft.com/office/drawing/2014/main" val="10009"/>
                  </a:ext>
                </a:extLst>
              </a:tr>
              <a:tr h="370840">
                <a:tc>
                  <a:txBody>
                    <a:bodyPr/>
                    <a:lstStyle/>
                    <a:p>
                      <a:pPr algn="r"/>
                      <a:r>
                        <a:rPr lang="en-US" altLang="zh-CN" sz="2400" dirty="0">
                          <a:ln>
                            <a:solidFill>
                              <a:schemeClr val="bg1"/>
                            </a:solidFill>
                          </a:ln>
                        </a:rPr>
                        <a:t>0x800014</a:t>
                      </a:r>
                      <a:endParaRPr lang="zh-CN" altLang="en-US" sz="2400" dirty="0">
                        <a:ln>
                          <a:solidFill>
                            <a:schemeClr val="bg1"/>
                          </a:solidFill>
                        </a:ln>
                        <a:solidFill>
                          <a:srgbClr val="FF0000"/>
                        </a:solidFill>
                        <a:latin typeface="Comic Sans MS" pitchFamily="66" charset="0"/>
                      </a:endParaRPr>
                    </a:p>
                  </a:txBody>
                  <a:tcPr/>
                </a:tc>
                <a:extLst>
                  <a:ext uri="{0D108BD9-81ED-4DB2-BD59-A6C34878D82A}">
                    <a16:rowId xmlns:a16="http://schemas.microsoft.com/office/drawing/2014/main" val="10010"/>
                  </a:ext>
                </a:extLst>
              </a:tr>
            </a:tbl>
          </a:graphicData>
        </a:graphic>
      </p:graphicFrame>
      <p:graphicFrame>
        <p:nvGraphicFramePr>
          <p:cNvPr id="11" name="内容占位符 8"/>
          <p:cNvGraphicFramePr>
            <a:graphicFrameLocks/>
          </p:cNvGraphicFramePr>
          <p:nvPr/>
        </p:nvGraphicFramePr>
        <p:xfrm>
          <a:off x="5243546" y="500042"/>
          <a:ext cx="2185974" cy="5029200"/>
        </p:xfrm>
        <a:graphic>
          <a:graphicData uri="http://schemas.openxmlformats.org/drawingml/2006/table">
            <a:tbl>
              <a:tblPr firstRow="1" bandRow="1">
                <a:tableStyleId>{2D5ABB26-0587-4C30-8999-92F81FD0307C}</a:tableStyleId>
              </a:tblPr>
              <a:tblGrid>
                <a:gridCol w="2185974">
                  <a:extLst>
                    <a:ext uri="{9D8B030D-6E8A-4147-A177-3AD203B41FA5}">
                      <a16:colId xmlns:a16="http://schemas.microsoft.com/office/drawing/2014/main" val="20000"/>
                    </a:ext>
                  </a:extLst>
                </a:gridCol>
              </a:tblGrid>
              <a:tr h="370840">
                <a:tc>
                  <a:txBody>
                    <a:bodyPr/>
                    <a:lstStyle/>
                    <a:p>
                      <a:r>
                        <a:rPr lang="en-US" altLang="zh-CN" sz="2400" dirty="0">
                          <a:ln>
                            <a:solidFill>
                              <a:schemeClr val="bg1"/>
                            </a:solidFill>
                          </a:ln>
                          <a:solidFill>
                            <a:srgbClr val="FF0000"/>
                          </a:solidFill>
                        </a:rPr>
                        <a:t>          %ebp</a:t>
                      </a:r>
                      <a:endParaRPr lang="zh-CN" altLang="en-US" sz="2400" dirty="0">
                        <a:ln>
                          <a:solidFill>
                            <a:schemeClr val="bg1"/>
                          </a:solidFill>
                        </a:ln>
                        <a:solidFill>
                          <a:srgbClr val="FF0000"/>
                        </a:solidFill>
                        <a:latin typeface="Comic Sans MS" pitchFamily="66" charset="0"/>
                      </a:endParaRPr>
                    </a:p>
                  </a:txBody>
                  <a:tcPr/>
                </a:tc>
                <a:extLst>
                  <a:ext uri="{0D108BD9-81ED-4DB2-BD59-A6C34878D82A}">
                    <a16:rowId xmlns:a16="http://schemas.microsoft.com/office/drawing/2014/main" val="10000"/>
                  </a:ext>
                </a:extLst>
              </a:tr>
              <a:tr h="370840">
                <a:tc>
                  <a:txBody>
                    <a:bodyPr/>
                    <a:lstStyle/>
                    <a:p>
                      <a:pPr algn="l"/>
                      <a:r>
                        <a:rPr lang="en-US" altLang="zh-CN" sz="2400" dirty="0">
                          <a:ln>
                            <a:solidFill>
                              <a:schemeClr val="bg1"/>
                            </a:solidFill>
                          </a:ln>
                          <a:solidFill>
                            <a:srgbClr val="FF0000"/>
                          </a:solidFill>
                        </a:rPr>
                        <a:t>x</a:t>
                      </a:r>
                      <a:endParaRPr lang="zh-CN" altLang="en-US" sz="2400" dirty="0">
                        <a:ln>
                          <a:solidFill>
                            <a:schemeClr val="bg1"/>
                          </a:solidFill>
                        </a:ln>
                        <a:solidFill>
                          <a:srgbClr val="FF0000"/>
                        </a:solidFill>
                        <a:latin typeface="Comic Sans MS" pitchFamily="66" charset="0"/>
                      </a:endParaRPr>
                    </a:p>
                  </a:txBody>
                  <a:tcPr/>
                </a:tc>
                <a:extLst>
                  <a:ext uri="{0D108BD9-81ED-4DB2-BD59-A6C34878D82A}">
                    <a16:rowId xmlns:a16="http://schemas.microsoft.com/office/drawing/2014/main" val="10001"/>
                  </a:ext>
                </a:extLst>
              </a:tr>
              <a:tr h="370840">
                <a:tc>
                  <a:txBody>
                    <a:bodyPr/>
                    <a:lstStyle/>
                    <a:p>
                      <a:pPr algn="l"/>
                      <a:r>
                        <a:rPr lang="en-US" altLang="zh-CN" sz="2400" dirty="0">
                          <a:ln>
                            <a:solidFill>
                              <a:schemeClr val="bg1"/>
                            </a:solidFill>
                          </a:ln>
                          <a:solidFill>
                            <a:srgbClr val="FF0000"/>
                          </a:solidFill>
                        </a:rPr>
                        <a:t>y</a:t>
                      </a:r>
                      <a:endParaRPr lang="zh-CN" altLang="en-US" sz="2400" dirty="0">
                        <a:ln>
                          <a:solidFill>
                            <a:schemeClr val="bg1"/>
                          </a:solidFill>
                        </a:ln>
                        <a:solidFill>
                          <a:srgbClr val="FF0000"/>
                        </a:solidFill>
                        <a:latin typeface="Comic Sans MS" pitchFamily="66" charset="0"/>
                      </a:endParaRPr>
                    </a:p>
                  </a:txBody>
                  <a:tcPr/>
                </a:tc>
                <a:extLst>
                  <a:ext uri="{0D108BD9-81ED-4DB2-BD59-A6C34878D82A}">
                    <a16:rowId xmlns:a16="http://schemas.microsoft.com/office/drawing/2014/main" val="10002"/>
                  </a:ext>
                </a:extLst>
              </a:tr>
              <a:tr h="370840">
                <a:tc>
                  <a:txBody>
                    <a:bodyPr/>
                    <a:lstStyle/>
                    <a:p>
                      <a:endParaRPr lang="zh-CN" altLang="en-US" sz="2400">
                        <a:ln>
                          <a:solidFill>
                            <a:schemeClr val="bg1"/>
                          </a:solidFill>
                        </a:ln>
                        <a:solidFill>
                          <a:srgbClr val="FF0000"/>
                        </a:solidFill>
                        <a:latin typeface="Comic Sans MS" pitchFamily="66" charset="0"/>
                      </a:endParaRPr>
                    </a:p>
                  </a:txBody>
                  <a:tcPr/>
                </a:tc>
                <a:extLst>
                  <a:ext uri="{0D108BD9-81ED-4DB2-BD59-A6C34878D82A}">
                    <a16:rowId xmlns:a16="http://schemas.microsoft.com/office/drawing/2014/main" val="10003"/>
                  </a:ext>
                </a:extLst>
              </a:tr>
              <a:tr h="370840">
                <a:tc>
                  <a:txBody>
                    <a:bodyPr/>
                    <a:lstStyle/>
                    <a:p>
                      <a:endParaRPr lang="zh-CN" altLang="en-US" sz="2400">
                        <a:ln>
                          <a:solidFill>
                            <a:schemeClr val="bg1"/>
                          </a:solidFill>
                        </a:ln>
                        <a:solidFill>
                          <a:srgbClr val="FF0000"/>
                        </a:solidFill>
                        <a:latin typeface="Comic Sans MS" pitchFamily="66" charset="0"/>
                      </a:endParaRPr>
                    </a:p>
                  </a:txBody>
                  <a:tcPr/>
                </a:tc>
                <a:extLst>
                  <a:ext uri="{0D108BD9-81ED-4DB2-BD59-A6C34878D82A}">
                    <a16:rowId xmlns:a16="http://schemas.microsoft.com/office/drawing/2014/main" val="10004"/>
                  </a:ext>
                </a:extLst>
              </a:tr>
              <a:tr h="370840">
                <a:tc>
                  <a:txBody>
                    <a:bodyPr/>
                    <a:lstStyle/>
                    <a:p>
                      <a:endParaRPr lang="zh-CN" altLang="en-US" sz="2400" dirty="0">
                        <a:ln>
                          <a:solidFill>
                            <a:schemeClr val="bg1"/>
                          </a:solidFill>
                        </a:ln>
                        <a:solidFill>
                          <a:srgbClr val="FF0000"/>
                        </a:solidFill>
                        <a:latin typeface="Comic Sans MS" pitchFamily="66" charset="0"/>
                      </a:endParaRPr>
                    </a:p>
                  </a:txBody>
                  <a:tcPr/>
                </a:tc>
                <a:extLst>
                  <a:ext uri="{0D108BD9-81ED-4DB2-BD59-A6C34878D82A}">
                    <a16:rowId xmlns:a16="http://schemas.microsoft.com/office/drawing/2014/main" val="10005"/>
                  </a:ext>
                </a:extLst>
              </a:tr>
              <a:tr h="370840">
                <a:tc>
                  <a:txBody>
                    <a:bodyPr/>
                    <a:lstStyle/>
                    <a:p>
                      <a:endParaRPr lang="zh-CN" altLang="en-US" sz="2400">
                        <a:ln>
                          <a:solidFill>
                            <a:schemeClr val="bg1"/>
                          </a:solidFill>
                        </a:ln>
                        <a:solidFill>
                          <a:srgbClr val="FF0000"/>
                        </a:solidFill>
                        <a:latin typeface="Comic Sans MS" pitchFamily="66" charset="0"/>
                      </a:endParaRPr>
                    </a:p>
                  </a:txBody>
                  <a:tcPr/>
                </a:tc>
                <a:extLst>
                  <a:ext uri="{0D108BD9-81ED-4DB2-BD59-A6C34878D82A}">
                    <a16:rowId xmlns:a16="http://schemas.microsoft.com/office/drawing/2014/main" val="10006"/>
                  </a:ext>
                </a:extLst>
              </a:tr>
              <a:tr h="370840">
                <a:tc>
                  <a:txBody>
                    <a:bodyPr/>
                    <a:lstStyle/>
                    <a:p>
                      <a:endParaRPr lang="zh-CN" altLang="en-US" sz="2400">
                        <a:ln>
                          <a:solidFill>
                            <a:schemeClr val="bg1"/>
                          </a:solidFill>
                        </a:ln>
                        <a:solidFill>
                          <a:srgbClr val="FF0000"/>
                        </a:solidFill>
                        <a:latin typeface="Comic Sans MS" pitchFamily="66" charset="0"/>
                      </a:endParaRPr>
                    </a:p>
                  </a:txBody>
                  <a:tcPr/>
                </a:tc>
                <a:extLst>
                  <a:ext uri="{0D108BD9-81ED-4DB2-BD59-A6C34878D82A}">
                    <a16:rowId xmlns:a16="http://schemas.microsoft.com/office/drawing/2014/main" val="10007"/>
                  </a:ext>
                </a:extLst>
              </a:tr>
              <a:tr h="370840">
                <a:tc>
                  <a:txBody>
                    <a:bodyPr/>
                    <a:lstStyle/>
                    <a:p>
                      <a:pPr algn="r"/>
                      <a:endParaRPr lang="zh-CN" altLang="en-US" sz="2400" dirty="0">
                        <a:ln>
                          <a:solidFill>
                            <a:schemeClr val="bg1"/>
                          </a:solidFill>
                        </a:ln>
                        <a:solidFill>
                          <a:srgbClr val="FF0000"/>
                        </a:solidFill>
                        <a:latin typeface="Comic Sans MS" pitchFamily="66" charset="0"/>
                      </a:endParaRPr>
                    </a:p>
                  </a:txBody>
                  <a:tcPr/>
                </a:tc>
                <a:extLst>
                  <a:ext uri="{0D108BD9-81ED-4DB2-BD59-A6C34878D82A}">
                    <a16:rowId xmlns:a16="http://schemas.microsoft.com/office/drawing/2014/main" val="10008"/>
                  </a:ext>
                </a:extLst>
              </a:tr>
              <a:tr h="370840">
                <a:tc>
                  <a:txBody>
                    <a:bodyPr/>
                    <a:lstStyle/>
                    <a:p>
                      <a:pPr algn="r"/>
                      <a:endParaRPr lang="zh-CN" altLang="en-US" sz="2400" dirty="0">
                        <a:ln>
                          <a:solidFill>
                            <a:schemeClr val="bg1"/>
                          </a:solidFill>
                        </a:ln>
                        <a:solidFill>
                          <a:srgbClr val="FF0000"/>
                        </a:solidFill>
                        <a:latin typeface="Comic Sans MS" pitchFamily="66" charset="0"/>
                      </a:endParaRPr>
                    </a:p>
                  </a:txBody>
                  <a:tcPr/>
                </a:tc>
                <a:extLst>
                  <a:ext uri="{0D108BD9-81ED-4DB2-BD59-A6C34878D82A}">
                    <a16:rowId xmlns:a16="http://schemas.microsoft.com/office/drawing/2014/main" val="10009"/>
                  </a:ext>
                </a:extLst>
              </a:tr>
              <a:tr h="370840">
                <a:tc>
                  <a:txBody>
                    <a:bodyPr/>
                    <a:lstStyle/>
                    <a:p>
                      <a:pPr algn="l"/>
                      <a:r>
                        <a:rPr lang="en-US" altLang="zh-CN" sz="2400" dirty="0">
                          <a:ln>
                            <a:solidFill>
                              <a:schemeClr val="bg1"/>
                            </a:solidFill>
                          </a:ln>
                          <a:solidFill>
                            <a:srgbClr val="FF0000"/>
                          </a:solidFill>
                        </a:rPr>
                        <a:t>          %esp</a:t>
                      </a:r>
                      <a:endParaRPr lang="zh-CN" altLang="en-US" sz="2400" dirty="0">
                        <a:ln>
                          <a:solidFill>
                            <a:schemeClr val="bg1"/>
                          </a:solidFill>
                        </a:ln>
                        <a:solidFill>
                          <a:srgbClr val="FF0000"/>
                        </a:solidFill>
                        <a:latin typeface="Comic Sans MS" pitchFamily="66" charset="0"/>
                      </a:endParaRPr>
                    </a:p>
                  </a:txBody>
                  <a:tcPr/>
                </a:tc>
                <a:extLst>
                  <a:ext uri="{0D108BD9-81ED-4DB2-BD59-A6C34878D82A}">
                    <a16:rowId xmlns:a16="http://schemas.microsoft.com/office/drawing/2014/main" val="10010"/>
                  </a:ext>
                </a:extLst>
              </a:tr>
            </a:tbl>
          </a:graphicData>
        </a:graphic>
      </p:graphicFrame>
      <p:sp>
        <p:nvSpPr>
          <p:cNvPr id="12" name="左箭头 11"/>
          <p:cNvSpPr/>
          <p:nvPr/>
        </p:nvSpPr>
        <p:spPr>
          <a:xfrm>
            <a:off x="5357818" y="642918"/>
            <a:ext cx="571504" cy="142876"/>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左箭头 12"/>
          <p:cNvSpPr/>
          <p:nvPr/>
        </p:nvSpPr>
        <p:spPr>
          <a:xfrm>
            <a:off x="5357818" y="5214950"/>
            <a:ext cx="571504" cy="142876"/>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a:latin typeface="Comic Sans MS" pitchFamily="66" charset="0"/>
              </a:rPr>
              <a:t>Q&amp;A ?</a:t>
            </a:r>
            <a:endParaRPr lang="zh-CN" altLang="en-US" sz="3600" dirty="0">
              <a:latin typeface="Comic Sans MS" pitchFamily="66" charset="0"/>
            </a:endParaRPr>
          </a:p>
        </p:txBody>
      </p:sp>
      <p:sp>
        <p:nvSpPr>
          <p:cNvPr id="3" name="内容占位符 2"/>
          <p:cNvSpPr>
            <a:spLocks noGrp="1"/>
          </p:cNvSpPr>
          <p:nvPr>
            <p:ph idx="1"/>
          </p:nvPr>
        </p:nvSpPr>
        <p:spPr/>
        <p:txBody>
          <a:bodyPr>
            <a:normAutofit/>
          </a:bodyPr>
          <a:lstStyle/>
          <a:p>
            <a:pPr>
              <a:buNone/>
            </a:pPr>
            <a:endParaRPr lang="en-US" altLang="zh-CN" sz="2800" dirty="0">
              <a:latin typeface="Comic Sans MS" pitchFamily="66" charset="0"/>
            </a:endParaRPr>
          </a:p>
          <a:p>
            <a:pPr>
              <a:buNone/>
            </a:pPr>
            <a:endParaRPr lang="en-US" altLang="zh-CN" sz="2800" dirty="0">
              <a:latin typeface="Comic Sans MS" pitchFamily="66" charset="0"/>
            </a:endParaRPr>
          </a:p>
          <a:p>
            <a:pPr algn="ctr">
              <a:buNone/>
            </a:pPr>
            <a:r>
              <a:rPr lang="en-US" altLang="zh-CN" sz="9600" dirty="0">
                <a:latin typeface="Comic Sans MS" pitchFamily="66" charset="0"/>
              </a:rPr>
              <a:t>Thank you!</a:t>
            </a:r>
          </a:p>
          <a:p>
            <a:pPr>
              <a:buNone/>
            </a:pPr>
            <a:endParaRPr lang="en-US" altLang="zh-CN" sz="2800" dirty="0">
              <a:latin typeface="Comic Sans MS" pitchFamily="66" charset="0"/>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34</a:t>
            </a:fld>
            <a:endParaRPr lang="zh-CN" altLang="en-US"/>
          </a:p>
        </p:txBody>
      </p:sp>
      <p:sp>
        <p:nvSpPr>
          <p:cNvPr id="5" name="日期占位符 4"/>
          <p:cNvSpPr>
            <a:spLocks noGrp="1"/>
          </p:cNvSpPr>
          <p:nvPr>
            <p:ph type="dt" sz="half" idx="10"/>
          </p:nvPr>
        </p:nvSpPr>
        <p:spPr/>
        <p:txBody>
          <a:bodyPr/>
          <a:lstStyle/>
          <a:p>
            <a:fld id="{135451C9-C7E8-4549-8DAF-0B1E52BF50B3}" type="datetime1">
              <a:rPr lang="zh-CN" altLang="en-US" smtClean="0"/>
              <a:pPr/>
              <a:t>2025/12/5</a:t>
            </a:fld>
            <a:endParaRPr lang="zh-CN" altLang="en-US"/>
          </a:p>
        </p:txBody>
      </p:sp>
    </p:spTree>
  </p:cSld>
  <p:clrMapOvr>
    <a:masterClrMapping/>
  </p:clrMapOv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1211</TotalTime>
  <Words>3663</Words>
  <Application>Microsoft Office PowerPoint</Application>
  <PresentationFormat>On-screen Show (4:3)</PresentationFormat>
  <Paragraphs>693</Paragraphs>
  <Slides>34</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Comic Sans MS</vt:lpstr>
      <vt:lpstr>Office 主题</vt:lpstr>
      <vt:lpstr>Chapter 3 Machine-Level Representation of Programs</vt:lpstr>
      <vt:lpstr>Problem 3.1 (P138)</vt:lpstr>
      <vt:lpstr>PowerPoint Presentation</vt:lpstr>
      <vt:lpstr>PowerPoint Presentation</vt:lpstr>
      <vt:lpstr>Problem 3.2 (P142)</vt:lpstr>
      <vt:lpstr>Problem 3.2+</vt:lpstr>
      <vt:lpstr>Problem 3.3 (143)</vt:lpstr>
      <vt:lpstr>Problem 3.4 (P145)</vt:lpstr>
      <vt:lpstr>PowerPoint Presentation</vt:lpstr>
      <vt:lpstr>Problem 3.5 (P145)</vt:lpstr>
      <vt:lpstr>Problem 3.5+</vt:lpstr>
      <vt:lpstr>Problem 3.6 (P147)</vt:lpstr>
      <vt:lpstr>Problem 3.7 (P151)</vt:lpstr>
      <vt:lpstr>Problem 3.8 (P155)</vt:lpstr>
      <vt:lpstr>Problem 3.8+</vt:lpstr>
      <vt:lpstr>Problem 3.8++</vt:lpstr>
      <vt:lpstr>Problem 3.9 (P157)</vt:lpstr>
      <vt:lpstr>PowerPoint Presentation</vt:lpstr>
      <vt:lpstr>Problem 3.10 (P160)</vt:lpstr>
      <vt:lpstr>PowerPoint Presentation</vt:lpstr>
      <vt:lpstr>Problem 3.11 (P163)</vt:lpstr>
      <vt:lpstr>PowerPoint Presentation</vt:lpstr>
      <vt:lpstr>Problem 3.12 (P165)</vt:lpstr>
      <vt:lpstr>PowerPoint Presentation</vt:lpstr>
      <vt:lpstr>Problem 3.13 (P169)</vt:lpstr>
      <vt:lpstr>PowerPoint Presentation</vt:lpstr>
      <vt:lpstr>Problem 3.14 (P172)</vt:lpstr>
      <vt:lpstr>Problem 3.15 (P174)</vt:lpstr>
      <vt:lpstr>Problem 3.16 (P177)</vt:lpstr>
      <vt:lpstr>PowerPoint Presentation</vt:lpstr>
      <vt:lpstr>PowerPoint Presentation</vt:lpstr>
      <vt:lpstr>PowerPoint Presentation</vt:lpstr>
      <vt:lpstr>PowerPoint Presentation</vt:lpstr>
      <vt:lpstr>Q&amp;A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Machine-Level Representation of Programs</dc:title>
  <dc:creator>Guobao Jiang</dc:creator>
  <cp:lastModifiedBy>Nguyễn Vũ Đức Hạnh</cp:lastModifiedBy>
  <cp:revision>100</cp:revision>
  <dcterms:created xsi:type="dcterms:W3CDTF">2012-03-15T11:43:55Z</dcterms:created>
  <dcterms:modified xsi:type="dcterms:W3CDTF">2025-12-05T12:38:23Z</dcterms:modified>
</cp:coreProperties>
</file>